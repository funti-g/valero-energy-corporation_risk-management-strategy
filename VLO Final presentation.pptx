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rts/chart1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7" r:id="rId2"/>
  </p:sldMasterIdLst>
  <p:notesMasterIdLst>
    <p:notesMasterId r:id="rId37"/>
  </p:notesMasterIdLst>
  <p:handoutMasterIdLst>
    <p:handoutMasterId r:id="rId38"/>
  </p:handoutMasterIdLst>
  <p:sldIdLst>
    <p:sldId id="299" r:id="rId3"/>
    <p:sldId id="300" r:id="rId4"/>
    <p:sldId id="259" r:id="rId5"/>
    <p:sldId id="260" r:id="rId6"/>
    <p:sldId id="262" r:id="rId7"/>
    <p:sldId id="264" r:id="rId8"/>
    <p:sldId id="271" r:id="rId9"/>
    <p:sldId id="276" r:id="rId10"/>
    <p:sldId id="277" r:id="rId11"/>
    <p:sldId id="302" r:id="rId12"/>
    <p:sldId id="333" r:id="rId13"/>
    <p:sldId id="269" r:id="rId14"/>
    <p:sldId id="305" r:id="rId15"/>
    <p:sldId id="320" r:id="rId16"/>
    <p:sldId id="321" r:id="rId17"/>
    <p:sldId id="322" r:id="rId18"/>
    <p:sldId id="315" r:id="rId19"/>
    <p:sldId id="316" r:id="rId20"/>
    <p:sldId id="317" r:id="rId21"/>
    <p:sldId id="318" r:id="rId22"/>
    <p:sldId id="319" r:id="rId23"/>
    <p:sldId id="307" r:id="rId24"/>
    <p:sldId id="309" r:id="rId25"/>
    <p:sldId id="311" r:id="rId26"/>
    <p:sldId id="324" r:id="rId27"/>
    <p:sldId id="325" r:id="rId28"/>
    <p:sldId id="326" r:id="rId29"/>
    <p:sldId id="327" r:id="rId30"/>
    <p:sldId id="328" r:id="rId31"/>
    <p:sldId id="330" r:id="rId32"/>
    <p:sldId id="331" r:id="rId33"/>
    <p:sldId id="332" r:id="rId34"/>
    <p:sldId id="280" r:id="rId35"/>
    <p:sldId id="287" r:id="rId3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E1894D-D184-A32B-17D3-FEA77E69E5A2}" v="216" dt="2025-12-02T17:45:56.303"/>
    <p1510:client id="{53CA7611-FB89-1999-5246-870A3CDC8D73}" v="564" dt="2025-12-02T17:04:14.855"/>
    <p1510:client id="{5E60C078-8D2E-43F5-9C21-BD093B16A4C2}" v="5" dt="2025-12-02T01:39:51.409"/>
    <p1510:client id="{5F6F80AC-C85F-0408-89E6-358DD838AD27}" v="15" dt="2025-12-02T17:55:46.835"/>
    <p1510:client id="{C14A417A-5B6B-4E64-9F81-2EEC7ADD6F24}" v="90" dt="2025-12-02T01:51:18.460"/>
    <p1510:client id="{E4BA631D-B9C2-CB69-4F0E-D778763F9D59}" v="257" dt="2025-12-02T08:12:18.563"/>
    <p1510:client id="{E7EB760B-6A39-0D27-C57D-D3F1379883EE}" v="513" dt="2025-12-02T13:35:22.291"/>
    <p1510:client id="{ED3A0DF7-C970-E4D2-2A0E-B4154A290910}" v="267" dt="2025-12-02T00:03:07.74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8"/>
  </p:normalViewPr>
  <p:slideViewPr>
    <p:cSldViewPr snapToGrid="0">
      <p:cViewPr varScale="1">
        <p:scale>
          <a:sx n="56" d="100"/>
          <a:sy n="56" d="100"/>
        </p:scale>
        <p:origin x="920" y="4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microsoft.com/office/2015/10/relationships/revisionInfo" Target="revisionInfo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cometmail-my.sharepoint.com/personal/kxu240002_utdallas_edu/Documents/Corporate%20Risk%20Management/Common%20Workbook_Draf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https://cometmail-my.sharepoint.com/personal/kxu240002_utdallas_edu/Documents/Operational%20Risk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Operating Income Scenario Analysis</a:t>
            </a:r>
          </a:p>
        </c:rich>
      </c:tx>
      <c:layout>
        <c:manualLayout>
          <c:xMode val="edge"/>
          <c:yMode val="edge"/>
          <c:x val="0.2595390240526575"/>
          <c:y val="3.617349975621536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{"Operating Income"}</c:f>
              <c:strCache>
                <c:ptCount val="1"/>
                <c:pt idx="0">
                  <c:v>Operating Income</c:v>
                </c:pt>
              </c:strCache>
            </c:strRef>
          </c:tx>
          <c:spPr>
            <a:solidFill>
              <a:srgbClr val="637CEF"/>
            </a:solidFill>
            <a:ln>
              <a:noFill/>
            </a:ln>
            <a:effectLst/>
          </c:spPr>
          <c:invertIfNegative val="0"/>
          <c:cat>
            <c:strRef>
              <c:f>'SA Income Statement'!$B$1:$F$1</c:f>
              <c:strCache>
                <c:ptCount val="5"/>
                <c:pt idx="0">
                  <c:v>12 months
Dec-31-2024</c:v>
                </c:pt>
                <c:pt idx="1">
                  <c:v>Weighted Simulation</c:v>
                </c:pt>
                <c:pt idx="2">
                  <c:v>Normal</c:v>
                </c:pt>
                <c:pt idx="3">
                  <c:v>Best</c:v>
                </c:pt>
                <c:pt idx="4">
                  <c:v>Worst</c:v>
                </c:pt>
              </c:strCache>
            </c:strRef>
          </c:cat>
          <c:val>
            <c:numRef>
              <c:f>'SA Income Statement'!$B$18:$F$18</c:f>
              <c:numCache>
                <c:formatCode>_(* #,##0.0_);_(* \(#,##0.0\)_)\ ;_(* 0_)</c:formatCode>
                <c:ptCount val="5"/>
                <c:pt idx="0">
                  <c:v>3845</c:v>
                </c:pt>
                <c:pt idx="1">
                  <c:v>3150.1774471245335</c:v>
                </c:pt>
                <c:pt idx="2">
                  <c:v>3186.8954551146603</c:v>
                </c:pt>
                <c:pt idx="3">
                  <c:v>3315.1218766811521</c:v>
                </c:pt>
                <c:pt idx="4">
                  <c:v>2813.8823136139918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B2-40F4-A365-C833F790A4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78147336"/>
        <c:axId val="778150408"/>
      </c:barChart>
      <c:catAx>
        <c:axId val="778147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8150408"/>
        <c:crosses val="autoZero"/>
        <c:auto val="1"/>
        <c:lblAlgn val="ctr"/>
        <c:lblOffset val="100"/>
        <c:noMultiLvlLbl val="0"/>
      </c:catAx>
      <c:valAx>
        <c:axId val="778150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.0_);_(* \(#,##0.0\)_)\ ;_(* 0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8147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'Carlo Monte Simulation'!$D$2:$D$5001</cx:f>
        <cx:lvl ptCount="5000" formatCode="_(&quot;$&quot;* #,##0.00_);_(&quot;$&quot;* \(#,##0.00\);_(&quot;$&quot;* &quot;-&quot;??_);_(@_)">
          <cx:pt idx="0">6704.6347965809782</cx:pt>
          <cx:pt idx="1">6365.9564438100542</cx:pt>
          <cx:pt idx="2">5592.8377950715858</cx:pt>
          <cx:pt idx="3">7370.4320489151469</cx:pt>
          <cx:pt idx="4">6037.464831169641</cx:pt>
          <cx:pt idx="5">7463.7282385294448</cx:pt>
          <cx:pt idx="6">7682.1627723558231</cx:pt>
          <cx:pt idx="7">7782.4060483426501</cx:pt>
          <cx:pt idx="8">6090.3678445889173</cx:pt>
          <cx:pt idx="9">8393.5983291949851</cx:pt>
          <cx:pt idx="10">7155.7368415287747</cx:pt>
          <cx:pt idx="11">7670.7227229151486</cx:pt>
          <cx:pt idx="12">7733.0841475140542</cx:pt>
          <cx:pt idx="13">6759.1696175516745</cx:pt>
          <cx:pt idx="14">7149.6838520402953</cx:pt>
          <cx:pt idx="15">7952.1410975495846</cx:pt>
          <cx:pt idx="16">6014.7145514936065</cx:pt>
          <cx:pt idx="17">7957.6593366989573</cx:pt>
          <cx:pt idx="18">8550.3149588785855</cx:pt>
          <cx:pt idx="19">7225.4186806828739</cx:pt>
          <cx:pt idx="20">7120.1479897949212</cx:pt>
          <cx:pt idx="21">6698.6547177951634</cx:pt>
          <cx:pt idx="22">5702.6493979340848</cx:pt>
          <cx:pt idx="23">7220.6077678050151</cx:pt>
          <cx:pt idx="24">7807.1466855692915</cx:pt>
          <cx:pt idx="25">6358.6149616398552</cx:pt>
          <cx:pt idx="26">7387.1463769970442</cx:pt>
          <cx:pt idx="27">6638.8828000308176</cx:pt>
          <cx:pt idx="28">6845.5406320545535</cx:pt>
          <cx:pt idx="29">7176.4696471140842</cx:pt>
          <cx:pt idx="30">7936.2660703844904</cx:pt>
          <cx:pt idx="31">7133.7103602282523</cx:pt>
          <cx:pt idx="32">6715.467970266669</cx:pt>
          <cx:pt idx="33">8171.4213963225402</cx:pt>
          <cx:pt idx="34">6769.6662963776089</cx:pt>
          <cx:pt idx="35">7360.4440664133999</cx:pt>
          <cx:pt idx="36">4809.4130473585183</cx:pt>
          <cx:pt idx="37">6605.7501926933492</cx:pt>
          <cx:pt idx="38">6799.8729242719555</cx:pt>
          <cx:pt idx="39">7539.1506348139528</cx:pt>
          <cx:pt idx="40">6810.4850073817661</cx:pt>
          <cx:pt idx="41">6680.2778895829479</cx:pt>
          <cx:pt idx="42">5906.5102109784211</cx:pt>
          <cx:pt idx="43">6238.8035497532492</cx:pt>
          <cx:pt idx="44">7534.5219750815095</cx:pt>
          <cx:pt idx="45">7545.7314674799154</cx:pt>
          <cx:pt idx="46">5910.0075808757238</cx:pt>
          <cx:pt idx="47">6923.5564613106244</cx:pt>
          <cx:pt idx="48">7061.0827061893115</cx:pt>
          <cx:pt idx="49">7803.9566732772309</cx:pt>
          <cx:pt idx="50">8027.4543941585898</cx:pt>
          <cx:pt idx="51">7495.008096967008</cx:pt>
          <cx:pt idx="52">6734.1185235520397</cx:pt>
          <cx:pt idx="53">8026.8035158207549</cx:pt>
          <cx:pt idx="54">6140.0869504643551</cx:pt>
          <cx:pt idx="55">6873.2026314761979</cx:pt>
          <cx:pt idx="56">8276.337297329932</cx:pt>
          <cx:pt idx="57">5335.859151329636</cx:pt>
          <cx:pt idx="58">5984.149554637761</cx:pt>
          <cx:pt idx="59">8219.7879473701905</cx:pt>
          <cx:pt idx="60">7633.2097881911532</cx:pt>
          <cx:pt idx="61">7210.1504404043226</cx:pt>
          <cx:pt idx="62">6694.9622617170508</cx:pt>
          <cx:pt idx="63">7821.0275342865034</cx:pt>
          <cx:pt idx="64">6664.8712061584974</cx:pt>
          <cx:pt idx="65">8104.8622717253647</cx:pt>
          <cx:pt idx="66">7897.175575671683</cx:pt>
          <cx:pt idx="67">5796.8329647934579</cx:pt>
          <cx:pt idx="68">6822.383121734907</cx:pt>
          <cx:pt idx="69">7954.7853138089295</cx:pt>
          <cx:pt idx="70">7403.1386994405138</cx:pt>
          <cx:pt idx="71">7646.9170811838367</cx:pt>
          <cx:pt idx="72">6991.5876803749034</cx:pt>
          <cx:pt idx="73">4785.4728170365852</cx:pt>
          <cx:pt idx="74">6647.5078113558593</cx:pt>
          <cx:pt idx="75">6191.3913448016901</cx:pt>
          <cx:pt idx="76">5676.1639903860341</cx:pt>
          <cx:pt idx="77">7336.486827666562</cx:pt>
          <cx:pt idx="78">7230.3690441694953</cx:pt>
          <cx:pt idx="79">7092.2689523335675</cx:pt>
          <cx:pt idx="80">4730.0996014564416</cx:pt>
          <cx:pt idx="81">7650.0761636008801</cx:pt>
          <cx:pt idx="82">6359.2821812934244</cx:pt>
          <cx:pt idx="83">7161.6039631762324</cx:pt>
          <cx:pt idx="84">6710.4507412530511</cx:pt>
          <cx:pt idx="85">7459.5848495345181</cx:pt>
          <cx:pt idx="86">6654.5028440062251</cx:pt>
          <cx:pt idx="87">7735.3525767271294</cx:pt>
          <cx:pt idx="88">6445.7798140075402</cx:pt>
          <cx:pt idx="89">6767.2018685536532</cx:pt>
          <cx:pt idx="90">7152.2031593484508</cx:pt>
          <cx:pt idx="91">7252.8505417914539</cx:pt>
          <cx:pt idx="92">7317.7331507930767</cx:pt>
          <cx:pt idx="93">7499.4775352023898</cx:pt>
          <cx:pt idx="94">6914.4359414075498</cx:pt>
          <cx:pt idx="95">7252.3215423960664</cx:pt>
          <cx:pt idx="96">6359.6336888586065</cx:pt>
          <cx:pt idx="97">5992.2066450319853</cx:pt>
          <cx:pt idx="98">6178.4085834573816</cx:pt>
          <cx:pt idx="99">6268.6346864825682</cx:pt>
          <cx:pt idx="100">6894.7433912349125</cx:pt>
          <cx:pt idx="101">6864.7137755240437</cx:pt>
          <cx:pt idx="102">5778.3109323521212</cx:pt>
          <cx:pt idx="103">6442.0898026715331</cx:pt>
          <cx:pt idx="104">7526.3041386530003</cx:pt>
          <cx:pt idx="105">7674.8246020927254</cx:pt>
          <cx:pt idx="106">7725.846103375543</cx:pt>
          <cx:pt idx="107">6955.048029127578</cx:pt>
          <cx:pt idx="108">6227.3942985083013</cx:pt>
          <cx:pt idx="109">7133.6209447286292</cx:pt>
          <cx:pt idx="110">7221.5194411913981</cx:pt>
          <cx:pt idx="111">5302.8656151108089</cx:pt>
          <cx:pt idx="112">6125.3778830129322</cx:pt>
          <cx:pt idx="113">5879.6466827353033</cx:pt>
          <cx:pt idx="114">8644.0475625210474</cx:pt>
          <cx:pt idx="115">6705.3404760747608</cx:pt>
          <cx:pt idx="116">6778.9871609757047</cx:pt>
          <cx:pt idx="117">6983.0767006069036</cx:pt>
          <cx:pt idx="118">8281.6383488973115</cx:pt>
          <cx:pt idx="119">5928.6632046821887</cx:pt>
          <cx:pt idx="120">8165.9325559786839</cx:pt>
          <cx:pt idx="121">7652.4186925496288</cx:pt>
          <cx:pt idx="122">5544.2765788687766</cx:pt>
          <cx:pt idx="123">7235.2940513857266</cx:pt>
          <cx:pt idx="124">5242.7148537170824</cx:pt>
          <cx:pt idx="125">6531.2707057738498</cx:pt>
          <cx:pt idx="126">5801.2686178569038</cx:pt>
          <cx:pt idx="127">8556.0117449573299</cx:pt>
          <cx:pt idx="128">7301.8964168895873</cx:pt>
          <cx:pt idx="129">6275.2941992703145</cx:pt>
          <cx:pt idx="130">7146.3445567076787</cx:pt>
          <cx:pt idx="131">5706.0548173895522</cx:pt>
          <cx:pt idx="132">6174.0180676663686</cx:pt>
          <cx:pt idx="133">6828.8960101839584</cx:pt>
          <cx:pt idx="134">7062.225008132762</cx:pt>
          <cx:pt idx="135">8300.3656095890237</cx:pt>
          <cx:pt idx="136">7545.9753276824922</cx:pt>
          <cx:pt idx="137">6960.8398225039573</cx:pt>
          <cx:pt idx="138">6756.3183495782296</cx:pt>
          <cx:pt idx="139">7943.7113333693733</cx:pt>
          <cx:pt idx="140">6685.552926078024</cx:pt>
          <cx:pt idx="141">6016.7936378063723</cx:pt>
          <cx:pt idx="142">6204.5991449422854</cx:pt>
          <cx:pt idx="143">5774.1545756935629</cx:pt>
          <cx:pt idx="144">8035.709235537216</cx:pt>
          <cx:pt idx="145">7445.5210014253653</cx:pt>
          <cx:pt idx="146">6580.7929911622796</cx:pt>
          <cx:pt idx="147">6294.4672864574941</cx:pt>
          <cx:pt idx="148">7270.727320353757</cx:pt>
          <cx:pt idx="149">5378.3754957048695</cx:pt>
          <cx:pt idx="150">7556.2042436294623</cx:pt>
          <cx:pt idx="151">6438.8992048893788</cx:pt>
          <cx:pt idx="152">7269.759770521795</cx:pt>
          <cx:pt idx="153">7426.8746545780505</cx:pt>
          <cx:pt idx="154">8010.8489771725199</cx:pt>
          <cx:pt idx="155">6972.4843425259942</cx:pt>
          <cx:pt idx="156">7541.7137983124949</cx:pt>
          <cx:pt idx="157">7411.8106798932495</cx:pt>
          <cx:pt idx="158">6037.8572456480561</cx:pt>
          <cx:pt idx="159">7549.119588835847</cx:pt>
          <cx:pt idx="160">6906.1641425985354</cx:pt>
          <cx:pt idx="161">6442.8212008332921</cx:pt>
          <cx:pt idx="162">6767.5109278609498</cx:pt>
          <cx:pt idx="163">6735.3554618941671</cx:pt>
          <cx:pt idx="164">7241.4252728684296</cx:pt>
          <cx:pt idx="165">6357.113258639959</cx:pt>
          <cx:pt idx="166">6728.8597598148199</cx:pt>
          <cx:pt idx="167">7590.8018482742873</cx:pt>
          <cx:pt idx="168">7481.3292169046881</cx:pt>
          <cx:pt idx="169">7599.1083500563645</cx:pt>
          <cx:pt idx="170">7006.5666923907993</cx:pt>
          <cx:pt idx="171">5389.5223432635739</cx:pt>
          <cx:pt idx="172">6419.5980191487806</cx:pt>
          <cx:pt idx="173">6908.9565903049779</cx:pt>
          <cx:pt idx="174">6533.9315494263537</cx:pt>
          <cx:pt idx="175">7184.0350295143744</cx:pt>
          <cx:pt idx="176">6721.9838550543745</cx:pt>
          <cx:pt idx="177">6530.0532248190248</cx:pt>
          <cx:pt idx="178">6422.1771550059184</cx:pt>
          <cx:pt idx="179">5719.2101371242015</cx:pt>
          <cx:pt idx="180">5711.1933632481405</cx:pt>
          <cx:pt idx="181">6569.183706583106</cx:pt>
          <cx:pt idx="182">7293.5784352393857</cx:pt>
          <cx:pt idx="183">6874.0637704874543</cx:pt>
          <cx:pt idx="184">7032.6008641636981</cx:pt>
          <cx:pt idx="185">7072.2841512145169</cx:pt>
          <cx:pt idx="186">8112.5769194128798</cx:pt>
          <cx:pt idx="187">5563.0757942197133</cx:pt>
          <cx:pt idx="188">6575.7275397543654</cx:pt>
          <cx:pt idx="189">6916.4421751418504</cx:pt>
          <cx:pt idx="190">7350.8928894296268</cx:pt>
          <cx:pt idx="191">7641.0849828308028</cx:pt>
          <cx:pt idx="192">7729.7688024682629</cx:pt>
          <cx:pt idx="193">6116.1440630071102</cx:pt>
          <cx:pt idx="194">8063.3011875599395</cx:pt>
          <cx:pt idx="195">7824.7241981910129</cx:pt>
          <cx:pt idx="196">7784.4260261570116</cx:pt>
          <cx:pt idx="197">7522.6516413764612</cx:pt>
          <cx:pt idx="198">6133.3621043603262</cx:pt>
          <cx:pt idx="199">7358.9967191474052</cx:pt>
          <cx:pt idx="200">6400.9991019386434</cx:pt>
          <cx:pt idx="201">8401.8443922162405</cx:pt>
          <cx:pt idx="202">6289.8727740678778</cx:pt>
          <cx:pt idx="203">7877.909073664795</cx:pt>
          <cx:pt idx="204">7045.7270660884969</cx:pt>
          <cx:pt idx="205">7184.1033476864795</cx:pt>
          <cx:pt idx="206">5740.5495639996288</cx:pt>
          <cx:pt idx="207">7867.5552530491959</cx:pt>
          <cx:pt idx="208">7049.8890908139983</cx:pt>
          <cx:pt idx="209">8973.4138055866606</cx:pt>
          <cx:pt idx="210">7687.0870936236088</cx:pt>
          <cx:pt idx="211">6563.9530986180534</cx:pt>
          <cx:pt idx="212">7156.2225239593308</cx:pt>
          <cx:pt idx="213">6440.3989047387131</cx:pt>
          <cx:pt idx="214">7912.525116612489</cx:pt>
          <cx:pt idx="215">6788.4124967510788</cx:pt>
          <cx:pt idx="216">5868.9284374953486</cx:pt>
          <cx:pt idx="217">7016.7178016720154</cx:pt>
          <cx:pt idx="218">6395.6378409092913</cx:pt>
          <cx:pt idx="219">7163.4011114790155</cx:pt>
          <cx:pt idx="220">6319.6746648543849</cx:pt>
          <cx:pt idx="221">6892.1753513875483</cx:pt>
          <cx:pt idx="222">6749.8949252858711</cx:pt>
          <cx:pt idx="223">5819.4099801716839</cx:pt>
          <cx:pt idx="224">7807.5399179870146</cx:pt>
          <cx:pt idx="225">7582.6326451195746</cx:pt>
          <cx:pt idx="226">7952.2013494571747</cx:pt>
          <cx:pt idx="227">5646.0412133347963</cx:pt>
          <cx:pt idx="228">4493.930216036706</cx:pt>
          <cx:pt idx="229">7414.4081060973667</cx:pt>
          <cx:pt idx="230">6698.1468676570657</cx:pt>
          <cx:pt idx="231">6900.2119756750271</cx:pt>
          <cx:pt idx="232">7762.0762415775716</cx:pt>
          <cx:pt idx="233">8354.4032052180264</cx:pt>
          <cx:pt idx="234">6427.9244717422389</cx:pt>
          <cx:pt idx="235">7257.9760027691373</cx:pt>
          <cx:pt idx="236">7307.887294333701</cx:pt>
          <cx:pt idx="237">6543.9596534988141</cx:pt>
          <cx:pt idx="238">7986.9169443393821</cx:pt>
          <cx:pt idx="239">7639.8729532277985</cx:pt>
          <cx:pt idx="240">7181.8613927408614</cx:pt>
          <cx:pt idx="241">6689.462984748031</cx:pt>
          <cx:pt idx="242">6781.4427127747031</cx:pt>
          <cx:pt idx="243">7526.5983473542383</cx:pt>
          <cx:pt idx="244">6641.2446130827575</cx:pt>
          <cx:pt idx="245">6016.297456108111</cx:pt>
          <cx:pt idx="246">8015.2178528436234</cx:pt>
          <cx:pt idx="247">7199.5886654847463</cx:pt>
          <cx:pt idx="248">7005.501617533937</cx:pt>
          <cx:pt idx="249">7466.4876936535529</cx:pt>
          <cx:pt idx="250">6085.9278424417926</cx:pt>
          <cx:pt idx="251">6955.6571871847382</cx:pt>
          <cx:pt idx="252">7170.6412488044398</cx:pt>
          <cx:pt idx="253">7018.3129590662866</cx:pt>
          <cx:pt idx="254">7831.7648669540831</cx:pt>
          <cx:pt idx="255">7146.0764679779913</cx:pt>
          <cx:pt idx="256">8492.655362749967</cx:pt>
          <cx:pt idx="257">7618.9457233498315</cx:pt>
          <cx:pt idx="258">6939.9162613637973</cx:pt>
          <cx:pt idx="259">7093.1341343761669</cx:pt>
          <cx:pt idx="260">7244.0273421399743</cx:pt>
          <cx:pt idx="261">7201.0352756659504</cx:pt>
          <cx:pt idx="262">6286.1325263469153</cx:pt>
          <cx:pt idx="263">6027.4755961571145</cx:pt>
          <cx:pt idx="264">5916.1985971085514</cx:pt>
          <cx:pt idx="265">7135.1577963793798</cx:pt>
          <cx:pt idx="266">7738.0466900288648</cx:pt>
          <cx:pt idx="267">7020.6161577702433</cx:pt>
          <cx:pt idx="268">5692.4218209778255</cx:pt>
          <cx:pt idx="269">6954.6053886461714</cx:pt>
          <cx:pt idx="270">6921.8020308737359</cx:pt>
          <cx:pt idx="271">5942.4031202271071</cx:pt>
          <cx:pt idx="272">6385.1560907620415</cx:pt>
          <cx:pt idx="273">6198.0976688570672</cx:pt>
          <cx:pt idx="274">6118.9044804487476</cx:pt>
          <cx:pt idx="275">7385.518217259526</cx:pt>
          <cx:pt idx="276">6642.3227730269418</cx:pt>
          <cx:pt idx="277">4864.2698942369088</cx:pt>
          <cx:pt idx="278">9391.717053374874</cx:pt>
          <cx:pt idx="279">7325.9564113707575</cx:pt>
          <cx:pt idx="280">8012.5473173237033</cx:pt>
          <cx:pt idx="281">8333.2667426571625</cx:pt>
          <cx:pt idx="282">6669.6003301851597</cx:pt>
          <cx:pt idx="283">6690.4581651005456</cx:pt>
          <cx:pt idx="284">7533.042872077287</cx:pt>
          <cx:pt idx="285">6972.9490540077977</cx:pt>
          <cx:pt idx="286">5643.2430470027284</cx:pt>
          <cx:pt idx="287">7297.2601212228874</cx:pt>
          <cx:pt idx="288">8235.5408348541969</cx:pt>
          <cx:pt idx="289">7694.7038365836424</cx:pt>
          <cx:pt idx="290">6879.8235877953484</cx:pt>
          <cx:pt idx="291">6428.0954457627722</cx:pt>
          <cx:pt idx="292">7291.7731966477868</cx:pt>
          <cx:pt idx="293">7425.4814096364671</cx:pt>
          <cx:pt idx="294">6943.5503928833432</cx:pt>
          <cx:pt idx="295">6427.0409715693968</cx:pt>
          <cx:pt idx="296">8321.3859690146037</cx:pt>
          <cx:pt idx="297">8337.58685892428</cx:pt>
          <cx:pt idx="298">7318.5076023045731</cx:pt>
          <cx:pt idx="299">7388.85568413888</cx:pt>
          <cx:pt idx="300">7905.8909213840407</cx:pt>
          <cx:pt idx="301">7190.8633685895738</cx:pt>
          <cx:pt idx="302">7219.7881655762631</cx:pt>
          <cx:pt idx="303">7411.77997801126</cx:pt>
          <cx:pt idx="304">7359.6081200453964</cx:pt>
          <cx:pt idx="305">7504.6098588236728</cx:pt>
          <cx:pt idx="306">7992.5293029590184</cx:pt>
          <cx:pt idx="307">6110.6962405774939</cx:pt>
          <cx:pt idx="308">4702.2888442919402</cx:pt>
          <cx:pt idx="309">7850.0927980755232</cx:pt>
          <cx:pt idx="310">7128.3690314486012</cx:pt>
          <cx:pt idx="311">5530.8882760845399</cx:pt>
          <cx:pt idx="312">7544.119375013699</cx:pt>
          <cx:pt idx="313">5556.8562306659014</cx:pt>
          <cx:pt idx="314">6806.8296483980093</cx:pt>
          <cx:pt idx="315">8383.104846484337</cx:pt>
          <cx:pt idx="316">5606.0728464638914</cx:pt>
          <cx:pt idx="317">6826.094505380689</cx:pt>
          <cx:pt idx="318">6654.2146629991248</cx:pt>
          <cx:pt idx="319">6982.7552885327059</cx:pt>
          <cx:pt idx="320">6591.8096084617919</cx:pt>
          <cx:pt idx="321">7122.2910378342822</cx:pt>
          <cx:pt idx="322">6706.1907865836074</cx:pt>
          <cx:pt idx="323">6420.3316061442556</cx:pt>
          <cx:pt idx="324">7314.8007438613422</cx:pt>
          <cx:pt idx="325">6391.6216291528763</cx:pt>
          <cx:pt idx="326">6776.2628798115684</cx:pt>
          <cx:pt idx="327">5971.2658916883538</cx:pt>
          <cx:pt idx="328">7612.4435308164439</cx:pt>
          <cx:pt idx="329">7542.0371126471528</cx:pt>
          <cx:pt idx="330">6404.5520241055838</cx:pt>
          <cx:pt idx="331">7224.9256715804431</cx:pt>
          <cx:pt idx="332">7038.4563303375071</cx:pt>
          <cx:pt idx="333">6705.1701690257396</cx:pt>
          <cx:pt idx="334">7486.8808326063308</cx:pt>
          <cx:pt idx="335">7404.1364229937553</cx:pt>
          <cx:pt idx="336">8126.4128494218767</cx:pt>
          <cx:pt idx="337">6205.8393847861316</cx:pt>
          <cx:pt idx="338">7498.2937098528137</cx:pt>
          <cx:pt idx="339">7714.9971957284715</cx:pt>
          <cx:pt idx="340">7577.1051951658192</cx:pt>
          <cx:pt idx="341">6851.5959863198668</cx:pt>
          <cx:pt idx="342">6702.7220154267216</cx:pt>
          <cx:pt idx="343">7071.3799477500879</cx:pt>
          <cx:pt idx="344">7736.6926612357092</cx:pt>
          <cx:pt idx="345">6322.9885982890319</cx:pt>
          <cx:pt idx="346">6835.1640315220538</cx:pt>
          <cx:pt idx="347">6586.4899145646968</cx:pt>
          <cx:pt idx="348">5122.5176759111409</cx:pt>
          <cx:pt idx="349">6062.3166181007455</cx:pt>
          <cx:pt idx="350">6915.9378839591445</cx:pt>
          <cx:pt idx="351">6403.4779250972297</cx:pt>
          <cx:pt idx="352">7603.3291338359795</cx:pt>
          <cx:pt idx="353">5161.1489406220071</cx:pt>
          <cx:pt idx="354">6156.4479237745263</cx:pt>
          <cx:pt idx="355">6066.7940372710491</cx:pt>
          <cx:pt idx="356">5999.0811095690369</cx:pt>
          <cx:pt idx="357">7891.2787195251267</cx:pt>
          <cx:pt idx="358">6384.1740258458367</cx:pt>
          <cx:pt idx="359">7723.2310503012432</cx:pt>
          <cx:pt idx="360">7543.8663777765787</cx:pt>
          <cx:pt idx="361">7115.9635234141224</cx:pt>
          <cx:pt idx="362">5204.2115362614877</cx:pt>
          <cx:pt idx="363">5789.3348630895589</cx:pt>
          <cx:pt idx="364">7508.8461343290091</cx:pt>
          <cx:pt idx="365">7656.381824038328</cx:pt>
          <cx:pt idx="366">7652.4425236122497</cx:pt>
          <cx:pt idx="367">7716.4200820335154</cx:pt>
          <cx:pt idx="368">5587.0408172028301</cx:pt>
          <cx:pt idx="369">6757.0741482923504</cx:pt>
          <cx:pt idx="370">7803.4447380621823</cx:pt>
          <cx:pt idx="371">5580.0471283377519</cx:pt>
          <cx:pt idx="372">7114.9332006835393</cx:pt>
          <cx:pt idx="373">7431.686219536834</cx:pt>
          <cx:pt idx="374">7239.1731921648579</cx:pt>
          <cx:pt idx="375">8166.9622529354883</cx:pt>
          <cx:pt idx="376">5840.1156829767369</cx:pt>
          <cx:pt idx="377">7549.34985201565</cx:pt>
          <cx:pt idx="378">7016.4498150199561</cx:pt>
          <cx:pt idx="379">7262.9576663822172</cx:pt>
          <cx:pt idx="380">7192.2914649484692</cx:pt>
          <cx:pt idx="381">7025.0105307474705</cx:pt>
          <cx:pt idx="382">5865.6687414618209</cx:pt>
          <cx:pt idx="383">7077.8931469767094</cx:pt>
          <cx:pt idx="384">6603.9370828418278</cx:pt>
          <cx:pt idx="385">6497.2774747912581</cx:pt>
          <cx:pt idx="386">6617.0329749559369</cx:pt>
          <cx:pt idx="387">7031.2267592871158</cx:pt>
          <cx:pt idx="388">5744.6073351545847</cx:pt>
          <cx:pt idx="389">5408.9941104463815</cx:pt>
          <cx:pt idx="390">5701.2069074453038</cx:pt>
          <cx:pt idx="391">6749.6142225594076</cx:pt>
          <cx:pt idx="392">6922.6836008420587</cx:pt>
          <cx:pt idx="393">7908.7342400400485</cx:pt>
          <cx:pt idx="394">6229.3548183084858</cx:pt>
          <cx:pt idx="395">6532.2496341310925</cx:pt>
          <cx:pt idx="396">7236.017512075131</cx:pt>
          <cx:pt idx="397">5882.2301473439311</cx:pt>
          <cx:pt idx="398">7312.8479014756686</cx:pt>
          <cx:pt idx="399">6800.8961141619557</cx:pt>
          <cx:pt idx="400">5599.1860667166375</cx:pt>
          <cx:pt idx="401">6436.1507555398666</cx:pt>
          <cx:pt idx="402">6560.9151478087515</cx:pt>
          <cx:pt idx="403">6824.75894906945</cx:pt>
          <cx:pt idx="404">7666.6907960533699</cx:pt>
          <cx:pt idx="405">7493.4129763321625</cx:pt>
          <cx:pt idx="406">7095.931481622596</cx:pt>
          <cx:pt idx="407">6884.1762027012364</cx:pt>
          <cx:pt idx="408">7693.9262437566558</cx:pt>
          <cx:pt idx="409">6501.438781240091</cx:pt>
          <cx:pt idx="410">7417.6721495420607</cx:pt>
          <cx:pt idx="411">6812.0502504169326</cx:pt>
          <cx:pt idx="412">6339.8975042267966</cx:pt>
          <cx:pt idx="413">7107.2054496718056</cx:pt>
          <cx:pt idx="414">5316.6843215529398</cx:pt>
          <cx:pt idx="415">7984.5292860919799</cx:pt>
          <cx:pt idx="416">6910.6540565731621</cx:pt>
          <cx:pt idx="417">7143.8667301181449</cx:pt>
          <cx:pt idx="418">6000.8666783571107</cx:pt>
          <cx:pt idx="419">6581.0277487742669</cx:pt>
          <cx:pt idx="420">7268.5972207352934</cx:pt>
          <cx:pt idx="421">7058.1704704361073</cx:pt>
          <cx:pt idx="422">7787.9492417399015</cx:pt>
          <cx:pt idx="423">8363.6309643893474</cx:pt>
          <cx:pt idx="424">7041.9535504630994</cx:pt>
          <cx:pt idx="425">7282.4226813095565</cx:pt>
          <cx:pt idx="426">6913.4667594726398</cx:pt>
          <cx:pt idx="427">7545.8318351842117</cx:pt>
          <cx:pt idx="428">7191.5152899241866</cx:pt>
          <cx:pt idx="429">7651.0701445525265</cx:pt>
          <cx:pt idx="430">7017.8764800837434</cx:pt>
          <cx:pt idx="431">7311.1736863933838</cx:pt>
          <cx:pt idx="432">5235.2433146533949</cx:pt>
          <cx:pt idx="433">7468.7412096231674</cx:pt>
          <cx:pt idx="434">8107.7837092265991</cx:pt>
          <cx:pt idx="435">7292.3894537341912</cx:pt>
          <cx:pt idx="436">6883.8327296850493</cx:pt>
          <cx:pt idx="437">6675.7545014701773</cx:pt>
          <cx:pt idx="438">5865.9339004740677</cx:pt>
          <cx:pt idx="439">7621.0370129291159</cx:pt>
          <cx:pt idx="440">6911.0755551542743</cx:pt>
          <cx:pt idx="441">7621.9567962568262</cx:pt>
          <cx:pt idx="442">7179.5825441359502</cx:pt>
          <cx:pt idx="443">7045.5672720419516</cx:pt>
          <cx:pt idx="444">4938.0583725948609</cx:pt>
          <cx:pt idx="445">5900.0912019761308</cx:pt>
          <cx:pt idx="446">7159.1339278395581</cx:pt>
          <cx:pt idx="447">7375.4215792315126</cx:pt>
          <cx:pt idx="448">7770.1921899879399</cx:pt>
          <cx:pt idx="449">6122.3017674225403</cx:pt>
          <cx:pt idx="450">6556.7657510608624</cx:pt>
          <cx:pt idx="451">5638.5337189070951</cx:pt>
          <cx:pt idx="452">7921.2755867363267</cx:pt>
          <cx:pt idx="453">6749.1609792322415</cx:pt>
          <cx:pt idx="454">7362.0746981820112</cx:pt>
          <cx:pt idx="455">7424.0447486221019</cx:pt>
          <cx:pt idx="456">7738.7450920781466</cx:pt>
          <cx:pt idx="457">6889.3773725626552</cx:pt>
          <cx:pt idx="458">6214.9566617531655</cx:pt>
          <cx:pt idx="459">6784.213926493806</cx:pt>
          <cx:pt idx="460">5915.1839598045572</cx:pt>
          <cx:pt idx="461">7089.8395410647245</cx:pt>
          <cx:pt idx="462">5312.3883861335171</cx:pt>
          <cx:pt idx="463">6316.4352987814937</cx:pt>
          <cx:pt idx="464">6999.773317895334</cx:pt>
          <cx:pt idx="465">7212.7789398545083</cx:pt>
          <cx:pt idx="466">7786.82461464275</cx:pt>
          <cx:pt idx="467">7181.208719138227</cx:pt>
          <cx:pt idx="468">7735.6515143274719</cx:pt>
          <cx:pt idx="469">6134.8923966352331</cx:pt>
          <cx:pt idx="470">6385.1536965756122</cx:pt>
          <cx:pt idx="471">6888.1629387161938</cx:pt>
          <cx:pt idx="472">6526.0795676675616</cx:pt>
          <cx:pt idx="473">7410.0077023777894</cx:pt>
          <cx:pt idx="474">5812.300172017638</cx:pt>
          <cx:pt idx="475">6620.5350778870061</cx:pt>
          <cx:pt idx="476">7281.6707901256768</cx:pt>
          <cx:pt idx="477">6481.6421735797849</cx:pt>
          <cx:pt idx="478">7547.113288358898</cx:pt>
          <cx:pt idx="479">7326.2719377972462</cx:pt>
          <cx:pt idx="480">6542.3096375985851</cx:pt>
          <cx:pt idx="481">7344.7823763852957</cx:pt>
          <cx:pt idx="482">6623.3890761249722</cx:pt>
          <cx:pt idx="483">4814.6658073160543</cx:pt>
          <cx:pt idx="484">6928.0653002559884</cx:pt>
          <cx:pt idx="485">7622.3042391489153</cx:pt>
          <cx:pt idx="486">7065.6638703976796</cx:pt>
          <cx:pt idx="487">7204.0194911201024</cx:pt>
          <cx:pt idx="488">7273.5745219821883</cx:pt>
          <cx:pt idx="489">6388.0264450181176</cx:pt>
          <cx:pt idx="490">7369.6898670645141</cx:pt>
          <cx:pt idx="491">6409.0476781223879</cx:pt>
          <cx:pt idx="492">6073.7754220847355</cx:pt>
          <cx:pt idx="493">6091.5756980049919</cx:pt>
          <cx:pt idx="494">6284.3876170665326</cx:pt>
          <cx:pt idx="495">5059.8805461548645</cx:pt>
          <cx:pt idx="496">7477.2513522006875</cx:pt>
          <cx:pt idx="497">5043.755527803808</cx:pt>
          <cx:pt idx="498">7831.7033086336032</cx:pt>
          <cx:pt idx="499">6786.8107078653238</cx:pt>
          <cx:pt idx="500">8198.7700716958116</cx:pt>
          <cx:pt idx="501">7794.4710703559685</cx:pt>
          <cx:pt idx="502">5790.9871698024817</cx:pt>
          <cx:pt idx="503">6421.5995628181863</cx:pt>
          <cx:pt idx="504">5818.5341130788547</cx:pt>
          <cx:pt idx="505">6832.8558866690573</cx:pt>
          <cx:pt idx="506">5057.3815686809203</cx:pt>
          <cx:pt idx="507">7343.3956312973414</cx:pt>
          <cx:pt idx="508">8413.8915571940215</cx:pt>
          <cx:pt idx="509">7826.8044749626288</cx:pt>
          <cx:pt idx="510">8109.3250075303104</cx:pt>
          <cx:pt idx="511">7308.0503306094188</cx:pt>
          <cx:pt idx="512">6343.8763044405277</cx:pt>
          <cx:pt idx="513">6710.5090715791403</cx:pt>
          <cx:pt idx="514">5863.2833021743272</cx:pt>
          <cx:pt idx="515">6124.6878309004824</cx:pt>
          <cx:pt idx="516">6227.7331056238345</cx:pt>
          <cx:pt idx="517">7375.5094008306523</cx:pt>
          <cx:pt idx="518">7529.0869173896572</cx:pt>
          <cx:pt idx="519">6648.5811952338363</cx:pt>
          <cx:pt idx="520">6677.2904771941321</cx:pt>
          <cx:pt idx="521">4782.8084889338934</cx:pt>
          <cx:pt idx="522">4403.5419550096094</cx:pt>
          <cx:pt idx="523">6649.9635744136249</cx:pt>
          <cx:pt idx="524">6216.1047333451343</cx:pt>
          <cx:pt idx="525">6856.2283134824902</cx:pt>
          <cx:pt idx="526">6261.1421108954082</cx:pt>
          <cx:pt idx="527">7020.0860069037071</cx:pt>
          <cx:pt idx="528">6956.6822671048985</cx:pt>
          <cx:pt idx="529">6049.5166813167134</cx:pt>
          <cx:pt idx="530">7647.2825225503784</cx:pt>
          <cx:pt idx="531">6474.5586330044453</cx:pt>
          <cx:pt idx="532">7440.28737245099</cx:pt>
          <cx:pt idx="533">6919.6920498054888</cx:pt>
          <cx:pt idx="534">5524.2750016509754</cx:pt>
          <cx:pt idx="535">6397.5916302069108</cx:pt>
          <cx:pt idx="536">4806.1576307419055</cx:pt>
          <cx:pt idx="537">5906.1041820350201</cx:pt>
          <cx:pt idx="538">7926.2010680916146</cx:pt>
          <cx:pt idx="539">6084.6421685756604</cx:pt>
          <cx:pt idx="540">6188.1673663125093</cx:pt>
          <cx:pt idx="541">7608.0928967421978</cx:pt>
          <cx:pt idx="542">5987.8243172977172</cx:pt>
          <cx:pt idx="543">6094.1337246080848</cx:pt>
          <cx:pt idx="544">7165.188282605176</cx:pt>
          <cx:pt idx="545">6562.2354245163151</cx:pt>
          <cx:pt idx="546">7183.5839472234156</cx:pt>
          <cx:pt idx="547">6613.4208542289398</cx:pt>
          <cx:pt idx="548">5940.476976091375</cx:pt>
          <cx:pt idx="549">7622.484381631326</cx:pt>
          <cx:pt idx="550">5394.8957985602228</cx:pt>
          <cx:pt idx="551">5811.0371825078146</cx:pt>
          <cx:pt idx="552">7215.4901200756904</cx:pt>
          <cx:pt idx="553">5867.7528886604423</cx:pt>
          <cx:pt idx="554">7937.5818900952218</cx:pt>
          <cx:pt idx="555">7322.8696401752113</cx:pt>
          <cx:pt idx="556">6907.0809070256573</cx:pt>
          <cx:pt idx="557">5575.9586021832902</cx:pt>
          <cx:pt idx="558">6651.0915589277547</cx:pt>
          <cx:pt idx="559">6974.2548356293664</cx:pt>
          <cx:pt idx="560">5478.4009368265224</cx:pt>
          <cx:pt idx="561">6977.4381357350403</cx:pt>
          <cx:pt idx="562">6750.2602179563728</cx:pt>
          <cx:pt idx="563">7730.9564074000982</cx:pt>
          <cx:pt idx="564">8777.8352409710333</cx:pt>
          <cx:pt idx="565">8588.0021229499434</cx:pt>
          <cx:pt idx="566">7541.056603626801</cx:pt>
          <cx:pt idx="567">6866.3441849492083</cx:pt>
          <cx:pt idx="568">6340.7690388352148</cx:pt>
          <cx:pt idx="569">6299.8021955829845</cx:pt>
          <cx:pt idx="570">7921.6814918284472</cx:pt>
          <cx:pt idx="571">6527.3435962582926</cx:pt>
          <cx:pt idx="572">7215.7059099748749</cx:pt>
          <cx:pt idx="573">6485.5836448993869</cx:pt>
          <cx:pt idx="574">7151.9377130963721</cx:pt>
          <cx:pt idx="575">7618.2338405775699</cx:pt>
          <cx:pt idx="576">5743.6303740440744</cx:pt>
          <cx:pt idx="577">6399.640672738562</cx:pt>
          <cx:pt idx="578">7318.7751732855104</cx:pt>
          <cx:pt idx="579">7561.857708358235</cx:pt>
          <cx:pt idx="580">6080.1210798137427</cx:pt>
          <cx:pt idx="581">7808.7341257072476</cx:pt>
          <cx:pt idx="582">6152.3815719473341</cx:pt>
          <cx:pt idx="583">8055.4235043679837</cx:pt>
          <cx:pt idx="584">5350.8253841010965</cx:pt>
          <cx:pt idx="585">6261.3231725945025</cx:pt>
          <cx:pt idx="586">8045.8116574542773</cx:pt>
          <cx:pt idx="587">5645.8390718506307</cx:pt>
          <cx:pt idx="588">6425.0689673540946</cx:pt>
          <cx:pt idx="589">5648.2349021430318</cx:pt>
          <cx:pt idx="590">7498.6117537811924</cx:pt>
          <cx:pt idx="591">6984.6244509117441</cx:pt>
          <cx:pt idx="592">7336.3198675866042</cx:pt>
          <cx:pt idx="593">7830.6092844498417</cx:pt>
          <cx:pt idx="594">8573.8518618854268</cx:pt>
          <cx:pt idx="595">7246.2912260019893</cx:pt>
          <cx:pt idx="596">6347.5702866466563</cx:pt>
          <cx:pt idx="597">7171.1529426517245</cx:pt>
          <cx:pt idx="598">4786.5517456440775</cx:pt>
          <cx:pt idx="599">7079.4117851316805</cx:pt>
          <cx:pt idx="600">5977.0226956960178</cx:pt>
          <cx:pt idx="601">6057.2370818474346</cx:pt>
          <cx:pt idx="602">7234.4699585689905</cx:pt>
          <cx:pt idx="603">7082.4726131514626</cx:pt>
          <cx:pt idx="604">7490.8826744624475</cx:pt>
          <cx:pt idx="605">7464.3032461240182</cx:pt>
          <cx:pt idx="606">6966.2300926691833</cx:pt>
          <cx:pt idx="607">6602.6888916331918</cx:pt>
          <cx:pt idx="608">7342.1184634006804</cx:pt>
          <cx:pt idx="609">7513.4612548891637</cx:pt>
          <cx:pt idx="610">7171.3472662678041</cx:pt>
          <cx:pt idx="611">7174.5481806756552</cx:pt>
          <cx:pt idx="612">6377.5746698143457</cx:pt>
          <cx:pt idx="613">7170.3576495389543</cx:pt>
          <cx:pt idx="614">5342.5827919487565</cx:pt>
          <cx:pt idx="615">6717.0486337666753</cx:pt>
          <cx:pt idx="616">8652.6451662635336</cx:pt>
          <cx:pt idx="617">7018.6258192554842</cx:pt>
          <cx:pt idx="618">7710.0774541854389</cx:pt>
          <cx:pt idx="619">8310.5029127118432</cx:pt>
          <cx:pt idx="620">6600.730329381473</cx:pt>
          <cx:pt idx="621">6393.1238874703449</cx:pt>
          <cx:pt idx="622">6684.7481873197939</cx:pt>
          <cx:pt idx="623">7132.222878684147</cx:pt>
          <cx:pt idx="624">5810.2891904573844</cx:pt>
          <cx:pt idx="625">6537.877140979248</cx:pt>
          <cx:pt idx="626">6739.2551679068747</cx:pt>
          <cx:pt idx="627">8272.0743989346447</cx:pt>
          <cx:pt idx="628">6896.9803808887173</cx:pt>
          <cx:pt idx="629">5622.7150769436939</cx:pt>
          <cx:pt idx="630">7424.6523193585635</cx:pt>
          <cx:pt idx="631">7430.5564501512235</cx:pt>
          <cx:pt idx="632">8211.470962665062</cx:pt>
          <cx:pt idx="633">7532.888985799369</cx:pt>
          <cx:pt idx="634">8211.2726506329818</cx:pt>
          <cx:pt idx="635">7293.3092076884786</cx:pt>
          <cx:pt idx="636">7831.853927048327</cx:pt>
          <cx:pt idx="637">6634.4306665086051</cx:pt>
          <cx:pt idx="638">7066.8978686353685</cx:pt>
          <cx:pt idx="639">8396.4737372789277</cx:pt>
          <cx:pt idx="640">6256.2722104848117</cx:pt>
          <cx:pt idx="641">5441.5182157032214</cx:pt>
          <cx:pt idx="642">7462.0255158551445</cx:pt>
          <cx:pt idx="643">6952.7590031290092</cx:pt>
          <cx:pt idx="644">6655.0165162240282</cx:pt>
          <cx:pt idx="645">7401.1837638263833</cx:pt>
          <cx:pt idx="646">6921.8285645423248</cx:pt>
          <cx:pt idx="647">6847.5515230026103</cx:pt>
          <cx:pt idx="648">7340.9930424446584</cx:pt>
          <cx:pt idx="649">5338.1624621284709</cx:pt>
          <cx:pt idx="650">6291.2670579984342</cx:pt>
          <cx:pt idx="651">6263.7339803344621</cx:pt>
          <cx:pt idx="652">6341.8670145232609</cx:pt>
          <cx:pt idx="653">5306.4489007742341</cx:pt>
          <cx:pt idx="654">4877.9682511265028</cx:pt>
          <cx:pt idx="655">7329.9966495335684</cx:pt>
          <cx:pt idx="656">7096.7811399066795</cx:pt>
          <cx:pt idx="657">6755.4783297550521</cx:pt>
          <cx:pt idx="658">6980.9741940735394</cx:pt>
          <cx:pt idx="659">7187.4761792006384</cx:pt>
          <cx:pt idx="660">7058.4713943454926</cx:pt>
          <cx:pt idx="661">8263.9721964322525</cx:pt>
          <cx:pt idx="662">5982.7618745296577</cx:pt>
          <cx:pt idx="663">6293.8506746680532</cx:pt>
          <cx:pt idx="664">6431.2793616020435</cx:pt>
          <cx:pt idx="665">7224.353223535004</cx:pt>
          <cx:pt idx="666">6681.3412008437226</cx:pt>
          <cx:pt idx="667">5868.2335251748891</cx:pt>
          <cx:pt idx="668">5237.8776199344466</cx:pt>
          <cx:pt idx="669">6904.9502887491371</cx:pt>
          <cx:pt idx="670">6960.3593782192538</cx:pt>
          <cx:pt idx="671">7056.1722834258362</cx:pt>
          <cx:pt idx="672">6776.2083600095975</cx:pt>
          <cx:pt idx="673">6413.8997202559185</cx:pt>
          <cx:pt idx="674">7080.5321102622092</cx:pt>
          <cx:pt idx="675">5401.1151291780698</cx:pt>
          <cx:pt idx="676">7477.7681975126252</cx:pt>
          <cx:pt idx="677">7301.4184636118252</cx:pt>
          <cx:pt idx="678">5739.0395674801093</cx:pt>
          <cx:pt idx="679">6554.171597459328</cx:pt>
          <cx:pt idx="680">5674.5960959907397</cx:pt>
          <cx:pt idx="681">6547.992657175424</cx:pt>
          <cx:pt idx="682">7291.9287885345766</cx:pt>
          <cx:pt idx="683">6863.4005112153645</cx:pt>
          <cx:pt idx="684">6934.7307137111666</cx:pt>
          <cx:pt idx="685">6746.5295008330913</cx:pt>
          <cx:pt idx="686">6724.7769022868661</cx:pt>
          <cx:pt idx="687">6953.8070295639955</cx:pt>
          <cx:pt idx="688">6470.1082934296164</cx:pt>
          <cx:pt idx="689">7087.1778594205798</cx:pt>
          <cx:pt idx="690">7948.9952905688915</cx:pt>
          <cx:pt idx="691">7213.6470193966607</cx:pt>
          <cx:pt idx="692">6587.1209893080177</cx:pt>
          <cx:pt idx="693">7452.0665712308592</cx:pt>
          <cx:pt idx="694">7126.5257402826383</cx:pt>
          <cx:pt idx="695">5344.8658794756357</cx:pt>
          <cx:pt idx="696">7333.7185872502596</cx:pt>
          <cx:pt idx="697">8046.3871532248368</cx:pt>
          <cx:pt idx="698">7695.5897176072958</cx:pt>
          <cx:pt idx="699">7231.4822655870967</cx:pt>
          <cx:pt idx="700">7588.0710318388865</cx:pt>
          <cx:pt idx="701">6609.5026185000752</cx:pt>
          <cx:pt idx="702">6935.1549549681813</cx:pt>
          <cx:pt idx="703">7662.0022119040414</cx:pt>
          <cx:pt idx="704">7826.9512906817808</cx:pt>
          <cx:pt idx="705">6753.2542193541394</cx:pt>
          <cx:pt idx="706">6513.4170680975703</cx:pt>
          <cx:pt idx="707">7319.2105364448953</cx:pt>
          <cx:pt idx="708">7619.27248314186</cx:pt>
          <cx:pt idx="709">7042.4936407910427</cx:pt>
          <cx:pt idx="710">7279.6430574099022</cx:pt>
          <cx:pt idx="711">6271.9868230979519</cx:pt>
          <cx:pt idx="712">7417.3740048614964</cx:pt>
          <cx:pt idx="713">6915.1743647053827</cx:pt>
          <cx:pt idx="714">6879.707446630764</cx:pt>
          <cx:pt idx="715">5897.1789614050049</cx:pt>
          <cx:pt idx="716">7139.9980138794099</cx:pt>
          <cx:pt idx="717">6507.5720620639313</cx:pt>
          <cx:pt idx="718">7908.262691416403</cx:pt>
          <cx:pt idx="719">6818.0395109991041</cx:pt>
          <cx:pt idx="720">6565.5001397952856</cx:pt>
          <cx:pt idx="721">6455.3965794350088</cx:pt>
          <cx:pt idx="722">6988.6361210294071</cx:pt>
          <cx:pt idx="723">6832.7520103412435</cx:pt>
          <cx:pt idx="724">5825.6698551513955</cx:pt>
          <cx:pt idx="725">7436.6644002870589</cx:pt>
          <cx:pt idx="726">6040.6990365498505</cx:pt>
          <cx:pt idx="727">7690.8279896303429</cx:pt>
          <cx:pt idx="728">7306.9027153495554</cx:pt>
          <cx:pt idx="729">8379.0958581396062</cx:pt>
          <cx:pt idx="730">6535.643627470864</cx:pt>
          <cx:pt idx="731">5881.9753549394891</cx:pt>
          <cx:pt idx="732">5726.3695897836787</cx:pt>
          <cx:pt idx="733">8081.425780930429</cx:pt>
          <cx:pt idx="734">7025.7884375138028</cx:pt>
          <cx:pt idx="735">7681.336342657678</cx:pt>
          <cx:pt idx="736">6737.4554246813286</cx:pt>
          <cx:pt idx="737">7349.1564474613542</cx:pt>
          <cx:pt idx="738">7271.3831078364728</cx:pt>
          <cx:pt idx="739">6375.6137950561124</cx:pt>
          <cx:pt idx="740">6578.3624716350851</cx:pt>
          <cx:pt idx="741">6549.5564752256978</cx:pt>
          <cx:pt idx="742">7669.1365623729434</cx:pt>
          <cx:pt idx="743">7641.1481447417318</cx:pt>
          <cx:pt idx="744">5870.7813847245397</cx:pt>
          <cx:pt idx="745">8092.099983773187</cx:pt>
          <cx:pt idx="746">7106.7241744232069</cx:pt>
          <cx:pt idx="747">8144.1369525191958</cx:pt>
          <cx:pt idx="748">6694.2982882647602</cx:pt>
          <cx:pt idx="749">7723.3691259479065</cx:pt>
          <cx:pt idx="750">6144.5068207415652</cx:pt>
          <cx:pt idx="751">8115.9348555802198</cx:pt>
          <cx:pt idx="752">6714.4031518648098</cx:pt>
          <cx:pt idx="753">6213.677694007697</cx:pt>
          <cx:pt idx="754">7162.105021301355</cx:pt>
          <cx:pt idx="755">3696.3938167269453</cx:pt>
          <cx:pt idx="756">6531.0651113665399</cx:pt>
          <cx:pt idx="757">7596.9046710965986</cx:pt>
          <cx:pt idx="758">6573.0121948314836</cx:pt>
          <cx:pt idx="759">7519.5242843400838</cx:pt>
          <cx:pt idx="760">8231.9170193744158</cx:pt>
          <cx:pt idx="761">7369.4716988535283</cx:pt>
          <cx:pt idx="762">7781.3625628313766</cx:pt>
          <cx:pt idx="763">6073.8867782772786</cx:pt>
          <cx:pt idx="764">5761.7887476601272</cx:pt>
          <cx:pt idx="765">6961.9507817194535</cx:pt>
          <cx:pt idx="766">6794.0011604404144</cx:pt>
          <cx:pt idx="767">7322.2155460641379</cx:pt>
          <cx:pt idx="768">5291.461061097456</cx:pt>
          <cx:pt idx="769">6717.6789545978954</cx:pt>
          <cx:pt idx="770">6696.3884676643729</cx:pt>
          <cx:pt idx="771">6234.0338925994583</cx:pt>
          <cx:pt idx="772">7048.1799159924949</cx:pt>
          <cx:pt idx="773">6364.331469900636</cx:pt>
          <cx:pt idx="774">7343.2285276945895</cx:pt>
          <cx:pt idx="775">8018.0955436379299</cx:pt>
          <cx:pt idx="776">6589.8484972716715</cx:pt>
          <cx:pt idx="777">4878.2121554095029</cx:pt>
          <cx:pt idx="778">6698.4199969435031</cx:pt>
          <cx:pt idx="779">6811.6032304940099</cx:pt>
          <cx:pt idx="780">6032.4936838428466</cx:pt>
          <cx:pt idx="781">6131.4588810711193</cx:pt>
          <cx:pt idx="782">7370.4628450787795</cx:pt>
          <cx:pt idx="783">6491.7758112613992</cx:pt>
          <cx:pt idx="784">7096.1092275526607</cx:pt>
          <cx:pt idx="785">6243.3911297300856</cx:pt>
          <cx:pt idx="786">6434.1343929921259</cx:pt>
          <cx:pt idx="787">8390.0683405767813</cx:pt>
          <cx:pt idx="788">6107.0361678169811</cx:pt>
          <cx:pt idx="789">7186.1185531232304</cx:pt>
          <cx:pt idx="790">5766.2814647362957</cx:pt>
          <cx:pt idx="791">7730.4937277766794</cx:pt>
          <cx:pt idx="792">6712.6446379674808</cx:pt>
          <cx:pt idx="793">5209.3635269070001</cx:pt>
          <cx:pt idx="794">6559.6488151059702</cx:pt>
          <cx:pt idx="795">5664.7028856552624</cx:pt>
          <cx:pt idx="796">7014.0024370888677</cx:pt>
          <cx:pt idx="797">8126.1273181182023</cx:pt>
          <cx:pt idx="798">7064.0235592338458</cx:pt>
          <cx:pt idx="799">5748.6326477939283</cx:pt>
          <cx:pt idx="800">6556.2185748664415</cx:pt>
          <cx:pt idx="801">7364.1796977801714</cx:pt>
          <cx:pt idx="802">7266.0486479990759</cx:pt>
          <cx:pt idx="803">7666.2733999406164</cx:pt>
          <cx:pt idx="804">6506.4142658137516</cx:pt>
          <cx:pt idx="805">6248.5301751541383</cx:pt>
          <cx:pt idx="806">8052.6000268577736</cx:pt>
          <cx:pt idx="807">6554.4979557702627</cx:pt>
          <cx:pt idx="808">6861.3904179318515</cx:pt>
          <cx:pt idx="809">5534.4002314680565</cx:pt>
          <cx:pt idx="810">6367.9651530920937</cx:pt>
          <cx:pt idx="811">6364.5782545917591</cx:pt>
          <cx:pt idx="812">6951.7613181061652</cx:pt>
          <cx:pt idx="813">8115.2090821233824</cx:pt>
          <cx:pt idx="814">4759.7658391319237</cx:pt>
          <cx:pt idx="815">7630.7312946376924</cx:pt>
          <cx:pt idx="816">7586.4342276680891</cx:pt>
          <cx:pt idx="817">7507.0298166755865</cx:pt>
          <cx:pt idx="818">7594.6856890143144</cx:pt>
          <cx:pt idx="819">7220.2790550882828</cx:pt>
          <cx:pt idx="820">7247.259945896205</cx:pt>
          <cx:pt idx="821">6836.9577105436238</cx:pt>
          <cx:pt idx="822">6680.1551645597983</cx:pt>
          <cx:pt idx="823">6462.6156093324335</cx:pt>
          <cx:pt idx="824">6226.6157291116497</cx:pt>
          <cx:pt idx="825">6907.5659114990685</cx:pt>
          <cx:pt idx="826">7125.8925908173896</cx:pt>
          <cx:pt idx="827">6442.2800086437328</cx:pt>
          <cx:pt idx="828">6879.0376345715831</cx:pt>
          <cx:pt idx="829">7200.7191013657703</cx:pt>
          <cx:pt idx="830">6959.6061891180634</cx:pt>
          <cx:pt idx="831">7908.7350931318497</cx:pt>
          <cx:pt idx="832">7556.0903378852254</cx:pt>
          <cx:pt idx="833">5454.1031848849816</cx:pt>
          <cx:pt idx="834">6213.738419587934</cx:pt>
          <cx:pt idx="835">6955.0595983296025</cx:pt>
          <cx:pt idx="836">6424.8285183651069</cx:pt>
          <cx:pt idx="837">7107.8617192927431</cx:pt>
          <cx:pt idx="838">6718.4802481867864</cx:pt>
          <cx:pt idx="839">8157.2796432899322</cx:pt>
          <cx:pt idx="840">5849.924541073563</cx:pt>
          <cx:pt idx="841">6012.2119326711418</cx:pt>
          <cx:pt idx="842">7025.039810216379</cx:pt>
          <cx:pt idx="843">6280.4778860531942</cx:pt>
          <cx:pt idx="844">6705.0734210989185</cx:pt>
          <cx:pt idx="845">6525.0014140591538</cx:pt>
          <cx:pt idx="846">7885.6820851171497</cx:pt>
          <cx:pt idx="847">6098.6566923619039</cx:pt>
          <cx:pt idx="848">5540.6546518028572</cx:pt>
          <cx:pt idx="849">8280.1426111851306</cx:pt>
          <cx:pt idx="850">6298.9179728048521</cx:pt>
          <cx:pt idx="851">6622.7891982128458</cx:pt>
          <cx:pt idx="852">7490.607474413111</cx:pt>
          <cx:pt idx="853">7767.2389808526605</cx:pt>
          <cx:pt idx="854">7069.3624373844377</cx:pt>
          <cx:pt idx="855">6589.6388201746249</cx:pt>
          <cx:pt idx="856">7678.3702275366559</cx:pt>
          <cx:pt idx="857">4974.3395874977314</cx:pt>
          <cx:pt idx="858">7075.5403988032804</cx:pt>
          <cx:pt idx="859">7432.1033814461889</cx:pt>
          <cx:pt idx="860">7571.8906017969884</cx:pt>
          <cx:pt idx="861">7186.5784835431959</cx:pt>
          <cx:pt idx="862">6478.4455392236223</cx:pt>
          <cx:pt idx="863">7205.1217638343933</cx:pt>
          <cx:pt idx="864">5792.2122951664815</cx:pt>
          <cx:pt idx="865">7570.95977790492</cx:pt>
          <cx:pt idx="866">6898.7281441856312</cx:pt>
          <cx:pt idx="867">8008.7588190959323</cx:pt>
          <cx:pt idx="868">6585.1707629501097</cx:pt>
          <cx:pt idx="869">7427.9882756608886</cx:pt>
          <cx:pt idx="870">7726.7900376766229</cx:pt>
          <cx:pt idx="871">5885.1478740081202</cx:pt>
          <cx:pt idx="872">6805.7044399266761</cx:pt>
          <cx:pt idx="873">7023.0835044739479</cx:pt>
          <cx:pt idx="874">7161.0657815349532</cx:pt>
          <cx:pt idx="875">7996.0362601567567</cx:pt>
          <cx:pt idx="876">7025.1961424031824</cx:pt>
          <cx:pt idx="877">5879.0031653172919</cx:pt>
          <cx:pt idx="878">6814.1012207604945</cx:pt>
          <cx:pt idx="879">6310.322234529378</cx:pt>
          <cx:pt idx="880">7572.8921851332016</cx:pt>
          <cx:pt idx="881">5720.1137554193247</cx:pt>
          <cx:pt idx="882">6243.4079645073443</cx:pt>
          <cx:pt idx="883">6482.8760227914836</cx:pt>
          <cx:pt idx="884">7408.7286004886309</cx:pt>
          <cx:pt idx="885">5617.4821126087591</cx:pt>
          <cx:pt idx="886">6765.6978944177808</cx:pt>
          <cx:pt idx="887">7194.047477449456</cx:pt>
          <cx:pt idx="888">6008.6492609422357</cx:pt>
          <cx:pt idx="889">6916.308771813774</cx:pt>
          <cx:pt idx="890">7276.9398226726707</cx:pt>
          <cx:pt idx="891">7003.5477146192807</cx:pt>
          <cx:pt idx="892">7861.1261591168968</cx:pt>
          <cx:pt idx="893">6919.7989493522618</cx:pt>
          <cx:pt idx="894">5841.8446368897321</cx:pt>
          <cx:pt idx="895">6723.4210137943955</cx:pt>
          <cx:pt idx="896">7060.8562104332586</cx:pt>
          <cx:pt idx="897">6774.8045715416856</cx:pt>
          <cx:pt idx="898">7517.4550675554738</cx:pt>
          <cx:pt idx="899">7386.3076741348314</cx:pt>
          <cx:pt idx="900">5070.4293538752427</cx:pt>
          <cx:pt idx="901">6841.4142291635371</cx:pt>
          <cx:pt idx="902">6493.5269611158938</cx:pt>
          <cx:pt idx="903">7300.0270073773827</cx:pt>
          <cx:pt idx="904">6469.141787716535</cx:pt>
          <cx:pt idx="905">5763.9847539035409</cx:pt>
          <cx:pt idx="906">6725.8998095071784</cx:pt>
          <cx:pt idx="907">6213.6661441054421</cx:pt>
          <cx:pt idx="908">5539.1473345759941</cx:pt>
          <cx:pt idx="909">6986.0843248308165</cx:pt>
          <cx:pt idx="910">7554.2038049239991</cx:pt>
          <cx:pt idx="911">5691.2774145320809</cx:pt>
          <cx:pt idx="912">6571.8413614192114</cx:pt>
          <cx:pt idx="913">5531.1372495213545</cx:pt>
          <cx:pt idx="914">4853.8268847189847</cx:pt>
          <cx:pt idx="915">6237.9122987679229</cx:pt>
          <cx:pt idx="916">6998.9483518131938</cx:pt>
          <cx:pt idx="917">7157.9909450138839</cx:pt>
          <cx:pt idx="918">7571.960785009398</cx:pt>
          <cx:pt idx="919">4393.1146979818704</cx:pt>
          <cx:pt idx="920">5940.5071143301957</cx:pt>
          <cx:pt idx="921">6425.1783497940187</cx:pt>
          <cx:pt idx="922">5801.0176705750009</cx:pt>
          <cx:pt idx="923">6516.108687397289</cx:pt>
          <cx:pt idx="924">6418.8322264707112</cx:pt>
          <cx:pt idx="925">7984.5514377263535</cx:pt>
          <cx:pt idx="926">7564.1363588938248</cx:pt>
          <cx:pt idx="927">7945.8507078179937</cx:pt>
          <cx:pt idx="928">7750.8014226721816</cx:pt>
          <cx:pt idx="929">7630.0772619738509</cx:pt>
          <cx:pt idx="930">6395.1999140760354</cx:pt>
          <cx:pt idx="931">6274.4530861656167</cx:pt>
          <cx:pt idx="932">6556.8570722609211</cx:pt>
          <cx:pt idx="933">6825.3950361330353</cx:pt>
          <cx:pt idx="934">5759.7027160593016</cx:pt>
          <cx:pt idx="935">6351.1148353953822</cx:pt>
          <cx:pt idx="936">5518.7584858860264</cx:pt>
          <cx:pt idx="937">7232.9691791661971</cx:pt>
          <cx:pt idx="938">6315.5012227584157</cx:pt>
          <cx:pt idx="939">7163.3171483403776</cx:pt>
          <cx:pt idx="940">5007.4630789485691</cx:pt>
          <cx:pt idx="941">6249.1383886040421</cx:pt>
          <cx:pt idx="942">7379.1535553394178</cx:pt>
          <cx:pt idx="943">5569.3535561025228</cx:pt>
          <cx:pt idx="944">5825.9145005916434</cx:pt>
          <cx:pt idx="945">5596.4625892793329</cx:pt>
          <cx:pt idx="946">6771.5187877076023</cx:pt>
          <cx:pt idx="947">7263.5450607069761</cx:pt>
          <cx:pt idx="948">7132.4268434016185</cx:pt>
          <cx:pt idx="949">6366.3895014167429</cx:pt>
          <cx:pt idx="950">7111.7973472893427</cx:pt>
          <cx:pt idx="951">5948.7776344966696</cx:pt>
          <cx:pt idx="952">6563.5617718160802</cx:pt>
          <cx:pt idx="953">6897.4166613747748</cx:pt>
          <cx:pt idx="954">7444.2872834533209</cx:pt>
          <cx:pt idx="955">6529.1990767406287</cx:pt>
          <cx:pt idx="956">7880.1995452001802</cx:pt>
          <cx:pt idx="957">6721.6608113368666</cx:pt>
          <cx:pt idx="958">6825.4813962625167</cx:pt>
          <cx:pt idx="959">7622.7667875548859</cx:pt>
          <cx:pt idx="960">6993.7379991413682</cx:pt>
          <cx:pt idx="961">6379.9249587783243</cx:pt>
          <cx:pt idx="962">4549.9952258618387</cx:pt>
          <cx:pt idx="963">7786.1331205514689</cx:pt>
          <cx:pt idx="964">5785.795029716759</cx:pt>
          <cx:pt idx="965">7266.0343860821104</cx:pt>
          <cx:pt idx="966">7058.7206063377071</cx:pt>
          <cx:pt idx="967">8123.7362640810024</cx:pt>
          <cx:pt idx="968">6043.6666343470342</cx:pt>
          <cx:pt idx="969">6864.9145296903262</cx:pt>
          <cx:pt idx="970">8037.5430692431792</cx:pt>
          <cx:pt idx="971">4815.1727852476452</cx:pt>
          <cx:pt idx="972">5878.7419050118779</cx:pt>
          <cx:pt idx="973">6686.4802829919408</cx:pt>
          <cx:pt idx="974">7918.2300336955941</cx:pt>
          <cx:pt idx="975">7316.6128156544582</cx:pt>
          <cx:pt idx="976">7730.1503936865192</cx:pt>
          <cx:pt idx="977">7400.6828190527294</cx:pt>
          <cx:pt idx="978">6346.1108073767664</cx:pt>
          <cx:pt idx="979">7494.5672187574764</cx:pt>
          <cx:pt idx="980">6703.8075828093861</cx:pt>
          <cx:pt idx="981">5186.3189917892732</cx:pt>
          <cx:pt idx="982">7661.2752318911062</cx:pt>
          <cx:pt idx="983">5483.6759114399511</cx:pt>
          <cx:pt idx="984">6738.7898802687941</cx:pt>
          <cx:pt idx="985">7576.4869067719146</cx:pt>
          <cx:pt idx="986">7246.6042419607693</cx:pt>
          <cx:pt idx="987">6946.655270081731</cx:pt>
          <cx:pt idx="988">7886.0347825190665</cx:pt>
          <cx:pt idx="989">5699.098965926094</cx:pt>
          <cx:pt idx="990">7478.3182158256905</cx:pt>
          <cx:pt idx="991">7033.0515552104589</cx:pt>
          <cx:pt idx="992">7695.7337714599789</cx:pt>
          <cx:pt idx="993">6978.8497005257504</cx:pt>
          <cx:pt idx="994">7337.9402440645754</cx:pt>
          <cx:pt idx="995">5401.6473409021619</cx:pt>
          <cx:pt idx="996">7099.263590825447</cx:pt>
          <cx:pt idx="997">7592.6432326634822</cx:pt>
          <cx:pt idx="998">6500.759753194563</cx:pt>
          <cx:pt idx="999">7356.4968241210772</cx:pt>
          <cx:pt idx="1000">6352.3020127385507</cx:pt>
          <cx:pt idx="1001">6939.2044999028722</cx:pt>
          <cx:pt idx="1002">5983.1817285453899</cx:pt>
          <cx:pt idx="1003">6136.6151261058722</cx:pt>
          <cx:pt idx="1004">7153.3118023188126</cx:pt>
          <cx:pt idx="1005">6567.8235264732111</cx:pt>
          <cx:pt idx="1006">6680.872023200106</cx:pt>
          <cx:pt idx="1007">6459.9778093599516</cx:pt>
          <cx:pt idx="1008">6987.4347869526709</cx:pt>
          <cx:pt idx="1009">7460.0724543417646</cx:pt>
          <cx:pt idx="1010">6141.8310618803753</cx:pt>
          <cx:pt idx="1011">7056.3513375373141</cx:pt>
          <cx:pt idx="1012">7178.5098351943843</cx:pt>
          <cx:pt idx="1013">6898.3620671183089</cx:pt>
          <cx:pt idx="1014">7009.4031826685277</cx:pt>
          <cx:pt idx="1015">6537.9826395679356</cx:pt>
          <cx:pt idx="1016">6276.519534614059</cx:pt>
          <cx:pt idx="1017">7246.2032268155344</cx:pt>
          <cx:pt idx="1018">6365.4910789532923</cx:pt>
          <cx:pt idx="1019">6291.1928245817462</cx:pt>
          <cx:pt idx="1020">7741.3767525165376</cx:pt>
          <cx:pt idx="1021">7663.1411979197455</cx:pt>
          <cx:pt idx="1022">7811.6015654040348</cx:pt>
          <cx:pt idx="1023">8388.4024813333708</cx:pt>
          <cx:pt idx="1024">6123.312146239602</cx:pt>
          <cx:pt idx="1025">6458.5904970008723</cx:pt>
          <cx:pt idx="1026">6565.993749072758</cx:pt>
          <cx:pt idx="1027">7848.6518796400487</cx:pt>
          <cx:pt idx="1028">7417.1050204967905</cx:pt>
          <cx:pt idx="1029">8271.9346179935164</cx:pt>
          <cx:pt idx="1030">7918.1749812316402</cx:pt>
          <cx:pt idx="1031">7206.6948889965288</cx:pt>
          <cx:pt idx="1032">7408.658974155187</cx:pt>
          <cx:pt idx="1033">7906.9736617146691</cx:pt>
          <cx:pt idx="1034">8094.8563559420181</cx:pt>
          <cx:pt idx="1035">6621.1729416485014</cx:pt>
          <cx:pt idx="1036">5929.723163830713</cx:pt>
          <cx:pt idx="1037">6939.6874829090375</cx:pt>
          <cx:pt idx="1038">7324.86710485204</cx:pt>
          <cx:pt idx="1039">7435.8647613621179</cx:pt>
          <cx:pt idx="1040">7649.617775349896</cx:pt>
          <cx:pt idx="1041">7301.7185399464042</cx:pt>
          <cx:pt idx="1042">6817.897650116377</cx:pt>
          <cx:pt idx="1043">5475.8115364482655</cx:pt>
          <cx:pt idx="1044">6182.9065967878505</cx:pt>
          <cx:pt idx="1045">7595.6017224548223</cx:pt>
          <cx:pt idx="1046">6221.2751501671419</cx:pt>
          <cx:pt idx="1047">6213.2123823012871</cx:pt>
          <cx:pt idx="1048">7301.8954424801868</cx:pt>
          <cx:pt idx="1049">7026.1774619682546</cx:pt>
          <cx:pt idx="1050">7714.9784092632271</cx:pt>
          <cx:pt idx="1051">6865.4511042122531</cx:pt>
          <cx:pt idx="1052">7677.7385225960443</cx:pt>
          <cx:pt idx="1053">6540.3252017237701</cx:pt>
          <cx:pt idx="1054">9268.3686769544784</cx:pt>
          <cx:pt idx="1055">8428.4946113916812</cx:pt>
          <cx:pt idx="1056">6176.162061650617</cx:pt>
          <cx:pt idx="1057">7916.7299964896274</cx:pt>
          <cx:pt idx="1058">7868.521295329153</cx:pt>
          <cx:pt idx="1059">7088.0620154072622</cx:pt>
          <cx:pt idx="1060">6023.2018995070684</cx:pt>
          <cx:pt idx="1061">7054.4581175401236</cx:pt>
          <cx:pt idx="1062">7670.1920829868295</cx:pt>
          <cx:pt idx="1063">6267.7707424052505</cx:pt>
          <cx:pt idx="1064">7128.4850522615598</cx:pt>
          <cx:pt idx="1065">7924.8043763779742</cx:pt>
          <cx:pt idx="1066">7409.2493122694204</cx:pt>
          <cx:pt idx="1067">5773.4023474048527</cx:pt>
          <cx:pt idx="1068">7252.8882529393886</cx:pt>
          <cx:pt idx="1069">7315.1727603997115</cx:pt>
          <cx:pt idx="1070">7122.9556566095434</cx:pt>
          <cx:pt idx="1071">7362.5606797745559</cx:pt>
          <cx:pt idx="1072">6708.5558214660787</cx:pt>
          <cx:pt idx="1073">7585.7735900939479</cx:pt>
          <cx:pt idx="1074">7672.9442514407283</cx:pt>
          <cx:pt idx="1075">5860.1449356401699</cx:pt>
          <cx:pt idx="1076">7116.0864917882409</cx:pt>
          <cx:pt idx="1077">6207.4852068469654</cx:pt>
          <cx:pt idx="1078">7140.1834073970422</cx:pt>
          <cx:pt idx="1079">6087.9860960041242</cx:pt>
          <cx:pt idx="1080">5926.5182316877535</cx:pt>
          <cx:pt idx="1081">6540.3254543957746</cx:pt>
          <cx:pt idx="1082">6008.3716494399323</cx:pt>
          <cx:pt idx="1083">7067.7973727057506</cx:pt>
          <cx:pt idx="1084">5598.7931641784035</cx:pt>
          <cx:pt idx="1085">6957.8974051132636</cx:pt>
          <cx:pt idx="1086">7947.587919053004</cx:pt>
          <cx:pt idx="1087">5830.5133826437177</cx:pt>
          <cx:pt idx="1088">6522.8184637237</cx:pt>
          <cx:pt idx="1089">7198.1158319054121</cx:pt>
          <cx:pt idx="1090">6547.8844672804089</cx:pt>
          <cx:pt idx="1091">6292.2407638405712</cx:pt>
          <cx:pt idx="1092">6143.8129178928466</cx:pt>
          <cx:pt idx="1093">7014.3323307393066</cx:pt>
          <cx:pt idx="1094">5018.6301622115298</cx:pt>
          <cx:pt idx="1095">6154.9772221405956</cx:pt>
          <cx:pt idx="1096">7686.3053676044183</cx:pt>
          <cx:pt idx="1097">6057.2039970714759</cx:pt>
          <cx:pt idx="1098">7144.7094368578391</cx:pt>
          <cx:pt idx="1099">6978.5576329636006</cx:pt>
          <cx:pt idx="1100">7213.1806846197187</cx:pt>
          <cx:pt idx="1101">6422.3060822031175</cx:pt>
          <cx:pt idx="1102">7613.7474903459124</cx:pt>
          <cx:pt idx="1103">7723.3230123524527</cx:pt>
          <cx:pt idx="1104">6178.1652873959238</cx:pt>
          <cx:pt idx="1105">7225.6982838203403</cx:pt>
          <cx:pt idx="1106">7219.5731117017167</cx:pt>
          <cx:pt idx="1107">6865.4376399382381</cx:pt>
          <cx:pt idx="1108">5383.5298174572326</cx:pt>
          <cx:pt idx="1109">7641.024224989932</cx:pt>
          <cx:pt idx="1110">7058.831938800422</cx:pt>
          <cx:pt idx="1111">6441.3840158693074</cx:pt>
          <cx:pt idx="1112">6853.4847509221709</cx:pt>
          <cx:pt idx="1113">7392.6254232572128</cx:pt>
          <cx:pt idx="1114">6532.2250043256272</cx:pt>
          <cx:pt idx="1115">6453.3233002981106</cx:pt>
          <cx:pt idx="1116">5809.7685741846435</cx:pt>
          <cx:pt idx="1117">7384.0828150664438</cx:pt>
          <cx:pt idx="1118">6999.4006910207727</cx:pt>
          <cx:pt idx="1119">5731.0891835382999</cx:pt>
          <cx:pt idx="1120">6694.2587450670781</cx:pt>
          <cx:pt idx="1121">6386.6138870592304</cx:pt>
          <cx:pt idx="1122">7600.3080139258282</cx:pt>
          <cx:pt idx="1123">6369.1555196428526</cx:pt>
          <cx:pt idx="1124">7181.2811655499963</cx:pt>
          <cx:pt idx="1125">7939.0430066497338</cx:pt>
          <cx:pt idx="1126">6572.2334503344964</cx:pt>
          <cx:pt idx="1127">6507.2630643542843</cx:pt>
          <cx:pt idx="1128">7052.2585463974028</cx:pt>
          <cx:pt idx="1129">7164.8534124105581</cx:pt>
          <cx:pt idx="1130">7749.2206291567973</cx:pt>
          <cx:pt idx="1131">7270.3065099072001</cx:pt>
          <cx:pt idx="1132">7081.0472969211678</cx:pt>
          <cx:pt idx="1133">5203.107270613551</cx:pt>
          <cx:pt idx="1134">6304.844569943918</cx:pt>
          <cx:pt idx="1135">7899.5579181579915</cx:pt>
          <cx:pt idx="1136">7126.1405989870673</cx:pt>
          <cx:pt idx="1137">6809.2851746114748</cx:pt>
          <cx:pt idx="1138">7575.8671456618731</cx:pt>
          <cx:pt idx="1139">7219.7166929555879</cx:pt>
          <cx:pt idx="1140">7901.7783521706351</cx:pt>
          <cx:pt idx="1141">8316.8814435240674</cx:pt>
          <cx:pt idx="1142">7308.8113419058909</cx:pt>
          <cx:pt idx="1143">7425.8516042062811</cx:pt>
          <cx:pt idx="1144">7328.5303346955097</cx:pt>
          <cx:pt idx="1145">7545.5941127923079</cx:pt>
          <cx:pt idx="1146">4917.590195602841</cx:pt>
          <cx:pt idx="1147">6700.6886617715581</cx:pt>
          <cx:pt idx="1148">7540.199674178788</cx:pt>
          <cx:pt idx="1149">5187.585415538515</cx:pt>
          <cx:pt idx="1150">5294.1140832096908</cx:pt>
          <cx:pt idx="1151">6698.4598490974349</cx:pt>
          <cx:pt idx="1152">6435.7589067949566</cx:pt>
          <cx:pt idx="1153">5450.7865614939856</cx:pt>
          <cx:pt idx="1154">7974.124024546596</cx:pt>
          <cx:pt idx="1155">7593.3472349173871</cx:pt>
          <cx:pt idx="1156">7865.4699584096697</cx:pt>
          <cx:pt idx="1157">5917.6674609729207</cx:pt>
          <cx:pt idx="1158">4755.5127841542844</cx:pt>
          <cx:pt idx="1159">7621.8525705491011</cx:pt>
          <cx:pt idx="1160">6067.984005329381</cx:pt>
          <cx:pt idx="1161">6831.9507509641753</cx:pt>
          <cx:pt idx="1162">6427.1598299023644</cx:pt>
          <cx:pt idx="1163">6372.4462063469082</cx:pt>
          <cx:pt idx="1164">6613.1653797674189</cx:pt>
          <cx:pt idx="1165">8553.1023389296315</cx:pt>
          <cx:pt idx="1166">7756.9407803165905</cx:pt>
          <cx:pt idx="1167">7444.619440419533</cx:pt>
          <cx:pt idx="1168">5871.7106631832912</cx:pt>
          <cx:pt idx="1169">7025.732747927128</cx:pt>
          <cx:pt idx="1170">7604.3718020797351</cx:pt>
          <cx:pt idx="1171">6895.1217876058445</cx:pt>
          <cx:pt idx="1172">6895.2799802250793</cx:pt>
          <cx:pt idx="1173">6564.6696601655585</cx:pt>
          <cx:pt idx="1174">6961.8384507279434</cx:pt>
          <cx:pt idx="1175">7990.447514020414</cx:pt>
          <cx:pt idx="1176">7101.4959390939766</cx:pt>
          <cx:pt idx="1177">5709.9207696110825</cx:pt>
          <cx:pt idx="1178">6945.917997997225</cx:pt>
          <cx:pt idx="1179">7077.8399029720958</cx:pt>
          <cx:pt idx="1180">6252.4651905530854</cx:pt>
          <cx:pt idx="1181">6239.8157638158045</cx:pt>
          <cx:pt idx="1182">8151.6125302288965</cx:pt>
          <cx:pt idx="1183">7520.4299216844802</cx:pt>
          <cx:pt idx="1184">6566.9576161974564</cx:pt>
          <cx:pt idx="1185">8306.0938116205652</cx:pt>
          <cx:pt idx="1186">7104.9263716212381</cx:pt>
          <cx:pt idx="1187">6466.4002756483324</cx:pt>
          <cx:pt idx="1188">6685.2658973315911</cx:pt>
          <cx:pt idx="1189">7240.0419414006665</cx:pt>
          <cx:pt idx="1190">5930.833144385374</cx:pt>
          <cx:pt idx="1191">7327.8562524819499</cx:pt>
          <cx:pt idx="1192">6937.2332246022097</cx:pt>
          <cx:pt idx="1193">7220.0642261243565</cx:pt>
          <cx:pt idx="1194">6702.5114952057438</cx:pt>
          <cx:pt idx="1195">6223.9738874242839</cx:pt>
          <cx:pt idx="1196">6306.9848505912405</cx:pt>
          <cx:pt idx="1197">8005.1234812304001</cx:pt>
          <cx:pt idx="1198">7151.9447964567134</cx:pt>
          <cx:pt idx="1199">7085.9852771821734</cx:pt>
          <cx:pt idx="1200">6814.595839317526</cx:pt>
          <cx:pt idx="1201">7675.9687606372909</cx:pt>
          <cx:pt idx="1202">6917.9213266266588</cx:pt>
          <cx:pt idx="1203">6956.0485946012504</cx:pt>
          <cx:pt idx="1204">6889.380161245942</cx:pt>
          <cx:pt idx="1205">5450.7801854329027</cx:pt>
          <cx:pt idx="1206">7214.8501748037625</cx:pt>
          <cx:pt idx="1207">7815.7416950078905</cx:pt>
          <cx:pt idx="1208">7403.9611705536499</cx:pt>
          <cx:pt idx="1209">8165.2985934149856</cx:pt>
          <cx:pt idx="1210">6500.012542224943</cx:pt>
          <cx:pt idx="1211">5067.368019579435</cx:pt>
          <cx:pt idx="1212">7645.5847451334294</cx:pt>
          <cx:pt idx="1213">7118.0590842823567</cx:pt>
          <cx:pt idx="1214">7030.9741320521889</cx:pt>
          <cx:pt idx="1215">5561.2103652337037</cx:pt>
          <cx:pt idx="1216">7452.7929592531464</cx:pt>
          <cx:pt idx="1217">6749.0624969594055</cx:pt>
          <cx:pt idx="1218">6739.1683393767726</cx:pt>
          <cx:pt idx="1219">6084.2170424498054</cx:pt>
          <cx:pt idx="1220">5581.195585371539</cx:pt>
          <cx:pt idx="1221">4859.3084616925589</cx:pt>
          <cx:pt idx="1222">6314.2637027764076</cx:pt>
          <cx:pt idx="1223">6794.0484626903581</cx:pt>
          <cx:pt idx="1224">6837.4173832569331</cx:pt>
          <cx:pt idx="1225">7423.6000484139558</cx:pt>
          <cx:pt idx="1226">7397.8318677380594</cx:pt>
          <cx:pt idx="1227">5935.3034236211133</cx:pt>
          <cx:pt idx="1228">7573.4400993958961</cx:pt>
          <cx:pt idx="1229">7604.7955568923144</cx:pt>
          <cx:pt idx="1230">6736.3330618063064</cx:pt>
          <cx:pt idx="1231">6740.0641487123721</cx:pt>
          <cx:pt idx="1232">6961.0581333792479</cx:pt>
          <cx:pt idx="1233">5531.0350916743155</cx:pt>
          <cx:pt idx="1234">8826.2644602158944</cx:pt>
          <cx:pt idx="1235">7490.7581229103198</cx:pt>
          <cx:pt idx="1236">5265.435193608816</cx:pt>
          <cx:pt idx="1237">7175.1697424199301</cx:pt>
          <cx:pt idx="1238">8107.1792083612336</cx:pt>
          <cx:pt idx="1239">7272.6562624517028</cx:pt>
          <cx:pt idx="1240">6849.2783580134783</cx:pt>
          <cx:pt idx="1241">7073.5620672995492</cx:pt>
          <cx:pt idx="1242">6915.1651205739108</cx:pt>
          <cx:pt idx="1243">6003.137865380485</cx:pt>
          <cx:pt idx="1244">6997.0294269422529</cx:pt>
          <cx:pt idx="1245">8141.7075453670086</cx:pt>
          <cx:pt idx="1246">6757.3440417014117</cx:pt>
          <cx:pt idx="1247">6440.2045042941036</cx:pt>
          <cx:pt idx="1248">5381.3603315101673</cx:pt>
          <cx:pt idx="1249">6902.3287491176015</cx:pt>
          <cx:pt idx="1250">6852.8371554373061</cx:pt>
          <cx:pt idx="1251">7008.8506006176121</cx:pt>
          <cx:pt idx="1252">5679.9907419299016</cx:pt>
          <cx:pt idx="1253">6630.0473641718208</cx:pt>
          <cx:pt idx="1254">7607.5762007558587</cx:pt>
          <cx:pt idx="1255">7662.4190255434387</cx:pt>
          <cx:pt idx="1256">7431.208464062297</cx:pt>
          <cx:pt idx="1257">5146.7183441498337</cx:pt>
          <cx:pt idx="1258">5321.6588493203681</cx:pt>
          <cx:pt idx="1259">4820.704226627674</cx:pt>
          <cx:pt idx="1260">7207.8823944357109</cx:pt>
          <cx:pt idx="1261">8770.3784254438251</cx:pt>
          <cx:pt idx="1262">5452.9253974368876</cx:pt>
          <cx:pt idx="1263">8293.6784314101424</cx:pt>
          <cx:pt idx="1264">6725.1749427557043</cx:pt>
          <cx:pt idx="1265">6804.3727165742484</cx:pt>
          <cx:pt idx="1266">7472.8719889356489</cx:pt>
          <cx:pt idx="1267">6381.6817202016309</cx:pt>
          <cx:pt idx="1268">6520.642736159949</cx:pt>
          <cx:pt idx="1269">7141.3420798946718</cx:pt>
          <cx:pt idx="1270">4903.2153995614945</cx:pt>
          <cx:pt idx="1271">7163.3626388677403</cx:pt>
          <cx:pt idx="1272">7367.5416693512834</cx:pt>
          <cx:pt idx="1273">7173.7164949786102</cx:pt>
          <cx:pt idx="1274">7727.9315769113</cx:pt>
          <cx:pt idx="1275">7041.7705035514928</cx:pt>
          <cx:pt idx="1276">7311.9095777170123</cx:pt>
          <cx:pt idx="1277">7266.2603045172873</cx:pt>
          <cx:pt idx="1278">6822.816933226859</cx:pt>
          <cx:pt idx="1279">7111.3811610664379</cx:pt>
          <cx:pt idx="1280">6969.4262749163954</cx:pt>
          <cx:pt idx="1281">6945.2977614887441</cx:pt>
          <cx:pt idx="1282">8106.8146071322644</cx:pt>
          <cx:pt idx="1283">6522.1254625235051</cx:pt>
          <cx:pt idx="1284">8535.7301873425768</cx:pt>
          <cx:pt idx="1285">8044.09844873988</cx:pt>
          <cx:pt idx="1286">5198.2905654526112</cx:pt>
          <cx:pt idx="1287">5695.018244163366</cx:pt>
          <cx:pt idx="1288">6848.7689533282801</cx:pt>
          <cx:pt idx="1289">5624.9154853814416</cx:pt>
          <cx:pt idx="1290">5859.0519238050738</cx:pt>
          <cx:pt idx="1291">7658.1167499207959</cx:pt>
          <cx:pt idx="1292">5772.3834687952494</cx:pt>
          <cx:pt idx="1293">6590.4164621032533</cx:pt>
          <cx:pt idx="1294">7541.5198714761536</cx:pt>
          <cx:pt idx="1295">8394.8232656262826</cx:pt>
          <cx:pt idx="1296">8084.7939916639916</cx:pt>
          <cx:pt idx="1297">6891.7744313235344</cx:pt>
          <cx:pt idx="1298">6669.8212258896046</cx:pt>
          <cx:pt idx="1299">7140.5529474348705</cx:pt>
          <cx:pt idx="1300">6456.1419563376021</cx:pt>
          <cx:pt idx="1301">7223.6818933032773</cx:pt>
          <cx:pt idx="1302">6908.1712499936766</cx:pt>
          <cx:pt idx="1303">6322.9977609634225</cx:pt>
          <cx:pt idx="1304">6365.2682163446152</cx:pt>
          <cx:pt idx="1305">6702.3791577007751</cx:pt>
          <cx:pt idx="1306">7663.9857117700567</cx:pt>
          <cx:pt idx="1307">6433.0373082210926</cx:pt>
          <cx:pt idx="1308">7206.7232206772851</cx:pt>
          <cx:pt idx="1309">6189.1697073242094</cx:pt>
          <cx:pt idx="1310">6469.7603563008106</cx:pt>
          <cx:pt idx="1311">6823.4968442890386</cx:pt>
          <cx:pt idx="1312">7901.7826269466414</cx:pt>
          <cx:pt idx="1313">7414.333968439114</cx:pt>
          <cx:pt idx="1314">7107.5081898018516</cx:pt>
          <cx:pt idx="1315">7882.4833823614645</cx:pt>
          <cx:pt idx="1316">6329.3875322408558</cx:pt>
          <cx:pt idx="1317">6468.7145040595633</cx:pt>
          <cx:pt idx="1318">6919.205746925214</cx:pt>
          <cx:pt idx="1319">7625.9696003753197</cx:pt>
          <cx:pt idx="1320">6206.6438503729214</cx:pt>
          <cx:pt idx="1321">6630.1042677491769</cx:pt>
          <cx:pt idx="1322">7052.0584885195112</cx:pt>
          <cx:pt idx="1323">7066.2758590202402</cx:pt>
          <cx:pt idx="1324">7886.9020993347076</cx:pt>
          <cx:pt idx="1325">6375.8537197698624</cx:pt>
          <cx:pt idx="1326">4944.2384917022991</cx:pt>
          <cx:pt idx="1327">6548.1649539617983</cx:pt>
          <cx:pt idx="1328">6955.8675209382636</cx:pt>
          <cx:pt idx="1329">6740.3449561926909</cx:pt>
          <cx:pt idx="1330">8545.2775776537292</cx:pt>
          <cx:pt idx="1331">6602.5834338466684</cx:pt>
          <cx:pt idx="1332">6575.6814009327036</cx:pt>
          <cx:pt idx="1333">5471.0402444301953</cx:pt>
          <cx:pt idx="1334">6674.5943756270217</cx:pt>
          <cx:pt idx="1335">5465.0058835714408</cx:pt>
          <cx:pt idx="1336">7961.0752195727255</cx:pt>
          <cx:pt idx="1337">5247.2715066113751</cx:pt>
          <cx:pt idx="1338">6603.2809285155072</cx:pt>
          <cx:pt idx="1339">7288.2722901315256</cx:pt>
          <cx:pt idx="1340">7928.7868048295131</cx:pt>
          <cx:pt idx="1341">5461.7445037640773</cx:pt>
          <cx:pt idx="1342">7539.4526823056331</cx:pt>
          <cx:pt idx="1343">6935.9540822845183</cx:pt>
          <cx:pt idx="1344">4548.5219533923009</cx:pt>
          <cx:pt idx="1345">6396.4772121197866</cx:pt>
          <cx:pt idx="1346">6661.3104177808327</cx:pt>
          <cx:pt idx="1347">8362.4475968803745</cx:pt>
          <cx:pt idx="1348">6646.4492744735553</cx:pt>
          <cx:pt idx="1349">6862.5544197485706</cx:pt>
          <cx:pt idx="1350">8034.8152552361271</cx:pt>
          <cx:pt idx="1351">5597.3549749693811</cx:pt>
          <cx:pt idx="1352">7295.0977432964046</cx:pt>
          <cx:pt idx="1353">7184.1773708915025</cx:pt>
          <cx:pt idx="1354">6602.3483950465579</cx:pt>
          <cx:pt idx="1355">6918.1244380959206</cx:pt>
          <cx:pt idx="1356">5168.9173972906783</cx:pt>
          <cx:pt idx="1357">7647.5052540762699</cx:pt>
          <cx:pt idx="1358">7870.2781087776157</cx:pt>
          <cx:pt idx="1359">5994.4828810901754</cx:pt>
          <cx:pt idx="1360">8042.6869410086219</cx:pt>
          <cx:pt idx="1361">7788.5664929901632</cx:pt>
          <cx:pt idx="1362">6455.0899000521949</cx:pt>
          <cx:pt idx="1363">5779.6984026765749</cx:pt>
          <cx:pt idx="1364">7175.4422682983795</cx:pt>
          <cx:pt idx="1365">7556.8335030609478</cx:pt>
          <cx:pt idx="1366">7694.3951311867077</cx:pt>
          <cx:pt idx="1367">7483.8266358619021</cx:pt>
          <cx:pt idx="1368">6156.3169639616317</cx:pt>
          <cx:pt idx="1369">7541.1302189461421</cx:pt>
          <cx:pt idx="1370">6371.2497534720615</cx:pt>
          <cx:pt idx="1371">6552.7023102735566</cx:pt>
          <cx:pt idx="1372">6194.8341479783676</cx:pt>
          <cx:pt idx="1373">5834.3056541038422</cx:pt>
          <cx:pt idx="1374">7191.1021966439203</cx:pt>
          <cx:pt idx="1375">7403.1877192857237</cx:pt>
          <cx:pt idx="1376">7201.5332658515654</cx:pt>
          <cx:pt idx="1377">7163.1742398863553</cx:pt>
          <cx:pt idx="1378">7912.6130737761769</cx:pt>
          <cx:pt idx="1379">6579.8185939802006</cx:pt>
          <cx:pt idx="1380">7037.0475043618035</cx:pt>
          <cx:pt idx="1381">8216.6199328156472</cx:pt>
          <cx:pt idx="1382">6317.4142652210048</cx:pt>
          <cx:pt idx="1383">7226.7172194431469</cx:pt>
          <cx:pt idx="1384">6503.7838242436846</cx:pt>
          <cx:pt idx="1385">7250.9187598321141</cx:pt>
          <cx:pt idx="1386">6522.6128360293278</cx:pt>
          <cx:pt idx="1387">6710.8878053190201</cx:pt>
          <cx:pt idx="1388">6508.4120237589377</cx:pt>
          <cx:pt idx="1389">7855.3107332378449</cx:pt>
          <cx:pt idx="1390">6942.3467297958869</cx:pt>
          <cx:pt idx="1391">6313.1695828332668</cx:pt>
          <cx:pt idx="1392">6294.0475046179426</cx:pt>
          <cx:pt idx="1393">8568.558301918798</cx:pt>
          <cx:pt idx="1394">5847.8732110824194</cx:pt>
          <cx:pt idx="1395">7312.4338332097705</cx:pt>
          <cx:pt idx="1396">7955.6086000509295</cx:pt>
          <cx:pt idx="1397">7507.0858445459817</cx:pt>
          <cx:pt idx="1398">6935.5712626938512</cx:pt>
          <cx:pt idx="1399">5942.5224365754448</cx:pt>
          <cx:pt idx="1400">4825.1033449883853</cx:pt>
          <cx:pt idx="1401">7763.3130683268118</cx:pt>
          <cx:pt idx="1402">5757.7939278909062</cx:pt>
          <cx:pt idx="1403">6870.2958028468556</cx:pt>
          <cx:pt idx="1404">7141.0687265567831</cx:pt>
          <cx:pt idx="1405">6300.8142623721178</cx:pt>
          <cx:pt idx="1406">6214.036581154186</cx:pt>
          <cx:pt idx="1407">6049.4578062342671</cx:pt>
          <cx:pt idx="1408">7736.5854653745255</cx:pt>
          <cx:pt idx="1409">7282.7150099588016</cx:pt>
          <cx:pt idx="1410">7839.2589681119152</cx:pt>
          <cx:pt idx="1411">6288.4288214768712</cx:pt>
          <cx:pt idx="1412">6806.69421697291</cx:pt>
          <cx:pt idx="1413">6385.9570137112096</cx:pt>
          <cx:pt idx="1414">5950.0279884457386</cx:pt>
          <cx:pt idx="1415">7582.3769943415373</cx:pt>
          <cx:pt idx="1416">6949.2140808596769</cx:pt>
          <cx:pt idx="1417">6895.9982557120729</cx:pt>
          <cx:pt idx="1418">7791.5646213405016</cx:pt>
          <cx:pt idx="1419">5925.1610128414632</cx:pt>
          <cx:pt idx="1420">6985.1009208067499</cx:pt>
          <cx:pt idx="1421">4991.2675955614513</cx:pt>
          <cx:pt idx="1422">7076.2388411652773</cx:pt>
          <cx:pt idx="1423">6762.3829934974583</cx:pt>
          <cx:pt idx="1424">6737.8591268131004</cx:pt>
          <cx:pt idx="1425">5168.9183099089314</cx:pt>
          <cx:pt idx="1426">7217.6263901176335</cx:pt>
          <cx:pt idx="1427">7204.6333228173489</cx:pt>
          <cx:pt idx="1428">7387.1121036328468</cx:pt>
          <cx:pt idx="1429">6680.716879543902</cx:pt>
          <cx:pt idx="1430">6886.9878499673578</cx:pt>
          <cx:pt idx="1431">7094.1145988999187</cx:pt>
          <cx:pt idx="1432">6131.3653990745088</cx:pt>
          <cx:pt idx="1433">6654.7427778797328</cx:pt>
          <cx:pt idx="1434">6268.8817844471669</cx:pt>
          <cx:pt idx="1435">7429.6343331722437</cx:pt>
          <cx:pt idx="1436">7035.7343173094741</cx:pt>
          <cx:pt idx="1437">6185.8217304774953</cx:pt>
          <cx:pt idx="1438">5829.8360660158905</cx:pt>
          <cx:pt idx="1439">6209.2097673891531</cx:pt>
          <cx:pt idx="1440">6867.3486671002183</cx:pt>
          <cx:pt idx="1441">7931.4107384141671</cx:pt>
          <cx:pt idx="1442">5954.0886436033779</cx:pt>
          <cx:pt idx="1443">5991.7559075877871</cx:pt>
          <cx:pt idx="1444">6898.5556843120221</cx:pt>
          <cx:pt idx="1445">6782.6251990973769</cx:pt>
          <cx:pt idx="1446">7317.8247635354865</cx:pt>
          <cx:pt idx="1447">7605.8413834042185</cx:pt>
          <cx:pt idx="1448">4870.2508549850099</cx:pt>
          <cx:pt idx="1449">6614.9190220034379</cx:pt>
          <cx:pt idx="1450">6913.6891589392972</cx:pt>
          <cx:pt idx="1451">6897.8830504206644</cx:pt>
          <cx:pt idx="1452">6934.603434964667</cx:pt>
          <cx:pt idx="1453">7219.7186641780672</cx:pt>
          <cx:pt idx="1454">6386.745737454733</cx:pt>
          <cx:pt idx="1455">6573.4747165223425</cx:pt>
          <cx:pt idx="1456">6737.3321010677046</cx:pt>
          <cx:pt idx="1457">7097.8187929793494</cx:pt>
          <cx:pt idx="1458">5090.6230912731844</cx:pt>
          <cx:pt idx="1459">6928.3405936788004</cx:pt>
          <cx:pt idx="1460">6591.7772262963563</cx:pt>
          <cx:pt idx="1461">6297.6715171597061</cx:pt>
          <cx:pt idx="1462">6558.9865358982725</cx:pt>
          <cx:pt idx="1463">7374.4810966930527</cx:pt>
          <cx:pt idx="1464">7623.8171905113186</cx:pt>
          <cx:pt idx="1465">7279.2987398028281</cx:pt>
          <cx:pt idx="1466">6180.9204387225691</cx:pt>
          <cx:pt idx="1467">7702.111609657497</cx:pt>
          <cx:pt idx="1468">7592.5584646880379</cx:pt>
          <cx:pt idx="1469">6064.4201197807388</cx:pt>
          <cx:pt idx="1470">6691.2402176725236</cx:pt>
          <cx:pt idx="1471">6744.3997707384897</cx:pt>
          <cx:pt idx="1472">7493.0383930099742</cx:pt>
          <cx:pt idx="1473">7057.1237827067162</cx:pt>
          <cx:pt idx="1474">7850.3637230847698</cx:pt>
          <cx:pt idx="1475">6009.2758507354893</cx:pt>
          <cx:pt idx="1476">7235.7058987709152</cx:pt>
          <cx:pt idx="1477">6982.2498516290698</cx:pt>
          <cx:pt idx="1478">8725.2307305244412</cx:pt>
          <cx:pt idx="1479">6694.392025871387</cx:pt>
          <cx:pt idx="1480">7407.4527042888285</cx:pt>
          <cx:pt idx="1481">5401.5828705323984</cx:pt>
          <cx:pt idx="1482">7411.1500101034235</cx:pt>
          <cx:pt idx="1483">6605.3988841921082</cx:pt>
          <cx:pt idx="1484">7183.6007137112001</cx:pt>
          <cx:pt idx="1485">7097.3258746819229</cx:pt>
          <cx:pt idx="1486">7288.4104208405452</cx:pt>
          <cx:pt idx="1487">7282.2096501903625</cx:pt>
          <cx:pt idx="1488">6812.0455485931398</cx:pt>
          <cx:pt idx="1489">6696.1943713464079</cx:pt>
          <cx:pt idx="1490">7562.0471255532666</cx:pt>
          <cx:pt idx="1491">8176.1757504488041</cx:pt>
          <cx:pt idx="1492">8493.2676423264566</cx:pt>
          <cx:pt idx="1493">6222.9188544376202</cx:pt>
          <cx:pt idx="1494">7338.8241502203882</cx:pt>
          <cx:pt idx="1495">7133.7822704271975</cx:pt>
          <cx:pt idx="1496">8078.9790509259847</cx:pt>
          <cx:pt idx="1497">8189.3687068462123</cx:pt>
          <cx:pt idx="1498">6253.4714647677447</cx:pt>
          <cx:pt idx="1499">6349.9654864010372</cx:pt>
          <cx:pt idx="1500">6999.6911693970524</cx:pt>
          <cx:pt idx="1501">6064.0246310096582</cx:pt>
          <cx:pt idx="1502">6103.5850065748327</cx:pt>
          <cx:pt idx="1503">7751.6655649305831</cx:pt>
          <cx:pt idx="1504">6341.1769108579319</cx:pt>
          <cx:pt idx="1505">5451.4049511136764</cx:pt>
          <cx:pt idx="1506">7433.0749887274133</cx:pt>
          <cx:pt idx="1507">6600.5723839596021</cx:pt>
          <cx:pt idx="1508">5901.8098135127748</cx:pt>
          <cx:pt idx="1509">6290.7122317066442</cx:pt>
          <cx:pt idx="1510">5817.1296983855045</cx:pt>
          <cx:pt idx="1511">7059.4652186819467</cx:pt>
          <cx:pt idx="1512">6585.3259701988272</cx:pt>
          <cx:pt idx="1513">7931.6680269251356</cx:pt>
          <cx:pt idx="1514">6816.4164863910237</cx:pt>
          <cx:pt idx="1515">6984.7461720546689</cx:pt>
          <cx:pt idx="1516">6268.8638381883866</cx:pt>
          <cx:pt idx="1517">7557.8275679360131</cx:pt>
          <cx:pt idx="1518">7249.7708164414989</cx:pt>
          <cx:pt idx="1519">7658.5341337260561</cx:pt>
          <cx:pt idx="1520">7722.0627024517744</cx:pt>
          <cx:pt idx="1521">6320.3052223951991</cx:pt>
          <cx:pt idx="1522">6964.5860189676778</cx:pt>
          <cx:pt idx="1523">7025.683952336105</cx:pt>
          <cx:pt idx="1524">7140.7947117257327</cx:pt>
          <cx:pt idx="1525">7143.1156486658601</cx:pt>
          <cx:pt idx="1526">6242.082293031991</cx:pt>
          <cx:pt idx="1527">6103.5242428242846</cx:pt>
          <cx:pt idx="1528">7923.4867273497948</cx:pt>
          <cx:pt idx="1529">8373.5686663473043</cx:pt>
          <cx:pt idx="1530">7583.7752953696663</cx:pt>
          <cx:pt idx="1531">7224.2680134510128</cx:pt>
          <cx:pt idx="1532">6410.2287971999249</cx:pt>
          <cx:pt idx="1533">6530.0287034982339</cx:pt>
          <cx:pt idx="1534">7048.6187783197292</cx:pt>
          <cx:pt idx="1535">5874.7060404643016</cx:pt>
          <cx:pt idx="1536">8034.5269493360329</cx:pt>
          <cx:pt idx="1537">5334.1165053706764</cx:pt>
          <cx:pt idx="1538">6522.9559311953735</cx:pt>
          <cx:pt idx="1539">5245.6771402730719</cx:pt>
          <cx:pt idx="1540">6383.3691701060316</cx:pt>
          <cx:pt idx="1541">5205.1990714267495</cx:pt>
          <cx:pt idx="1542">6655.8159646438089</cx:pt>
          <cx:pt idx="1543">6493.0147875768644</cx:pt>
          <cx:pt idx="1544">7664.4658263674437</cx:pt>
          <cx:pt idx="1545">7400.5449866151157</cx:pt>
          <cx:pt idx="1546">7181.0642357008919</cx:pt>
          <cx:pt idx="1547">7970.720026672192</cx:pt>
          <cx:pt idx="1548">6788.1179828422919</cx:pt>
          <cx:pt idx="1549">7997.9215509283822</cx:pt>
          <cx:pt idx="1550">5568.6806336410791</cx:pt>
          <cx:pt idx="1551">6349.3258685450128</cx:pt>
          <cx:pt idx="1552">7352.4811737452928</cx:pt>
          <cx:pt idx="1553">8310.5930832642625</cx:pt>
          <cx:pt idx="1554">6353.4197244865782</cx:pt>
          <cx:pt idx="1555">8212.4454791189492</cx:pt>
          <cx:pt idx="1556">6412.5337470454342</cx:pt>
          <cx:pt idx="1557">6512.7421284761995</cx:pt>
          <cx:pt idx="1558">7061.6674320257589</cx:pt>
          <cx:pt idx="1559">7174.0156255131033</cx:pt>
          <cx:pt idx="1560">6525.1303240012967</cx:pt>
          <cx:pt idx="1561">6739.877024929584</cx:pt>
          <cx:pt idx="1562">6030.1737350206076</cx:pt>
          <cx:pt idx="1563">6968.5694605366934</cx:pt>
          <cx:pt idx="1564">7593.7048689726744</cx:pt>
          <cx:pt idx="1565">6347.1227714746601</cx:pt>
          <cx:pt idx="1566">7863.6032107436949</cx:pt>
          <cx:pt idx="1567">6617.7468007390971</cx:pt>
          <cx:pt idx="1568">7157.3402870427863</cx:pt>
          <cx:pt idx="1569">6743.1534739351109</cx:pt>
          <cx:pt idx="1570">7210.3337781669234</cx:pt>
          <cx:pt idx="1571">5558.1030291775205</cx:pt>
          <cx:pt idx="1572">6381.0218632614024</cx:pt>
          <cx:pt idx="1573">6597.8434172152884</cx:pt>
          <cx:pt idx="1574">7170.93830266446</cx:pt>
          <cx:pt idx="1575">8331.8126054593849</cx:pt>
          <cx:pt idx="1576">6630.836330570075</cx:pt>
          <cx:pt idx="1577">7706.9615969644692</cx:pt>
          <cx:pt idx="1578">7493.7963429751535</cx:pt>
          <cx:pt idx="1579">7211.2887555868992</cx:pt>
          <cx:pt idx="1580">7230.9411020067855</cx:pt>
          <cx:pt idx="1581">5908.6995838546127</cx:pt>
          <cx:pt idx="1582">6745.7999074740783</cx:pt>
          <cx:pt idx="1583">5682.9265458199225</cx:pt>
          <cx:pt idx="1584">6639.820663968786</cx:pt>
          <cx:pt idx="1585">6279.8388133148837</cx:pt>
          <cx:pt idx="1586">6578.0988369675788</cx:pt>
          <cx:pt idx="1587">7652.3135876860943</cx:pt>
          <cx:pt idx="1588">7507.4478871789797</cx:pt>
          <cx:pt idx="1589">7474.6448685690175</cx:pt>
          <cx:pt idx="1590">5268.6705107296084</cx:pt>
          <cx:pt idx="1591">6593.8184247192057</cx:pt>
          <cx:pt idx="1592">7125.2275292253162</cx:pt>
          <cx:pt idx="1593">6969.8980687850608</cx:pt>
          <cx:pt idx="1594">7218.8944052599427</cx:pt>
          <cx:pt idx="1595">5215.3233616282505</cx:pt>
          <cx:pt idx="1596">7392.1657846482549</cx:pt>
          <cx:pt idx="1597">5575.392671679353</cx:pt>
          <cx:pt idx="1598">4865.1058526691077</cx:pt>
          <cx:pt idx="1599">6745.7856468131358</cx:pt>
          <cx:pt idx="1600">7559.8717462026325</cx:pt>
          <cx:pt idx="1601">7691.3483067884963</cx:pt>
          <cx:pt idx="1602">5711.0321514028929</cx:pt>
          <cx:pt idx="1603">6962.1091732714494</cx:pt>
          <cx:pt idx="1604">7534.1454976775512</cx:pt>
          <cx:pt idx="1605">6028.099483867878</cx:pt>
          <cx:pt idx="1606">7593.0095990040209</cx:pt>
          <cx:pt idx="1607">6149.6100175512993</cx:pt>
          <cx:pt idx="1608">6075.1590891722872</cx:pt>
          <cx:pt idx="1609">5678.0524232243506</cx:pt>
          <cx:pt idx="1610">6860.2137819621512</cx:pt>
          <cx:pt idx="1611">6892.0691994862536</cx:pt>
          <cx:pt idx="1612">7184.1509751994345</cx:pt>
          <cx:pt idx="1613">4807.0190664174825</cx:pt>
          <cx:pt idx="1614">7617.6540913861463</cx:pt>
          <cx:pt idx="1615">6813.6565091507637</cx:pt>
          <cx:pt idx="1616">7496.1727623963907</cx:pt>
          <cx:pt idx="1617">7567.3776625672863</cx:pt>
          <cx:pt idx="1618">6057.2939458350784</cx:pt>
          <cx:pt idx="1619">5307.4697564355156</cx:pt>
          <cx:pt idx="1620">7405.7033710595069</cx:pt>
          <cx:pt idx="1621">7417.8839937084103</cx:pt>
          <cx:pt idx="1622">7161.2713132427243</cx:pt>
          <cx:pt idx="1623">6326.4381507381977</cx:pt>
          <cx:pt idx="1624">5590.4561488476293</cx:pt>
          <cx:pt idx="1625">7365.9943004968154</cx:pt>
          <cx:pt idx="1626">7736.79517826144</cx:pt>
          <cx:pt idx="1627">6433.2878123434466</cx:pt>
          <cx:pt idx="1628">5874.1544267807176</cx:pt>
          <cx:pt idx="1629">8058.3254514622486</cx:pt>
          <cx:pt idx="1630">7097.407755432786</cx:pt>
          <cx:pt idx="1631">5412.6572598407784</cx:pt>
          <cx:pt idx="1632">7861.4886972268669</cx:pt>
          <cx:pt idx="1633">8144.1425447493912</cx:pt>
          <cx:pt idx="1634">7514.2045379070814</cx:pt>
          <cx:pt idx="1635">6818.9117430143806</cx:pt>
          <cx:pt idx="1636">7064.6181153627076</cx:pt>
          <cx:pt idx="1637">5662.4803106005347</cx:pt>
          <cx:pt idx="1638">6313.1175036385139</cx:pt>
          <cx:pt idx="1639">7643.3824995651803</cx:pt>
          <cx:pt idx="1640">5783.9146788111848</cx:pt>
          <cx:pt idx="1641">5215.2416136984411</cx:pt>
          <cx:pt idx="1642">7638.9117281858362</cx:pt>
          <cx:pt idx="1643">6053.5754448937505</cx:pt>
          <cx:pt idx="1644">7224.3370541608101</cx:pt>
          <cx:pt idx="1645">6349.4351068232527</cx:pt>
          <cx:pt idx="1646">6932.6600032144488</cx:pt>
          <cx:pt idx="1647">7212.6043417731844</cx:pt>
          <cx:pt idx="1648">6779.8231879500245</cx:pt>
          <cx:pt idx="1649">6897.420043562197</cx:pt>
          <cx:pt idx="1650">7289.1197314529527</cx:pt>
          <cx:pt idx="1651">7689.3779023607694</cx:pt>
          <cx:pt idx="1652">6368.6256475409264</cx:pt>
          <cx:pt idx="1653">6840.2287708347012</cx:pt>
          <cx:pt idx="1654">6430.9730840429147</cx:pt>
          <cx:pt idx="1655">6212.2770340842399</cx:pt>
          <cx:pt idx="1656">5970.2277603073253</cx:pt>
          <cx:pt idx="1657">5406.3798496246663</cx:pt>
          <cx:pt idx="1658">7197.5746981258844</cx:pt>
          <cx:pt idx="1659">7593.7675695537309</cx:pt>
          <cx:pt idx="1660">6982.8827409505229</cx:pt>
          <cx:pt idx="1661">7686.2053088174252</cx:pt>
          <cx:pt idx="1662">7583.8163227868827</cx:pt>
          <cx:pt idx="1663">7216.793270752265</cx:pt>
          <cx:pt idx="1664">7414.8101513650881</cx:pt>
          <cx:pt idx="1665">5168.8026578730987</cx:pt>
          <cx:pt idx="1666">6196.1319522806252</cx:pt>
          <cx:pt idx="1667">8074.7152399050447</cx:pt>
          <cx:pt idx="1668">7792.0231335099479</cx:pt>
          <cx:pt idx="1669">6306.6558153220367</cx:pt>
          <cx:pt idx="1670">6030.0146898458779</cx:pt>
          <cx:pt idx="1671">7488.2516956529698</cx:pt>
          <cx:pt idx="1672">7118.4640064527293</cx:pt>
          <cx:pt idx="1673">6519.1707838441916</cx:pt>
          <cx:pt idx="1674">6584.2442153440034</cx:pt>
          <cx:pt idx="1675">6928.3085756975024</cx:pt>
          <cx:pt idx="1676">7348.3273560243515</cx:pt>
          <cx:pt idx="1677">6132.5176919340493</cx:pt>
          <cx:pt idx="1678">5830.1013018506956</cx:pt>
          <cx:pt idx="1679">7339.3012587898711</cx:pt>
          <cx:pt idx="1680">5702.647832368637</cx:pt>
          <cx:pt idx="1681">7518.4331504051215</cx:pt>
          <cx:pt idx="1682">5770.4097860164729</cx:pt>
          <cx:pt idx="1683">8271.6811284101059</cx:pt>
          <cx:pt idx="1684">6548.6617014718759</cx:pt>
          <cx:pt idx="1685">5917.0015048820551</cx:pt>
          <cx:pt idx="1686">4840.3230976125542</cx:pt>
          <cx:pt idx="1687">6553.4608070827026</cx:pt>
          <cx:pt idx="1688">8444.8955471447352</cx:pt>
          <cx:pt idx="1689">7796.6443868607348</cx:pt>
          <cx:pt idx="1690">6895.5162659324496</cx:pt>
          <cx:pt idx="1691">7325.8489581135973</cx:pt>
          <cx:pt idx="1692">7508.0702083830838</cx:pt>
          <cx:pt idx="1693">7560.7583761445385</cx:pt>
          <cx:pt idx="1694">7181.484662510411</cx:pt>
          <cx:pt idx="1695">7050.4311193031335</cx:pt>
          <cx:pt idx="1696">6301.2846235749212</cx:pt>
          <cx:pt idx="1697">8282.2342725428698</cx:pt>
          <cx:pt idx="1698">8064.6505125812828</cx:pt>
          <cx:pt idx="1699">6887.2279915206573</cx:pt>
          <cx:pt idx="1700">7109.5111444112745</cx:pt>
          <cx:pt idx="1701">5760.677743268935</cx:pt>
          <cx:pt idx="1702">7054.0141024715831</cx:pt>
          <cx:pt idx="1703">6909.900915215946</cx:pt>
          <cx:pt idx="1704">5285.194802522009</cx:pt>
          <cx:pt idx="1705">7333.5270372698442</cx:pt>
          <cx:pt idx="1706">5245.1319555429218</cx:pt>
          <cx:pt idx="1707">6881.158880928795</cx:pt>
          <cx:pt idx="1708">5815.7285727847557</cx:pt>
          <cx:pt idx="1709">6796.322852856938</cx:pt>
          <cx:pt idx="1710">7022.721341843032</cx:pt>
          <cx:pt idx="1711">8266.9972359297426</cx:pt>
          <cx:pt idx="1712">6383.9773027205883</cx:pt>
          <cx:pt idx="1713">8018.5761691065145</cx:pt>
          <cx:pt idx="1714">6400.1754038829195</cx:pt>
          <cx:pt idx="1715">6392.950615202989</cx:pt>
          <cx:pt idx="1716">7200.7919059962551</cx:pt>
          <cx:pt idx="1717">7990.4480632538944</cx:pt>
          <cx:pt idx="1718">7573.0546709000982</cx:pt>
          <cx:pt idx="1719">5783.8013658978016</cx:pt>
          <cx:pt idx="1720">8183.3545399082095</cx:pt>
          <cx:pt idx="1721">6731.6889944817094</cx:pt>
          <cx:pt idx="1722">6575.7893526941207</cx:pt>
          <cx:pt idx="1723">6766.5243601894008</cx:pt>
          <cx:pt idx="1724">6491.6710360640182</cx:pt>
          <cx:pt idx="1725">6940.9869455083499</cx:pt>
          <cx:pt idx="1726">7309.9198143946487</cx:pt>
          <cx:pt idx="1727">5866.5873440120949</cx:pt>
          <cx:pt idx="1728">8809.2338312828615</cx:pt>
          <cx:pt idx="1729">7786.4864829521384</cx:pt>
          <cx:pt idx="1730">7580.1668037889704</cx:pt>
          <cx:pt idx="1731">7248.9765460539529</cx:pt>
          <cx:pt idx="1732">7069.7542168331556</cx:pt>
          <cx:pt idx="1733">7744.0891774356005</cx:pt>
          <cx:pt idx="1734">7010.3855641132086</cx:pt>
          <cx:pt idx="1735">5687.4562845583005</cx:pt>
          <cx:pt idx="1736">7041.0476932404308</cx:pt>
          <cx:pt idx="1737">7680.0339686100924</cx:pt>
          <cx:pt idx="1738">7246.6004578489801</cx:pt>
          <cx:pt idx="1739">5007.6223596698192</cx:pt>
          <cx:pt idx="1740">7488.1792632013257</cx:pt>
          <cx:pt idx="1741">6832.4869605909525</cx:pt>
          <cx:pt idx="1742">6027.2857086551048</cx:pt>
          <cx:pt idx="1743">7686.6571669953637</cx:pt>
          <cx:pt idx="1744">6799.3836372422838</cx:pt>
          <cx:pt idx="1745">7796.261849734602</cx:pt>
          <cx:pt idx="1746">6537.7097688627055</cx:pt>
          <cx:pt idx="1747">7323.7837434867979</cx:pt>
          <cx:pt idx="1748">6271.1599215256729</cx:pt>
          <cx:pt idx="1749">6104.3183196656382</cx:pt>
          <cx:pt idx="1750">7125.4873188666252</cx:pt>
          <cx:pt idx="1751">6667.4651366223516</cx:pt>
          <cx:pt idx="1752">8294.7505456631534</cx:pt>
          <cx:pt idx="1753">7380.5734475775289</cx:pt>
          <cx:pt idx="1754">6591.4100189252285</cx:pt>
          <cx:pt idx="1755">7396.0910425141547</cx:pt>
          <cx:pt idx="1756">6777.5340222044133</cx:pt>
          <cx:pt idx="1757">6708.6658486389688</cx:pt>
          <cx:pt idx="1758">5479.6168226486216</cx:pt>
          <cx:pt idx="1759">5940.2092505506544</cx:pt>
          <cx:pt idx="1760">7694.0718482320781</cx:pt>
          <cx:pt idx="1761">6231.1078374860554</cx:pt>
          <cx:pt idx="1762">7143.7862803619664</cx:pt>
          <cx:pt idx="1763">8219.7534329587252</cx:pt>
          <cx:pt idx="1764">7430.3141146270082</cx:pt>
          <cx:pt idx="1765">6463.1505759043976</cx:pt>
          <cx:pt idx="1766">7532.2300933510942</cx:pt>
          <cx:pt idx="1767">6029.9430699191917</cx:pt>
          <cx:pt idx="1768">6488.3679378361403</cx:pt>
          <cx:pt idx="1769">7117.2890440626288</cx:pt>
          <cx:pt idx="1770">6825.2924564777732</cx:pt>
          <cx:pt idx="1771">7725.4060782483293</cx:pt>
          <cx:pt idx="1772">7148.1995574222228</cx:pt>
          <cx:pt idx="1773">5841.9824469422283</cx:pt>
          <cx:pt idx="1774">7031.9358056557321</cx:pt>
          <cx:pt idx="1775">6048.0537603821213</cx:pt>
          <cx:pt idx="1776">7865.1433636409911</cx:pt>
          <cx:pt idx="1777">6522.2357661155966</cx:pt>
          <cx:pt idx="1778">7243.2794703203481</cx:pt>
          <cx:pt idx="1779">6939.6750242320431</cx:pt>
          <cx:pt idx="1780">4940.9372315277797</cx:pt>
          <cx:pt idx="1781">7491.8009874132895</cx:pt>
          <cx:pt idx="1782">6742.0885713793814</cx:pt>
          <cx:pt idx="1783">5528.5925374827548</cx:pt>
          <cx:pt idx="1784">6734.2694686877694</cx:pt>
          <cx:pt idx="1785">7895.735898858964</cx:pt>
          <cx:pt idx="1786">7625.8546190105726</cx:pt>
          <cx:pt idx="1787">6643.5268269036578</cx:pt>
          <cx:pt idx="1788">7452.6115832045925</cx:pt>
          <cx:pt idx="1789">7537.3441988437899</cx:pt>
          <cx:pt idx="1790">8018.9765492096094</cx:pt>
          <cx:pt idx="1791">6392.0829908857131</cx:pt>
          <cx:pt idx="1792">6106.9381584488574</cx:pt>
          <cx:pt idx="1793">6772.6229456158408</cx:pt>
          <cx:pt idx="1794">7133.0072619091079</cx:pt>
          <cx:pt idx="1795">6898.5864387024485</cx:pt>
          <cx:pt idx="1796">6933.5159658027424</cx:pt>
          <cx:pt idx="1797">7584.1151804423289</cx:pt>
          <cx:pt idx="1798">6379.3321030675061</cx:pt>
          <cx:pt idx="1799">6255.9688284920194</cx:pt>
          <cx:pt idx="1800">8319.1220646700258</cx:pt>
          <cx:pt idx="1801">7082.7663535370539</cx:pt>
          <cx:pt idx="1802">4927.8603855346482</cx:pt>
          <cx:pt idx="1803">5190.1453132234556</cx:pt>
          <cx:pt idx="1804">5561.5490705099382</cx:pt>
          <cx:pt idx="1805">4899.2057170178732</cx:pt>
          <cx:pt idx="1806">6937.7955259951859</cx:pt>
          <cx:pt idx="1807">7639.2979591296316</cx:pt>
          <cx:pt idx="1808">7290.772292096879</cx:pt>
          <cx:pt idx="1809">6344.3905045837273</cx:pt>
          <cx:pt idx="1810">5642.2168360302367</cx:pt>
          <cx:pt idx="1811">6698.1891672539787</cx:pt>
          <cx:pt idx="1812">7705.3015648008259</cx:pt>
          <cx:pt idx="1813">6386.6657102734443</cx:pt>
          <cx:pt idx="1814">6742.3158002831278</cx:pt>
          <cx:pt idx="1815">7221.8967556316893</cx:pt>
          <cx:pt idx="1816">5263.6698475714675</cx:pt>
          <cx:pt idx="1817">6845.2238729400451</cx:pt>
          <cx:pt idx="1818">7169.2163579866346</cx:pt>
          <cx:pt idx="1819">6966.9877043586093</cx:pt>
          <cx:pt idx="1820">6886.1597046496581</cx:pt>
          <cx:pt idx="1821">5008.2496049626652</cx:pt>
          <cx:pt idx="1822">7734.8806541597551</cx:pt>
          <cx:pt idx="1823">6786.8574519546382</cx:pt>
          <cx:pt idx="1824">7016.7892008115496</cx:pt>
          <cx:pt idx="1825">8183.6345645815163</cx:pt>
          <cx:pt idx="1826">8623.4412561298504</cx:pt>
          <cx:pt idx="1827">7237.8775664396953</cx:pt>
          <cx:pt idx="1828">7296.8288423618842</cx:pt>
          <cx:pt idx="1829">5601.674089806279</cx:pt>
          <cx:pt idx="1830">6455.1092468696679</cx:pt>
          <cx:pt idx="1831">5636.3599808690606</cx:pt>
          <cx:pt idx="1832">6467.3869556847339</cx:pt>
          <cx:pt idx="1833">6840.0978557808767</cx:pt>
          <cx:pt idx="1834">7706.9268731902212</cx:pt>
          <cx:pt idx="1835">6918.1422949229373</cx:pt>
          <cx:pt idx="1836">6914.9934241661194</cx:pt>
          <cx:pt idx="1837">6822.5021013287078</cx:pt>
          <cx:pt idx="1838">7654.7305452411183</cx:pt>
          <cx:pt idx="1839">5698.7220564368017</cx:pt>
          <cx:pt idx="1840">6462.972277797754</cx:pt>
          <cx:pt idx="1841">5514.8555281925173</cx:pt>
          <cx:pt idx="1842">6728.92690899851</cx:pt>
          <cx:pt idx="1843">6469.2605586040845</cx:pt>
          <cx:pt idx="1844">6220.9882342013634</cx:pt>
          <cx:pt idx="1845">6181.6663567390387</cx:pt>
          <cx:pt idx="1846">7528.9498683031907</cx:pt>
          <cx:pt idx="1847">6067.4999790924057</cx:pt>
          <cx:pt idx="1848">7414.3574568367694</cx:pt>
          <cx:pt idx="1849">7402.2187247869997</cx:pt>
          <cx:pt idx="1850">6990.0194187216321</cx:pt>
          <cx:pt idx="1851">6586.8701444022563</cx:pt>
          <cx:pt idx="1852">4504.7773521017916</cx:pt>
          <cx:pt idx="1853">6375.2335041880569</cx:pt>
          <cx:pt idx="1854">7078.1279773583519</cx:pt>
          <cx:pt idx="1855">7699.2000453464216</cx:pt>
          <cx:pt idx="1856">7278.8675388944803</cx:pt>
          <cx:pt idx="1857">4799.5606835416029</cx:pt>
          <cx:pt idx="1858">6997.323434524219</cx:pt>
          <cx:pt idx="1859">7803.0042789326244</cx:pt>
          <cx:pt idx="1860">6811.9594282929784</cx:pt>
          <cx:pt idx="1861">6980.7655663570813</cx:pt>
          <cx:pt idx="1862">7717.8785542456162</cx:pt>
          <cx:pt idx="1863">8443.9851552963119</cx:pt>
          <cx:pt idx="1864">6225.682586200217</cx:pt>
          <cx:pt idx="1865">7611.0369067834226</cx:pt>
          <cx:pt idx="1866">8044.4434731731881</cx:pt>
          <cx:pt idx="1867">6694.0225981798294</cx:pt>
          <cx:pt idx="1868">6075.8849018392511</cx:pt>
          <cx:pt idx="1869">6069.2309123874638</cx:pt>
          <cx:pt idx="1870">6815.2186939232261</cx:pt>
          <cx:pt idx="1871">6788.9576668459558</cx:pt>
          <cx:pt idx="1872">7415.6643212217441</cx:pt>
          <cx:pt idx="1873">6187.3825136105124</cx:pt>
          <cx:pt idx="1874">7037.3329855966685</cx:pt>
          <cx:pt idx="1875">8357.5549421248597</cx:pt>
          <cx:pt idx="1876">6372.6604550131788</cx:pt>
          <cx:pt idx="1877">7166.1580612689495</cx:pt>
          <cx:pt idx="1878">7405.896350718207</cx:pt>
          <cx:pt idx="1879">7597.5335830897848</cx:pt>
          <cx:pt idx="1880">7722.5461492598288</cx:pt>
          <cx:pt idx="1881">7392.4197692480493</cx:pt>
          <cx:pt idx="1882">6671.063948090763</cx:pt>
          <cx:pt idx="1883">6076.2062968626278</cx:pt>
          <cx:pt idx="1884">7435.3386442417441</cx:pt>
          <cx:pt idx="1885">7110.2843664424381</cx:pt>
          <cx:pt idx="1886">7316.4609730107304</cx:pt>
          <cx:pt idx="1887">7340.8006070836072</cx:pt>
          <cx:pt idx="1888">6683.0882658159971</cx:pt>
          <cx:pt idx="1889">6770.0356797833592</cx:pt>
          <cx:pt idx="1890">7801.2565874862048</cx:pt>
          <cx:pt idx="1891">7283.9148591508283</cx:pt>
          <cx:pt idx="1892">7829.9821167962518</cx:pt>
          <cx:pt idx="1893">5108.4264202751419</cx:pt>
          <cx:pt idx="1894">6582.6063354684065</cx:pt>
          <cx:pt idx="1895">6625.0178561853363</cx:pt>
          <cx:pt idx="1896">6070.7789479038993</cx:pt>
          <cx:pt idx="1897">6521.3221385285797</cx:pt>
          <cx:pt idx="1898">6726.4456473022556</cx:pt>
          <cx:pt idx="1899">7306.9669730614314</cx:pt>
          <cx:pt idx="1900">6937.8322565021554</cx:pt>
          <cx:pt idx="1901">6230.0520430203997</cx:pt>
          <cx:pt idx="1902">6656.5298767439699</cx:pt>
          <cx:pt idx="1903">6977.0353963386979</cx:pt>
          <cx:pt idx="1904">7116.9671647497844</cx:pt>
          <cx:pt idx="1905">7766.3486766738279</cx:pt>
          <cx:pt idx="1906">6709.8298688070226</cx:pt>
          <cx:pt idx="1907">7751.5185046055403</cx:pt>
          <cx:pt idx="1908">8037.8165228877388</cx:pt>
          <cx:pt idx="1909">6378.7688833277352</cx:pt>
          <cx:pt idx="1910">7354.7222158704999</cx:pt>
          <cx:pt idx="1911">7873.3327993105177</cx:pt>
          <cx:pt idx="1912">6446.5325394633874</cx:pt>
          <cx:pt idx="1913">6383.3353338010802</cx:pt>
          <cx:pt idx="1914">7356.8838808082064</cx:pt>
          <cx:pt idx="1915">6274.3926034997485</cx:pt>
          <cx:pt idx="1916">7984.6168950908286</cx:pt>
          <cx:pt idx="1917">6757.8007384843495</cx:pt>
          <cx:pt idx="1918">5947.317445621884</cx:pt>
          <cx:pt idx="1919">6499.358349451486</cx:pt>
          <cx:pt idx="1920">6366.0108285082879</cx:pt>
          <cx:pt idx="1921">6299.0971687216042</cx:pt>
          <cx:pt idx="1922">6285.8344880063996</cx:pt>
          <cx:pt idx="1923">7190.6498841305283</cx:pt>
          <cx:pt idx="1924">6491.8904374421218</cx:pt>
          <cx:pt idx="1925">7550.6961672631778</cx:pt>
          <cx:pt idx="1926">7733.1935720299116</cx:pt>
          <cx:pt idx="1927">7553.8952441401807</cx:pt>
          <cx:pt idx="1928">6523.1170581082506</cx:pt>
          <cx:pt idx="1929">7618.6286747272397</cx:pt>
          <cx:pt idx="1930">7863.0610508476102</cx:pt>
          <cx:pt idx="1931">5367.2163842602113</cx:pt>
          <cx:pt idx="1932">6759.1643707887015</cx:pt>
          <cx:pt idx="1933">7848.7184355514482</cx:pt>
          <cx:pt idx="1934">6620.9023392076369</cx:pt>
          <cx:pt idx="1935">7702.1236518091055</cx:pt>
          <cx:pt idx="1936">6254.6578147419496</cx:pt>
          <cx:pt idx="1937">7067.6257553364767</cx:pt>
          <cx:pt idx="1938">7979.366432246944</cx:pt>
          <cx:pt idx="1939">6798.652348882666</cx:pt>
          <cx:pt idx="1940">6484.2293192071729</cx:pt>
          <cx:pt idx="1941">5914.3891278439469</cx:pt>
          <cx:pt idx="1942">8253.0198898218005</cx:pt>
          <cx:pt idx="1943">7797.3552746081186</cx:pt>
          <cx:pt idx="1944">6523.2551417863333</cx:pt>
          <cx:pt idx="1945">8083.7453217059028</cx:pt>
          <cx:pt idx="1946">7199.8084248387095</cx:pt>
          <cx:pt idx="1947">7256.1633577859966</cx:pt>
          <cx:pt idx="1948">6472.6980342257712</cx:pt>
          <cx:pt idx="1949">7611.6576187093888</cx:pt>
          <cx:pt idx="1950">6778.3919015933407</cx:pt>
          <cx:pt idx="1951">6779.3225117757938</cx:pt>
          <cx:pt idx="1952">6930.0449838900131</cx:pt>
          <cx:pt idx="1953">5582.8213416010231</cx:pt>
          <cx:pt idx="1954">5549.6991268780748</cx:pt>
          <cx:pt idx="1955">5981.6716417063908</cx:pt>
          <cx:pt idx="1956">7360.7007882871685</cx:pt>
          <cx:pt idx="1957">5881.7129634031498</cx:pt>
          <cx:pt idx="1958">6301.7776496371798</cx:pt>
          <cx:pt idx="1959">7431.8769310331572</cx:pt>
          <cx:pt idx="1960">7137.295714872831</cx:pt>
          <cx:pt idx="1961">6331.8567808006201</cx:pt>
          <cx:pt idx="1962">7521.1810405756933</cx:pt>
          <cx:pt idx="1963">7566.8137558882036</cx:pt>
          <cx:pt idx="1964">5303.7498855783142</cx:pt>
          <cx:pt idx="1965">7361.2109758771876</cx:pt>
          <cx:pt idx="1966">7163.0970869898911</cx:pt>
          <cx:pt idx="1967">7150.0204982276737</cx:pt>
          <cx:pt idx="1968">6303.3718479371555</cx:pt>
          <cx:pt idx="1969">6427.6221693241823</cx:pt>
          <cx:pt idx="1970">6493.0163114549223</cx:pt>
          <cx:pt idx="1971">6771.8855081660922</cx:pt>
          <cx:pt idx="1972">6609.188911419692</cx:pt>
          <cx:pt idx="1973">6290.6025385533894</cx:pt>
          <cx:pt idx="1974">6245.8866614713916</cx:pt>
          <cx:pt idx="1975">7359.9923435672908</cx:pt>
          <cx:pt idx="1976">8342.646655949311</cx:pt>
          <cx:pt idx="1977">6807.9860318180417</cx:pt>
          <cx:pt idx="1978">7417.715048360853</cx:pt>
          <cx:pt idx="1979">7086.4724561275525</cx:pt>
          <cx:pt idx="1980">7437.2306710982721</cx:pt>
          <cx:pt idx="1981">6658.7360808601243</cx:pt>
          <cx:pt idx="1982">6632.4676850970518</cx:pt>
          <cx:pt idx="1983">6598.6282382987974</cx:pt>
          <cx:pt idx="1984">6255.7967623611294</cx:pt>
          <cx:pt idx="1985">7729.6540617114242</cx:pt>
          <cx:pt idx="1986">6807.3224754072016</cx:pt>
          <cx:pt idx="1987">6950.5955689351113</cx:pt>
          <cx:pt idx="1988">6901.8659521421296</cx:pt>
          <cx:pt idx="1989">7070.2235196818883</cx:pt>
          <cx:pt idx="1990">7330.8380899720541</cx:pt>
          <cx:pt idx="1991">6976.5277812269096</cx:pt>
          <cx:pt idx="1992">5907.28387207788</cx:pt>
          <cx:pt idx="1993">7337.2172412306682</cx:pt>
          <cx:pt idx="1994">6714.7183362906444</cx:pt>
          <cx:pt idx="1995">7292.7204518193175</cx:pt>
          <cx:pt idx="1996">7536.6358699279308</cx:pt>
          <cx:pt idx="1997">7965.4093472469704</cx:pt>
          <cx:pt idx="1998">7093.9310866410824</cx:pt>
          <cx:pt idx="1999">8360.9506360151536</cx:pt>
          <cx:pt idx="2000">6730.8595760111302</cx:pt>
          <cx:pt idx="2001">7719.2134513406763</cx:pt>
          <cx:pt idx="2002">6937.5428422062159</cx:pt>
          <cx:pt idx="2003">5996.3586954852835</cx:pt>
          <cx:pt idx="2004">7730.9006229868492</cx:pt>
          <cx:pt idx="2005">7208.1010628940794</cx:pt>
          <cx:pt idx="2006">5998.8823693168151</cx:pt>
          <cx:pt idx="2007">7376.3792344530866</cx:pt>
          <cx:pt idx="2008">6959.9155968502009</cx:pt>
          <cx:pt idx="2009">6765.4272442708843</cx:pt>
          <cx:pt idx="2010">7403.3636129581464</cx:pt>
          <cx:pt idx="2011">6651.2093269864745</cx:pt>
          <cx:pt idx="2012">7206.0624872441367</cx:pt>
          <cx:pt idx="2013">6782.5756846119966</cx:pt>
          <cx:pt idx="2014">6522.5818614277887</cx:pt>
          <cx:pt idx="2015">7287.1511761328202</cx:pt>
          <cx:pt idx="2016">7608.7946562498464</cx:pt>
          <cx:pt idx="2017">7542.128878704666</cx:pt>
          <cx:pt idx="2018">5989.7454191023453</cx:pt>
          <cx:pt idx="2019">6775.7048232800344</cx:pt>
          <cx:pt idx="2020">6754.1249245308791</cx:pt>
          <cx:pt idx="2021">6893.5220272310962</cx:pt>
          <cx:pt idx="2022">6812.5739229564124</cx:pt>
          <cx:pt idx="2023">7334.8549908782916</cx:pt>
          <cx:pt idx="2024">8181.481991087504</cx:pt>
          <cx:pt idx="2025">6250.1368949675953</cx:pt>
          <cx:pt idx="2026">6161.5728705462925</cx:pt>
          <cx:pt idx="2027">6848.0574262710215</cx:pt>
          <cx:pt idx="2028">7309.9058705146435</cx:pt>
          <cx:pt idx="2029">6482.4318483532052</cx:pt>
          <cx:pt idx="2030">6427.9943053834331</cx:pt>
          <cx:pt idx="2031">6044.6218699880028</cx:pt>
          <cx:pt idx="2032">6511.5032450785675</cx:pt>
          <cx:pt idx="2033">7088.3659737110856</cx:pt>
          <cx:pt idx="2034">6339.850766460565</cx:pt>
          <cx:pt idx="2035">7429.7572761935789</cx:pt>
          <cx:pt idx="2036">7932.0783881853913</cx:pt>
          <cx:pt idx="2037">7526.6775419388541</cx:pt>
          <cx:pt idx="2038">7570.7168824289147</cx:pt>
          <cx:pt idx="2039">6216.9720349060362</cx:pt>
          <cx:pt idx="2040">6335.0299560270032</cx:pt>
          <cx:pt idx="2041">5972.2695280149474</cx:pt>
          <cx:pt idx="2042">6712.104621589403</cx:pt>
          <cx:pt idx="2043">6096.2640602345664</cx:pt>
          <cx:pt idx="2044">8081.3992069235683</cx:pt>
          <cx:pt idx="2045">7029.7834049691355</cx:pt>
          <cx:pt idx="2046">6297.59700792902</cx:pt>
          <cx:pt idx="2047">7929.9872662124835</cx:pt>
          <cx:pt idx="2048">6916.5340344265687</cx:pt>
          <cx:pt idx="2049">6637.9426684994778</cx:pt>
          <cx:pt idx="2050">6056.2971868769064</cx:pt>
          <cx:pt idx="2051">6358.0583795751127</cx:pt>
          <cx:pt idx="2052">7339.0480927398121</cx:pt>
          <cx:pt idx="2053">4906.8286140325135</cx:pt>
          <cx:pt idx="2054">6847.8527089985273</cx:pt>
          <cx:pt idx="2055">6400.0543242468884</cx:pt>
          <cx:pt idx="2056">7071.241700358144</cx:pt>
          <cx:pt idx="2057">6814.6164726765201</cx:pt>
          <cx:pt idx="2058">7062.1568459337104</cx:pt>
          <cx:pt idx="2059">7253.9727436622834</cx:pt>
          <cx:pt idx="2060">4846.1451318685249</cx:pt>
          <cx:pt idx="2061">6956.2443378434255</cx:pt>
          <cx:pt idx="2062">7199.6776856463912</cx:pt>
          <cx:pt idx="2063">7404.2138490466896</cx:pt>
          <cx:pt idx="2064">7714.1022530730861</cx:pt>
          <cx:pt idx="2065">7516.7212213349112</cx:pt>
          <cx:pt idx="2066">4816.6227117067283</cx:pt>
          <cx:pt idx="2067">7830.9441019952237</cx:pt>
          <cx:pt idx="2068">7062.2019751230446</cx:pt>
          <cx:pt idx="2069">7996.4828606593383</cx:pt>
          <cx:pt idx="2070">6494.1782049917429</cx:pt>
          <cx:pt idx="2071">8213.8659650827376</cx:pt>
          <cx:pt idx="2072">7119.6989267782837</cx:pt>
          <cx:pt idx="2073">5120.7534176718545</cx:pt>
          <cx:pt idx="2074">7339.7496999752248</cx:pt>
          <cx:pt idx="2075">7656.8047180321628</cx:pt>
          <cx:pt idx="2076">7244.6689826545717</cx:pt>
          <cx:pt idx="2077">6817.254627618202</cx:pt>
          <cx:pt idx="2078">7342.0603652141635</cx:pt>
          <cx:pt idx="2079">7348.1985731218347</cx:pt>
          <cx:pt idx="2080">5170.8514825714738</cx:pt>
          <cx:pt idx="2081">7233.2041444555589</cx:pt>
          <cx:pt idx="2082">7011.1304131897396</cx:pt>
          <cx:pt idx="2083">8060.2733161465521</cx:pt>
          <cx:pt idx="2084">6138.6504873146951</cx:pt>
          <cx:pt idx="2085">7836.185316700883</cx:pt>
          <cx:pt idx="2086">8170.0209159270617</cx:pt>
          <cx:pt idx="2087">7713.5099236568058</cx:pt>
          <cx:pt idx="2088">7212.2975468623772</cx:pt>
          <cx:pt idx="2089">7900.2352365459064</cx:pt>
          <cx:pt idx="2090">5043.2831352244848</cx:pt>
          <cx:pt idx="2091">7710.7616513225948</cx:pt>
          <cx:pt idx="2092">5741.3174383700807</cx:pt>
          <cx:pt idx="2093">7241.0964734126273</cx:pt>
          <cx:pt idx="2094">6711.1235475998847</cx:pt>
          <cx:pt idx="2095">6679.4179743810819</cx:pt>
          <cx:pt idx="2096">6098.6222544334778</cx:pt>
          <cx:pt idx="2097">5467.404614066375</cx:pt>
          <cx:pt idx="2098">6461.6732527418308</cx:pt>
          <cx:pt idx="2099">7341.833884823026</cx:pt>
          <cx:pt idx="2100">7251.2226179957179</cx:pt>
          <cx:pt idx="2101">7587.2149220823894</cx:pt>
          <cx:pt idx="2102">7109.6415000204152</cx:pt>
          <cx:pt idx="2103">7251.3867525240412</cx:pt>
          <cx:pt idx="2104">6831.2087598445578</cx:pt>
          <cx:pt idx="2105">7136.4595336329885</cx:pt>
          <cx:pt idx="2106">7821.0365956419992</cx:pt>
          <cx:pt idx="2107">6861.2153417516574</cx:pt>
          <cx:pt idx="2108">7574.7281419791943</cx:pt>
          <cx:pt idx="2109">6632.4111283308412</cx:pt>
          <cx:pt idx="2110">6916.5129194988212</cx:pt>
          <cx:pt idx="2111">6442.3066424370854</cx:pt>
          <cx:pt idx="2112">7063.4132404963348</cx:pt>
          <cx:pt idx="2113">4896.8457422491865</cx:pt>
          <cx:pt idx="2114">7107.3448520180063</cx:pt>
          <cx:pt idx="2115">7306.9363168190466</cx:pt>
          <cx:pt idx="2116">7212.628071073902</cx:pt>
          <cx:pt idx="2117">6905.7182684130212</cx:pt>
          <cx:pt idx="2118">5599.700247706086</cx:pt>
          <cx:pt idx="2119">5346.3086556710314</cx:pt>
          <cx:pt idx="2120">6427.049969268769</cx:pt>
          <cx:pt idx="2121">6125.1391890022041</cx:pt>
          <cx:pt idx="2122">6600.7550547468891</cx:pt>
          <cx:pt idx="2123">6688.4732028944081</cx:pt>
          <cx:pt idx="2124">6334.521779995649</cx:pt>
          <cx:pt idx="2125">7136.6057650708253</cx:pt>
          <cx:pt idx="2126">6733.2149803491811</cx:pt>
          <cx:pt idx="2127">7137.3621783244589</cx:pt>
          <cx:pt idx="2128">6529.0925731048792</cx:pt>
          <cx:pt idx="2129">7213.8950504304457</cx:pt>
          <cx:pt idx="2130">7304.5586846485712</cx:pt>
          <cx:pt idx="2131">6641.0988351059532</cx:pt>
          <cx:pt idx="2132">7233.9065753390187</cx:pt>
          <cx:pt idx="2133">6810.1248517365311</cx:pt>
          <cx:pt idx="2134">8131.094599158685</cx:pt>
          <cx:pt idx="2135">6288.9800645565474</cx:pt>
          <cx:pt idx="2136">4840.022440349564</cx:pt>
          <cx:pt idx="2137">7147.8146943293468</cx:pt>
          <cx:pt idx="2138">6517.8823275805671</cx:pt>
          <cx:pt idx="2139">7368.8311296940992</cx:pt>
          <cx:pt idx="2140">7398.0072765870264</cx:pt>
          <cx:pt idx="2141">5969.2248482490704</cx:pt>
          <cx:pt idx="2142">5277.2712063124345</cx:pt>
          <cx:pt idx="2143">7326.709933729051</cx:pt>
          <cx:pt idx="2144">6536.554227531863</cx:pt>
          <cx:pt idx="2145">5167.9910050680164</cx:pt>
          <cx:pt idx="2146">7284.6543150528541</cx:pt>
          <cx:pt idx="2147">6832.3466472298478</cx:pt>
          <cx:pt idx="2148">6356.1906103998799</cx:pt>
          <cx:pt idx="2149">7662.3678028497334</cx:pt>
          <cx:pt idx="2150">6646.8451782481225</cx:pt>
          <cx:pt idx="2151">7189.451366674688</cx:pt>
          <cx:pt idx="2152">7176.25881448784</cx:pt>
          <cx:pt idx="2153">7721.8876543619381</cx:pt>
          <cx:pt idx="2154">5834.6081918347645</cx:pt>
          <cx:pt idx="2155">7248.2394909089599</cx:pt>
          <cx:pt idx="2156">6948.8170304665337</cx:pt>
          <cx:pt idx="2157">5427.0555343051601</cx:pt>
          <cx:pt idx="2158">5806.2447828401873</cx:pt>
          <cx:pt idx="2159">6359.9503999729532</cx:pt>
          <cx:pt idx="2160">6711.2551610738401</cx:pt>
          <cx:pt idx="2161">7454.6451814241136</cx:pt>
          <cx:pt idx="2162">6971.3775814618812</cx:pt>
          <cx:pt idx="2163">7386.3373796657997</cx:pt>
          <cx:pt idx="2164">5312.3578460472572</cx:pt>
          <cx:pt idx="2165">5809.8095048429095</cx:pt>
          <cx:pt idx="2166">6402.3016790901274</cx:pt>
          <cx:pt idx="2167">5678.845599005871</cx:pt>
          <cx:pt idx="2168">7159.9207981221934</cx:pt>
          <cx:pt idx="2169">7328.5877361135099</cx:pt>
          <cx:pt idx="2170">7035.3471205528022</cx:pt>
          <cx:pt idx="2171">6657.818572019808</cx:pt>
          <cx:pt idx="2172">5514.3932834999359</cx:pt>
          <cx:pt idx="2173">5643.1990923565854</cx:pt>
          <cx:pt idx="2174">7149.5180773091342</cx:pt>
          <cx:pt idx="2175">7100.3296849785993</cx:pt>
          <cx:pt idx="2176">6599.6266741351174</cx:pt>
          <cx:pt idx="2177">7051.8656533273461</cx:pt>
          <cx:pt idx="2178">6122.4892289153067</cx:pt>
          <cx:pt idx="2179">7614.2587479254025</cx:pt>
          <cx:pt idx="2180">6628.8419231259249</cx:pt>
          <cx:pt idx="2181">6870.0121263682058</cx:pt>
          <cx:pt idx="2182">7440.1862500831767</cx:pt>
          <cx:pt idx="2183">7004.3221308757029</cx:pt>
          <cx:pt idx="2184">7028.265989886293</cx:pt>
          <cx:pt idx="2185">7418.9966988950528</cx:pt>
          <cx:pt idx="2186">5846.1144322731434</cx:pt>
          <cx:pt idx="2187">8176.3834951031849</cx:pt>
          <cx:pt idx="2188">7769.6176687177031</cx:pt>
          <cx:pt idx="2189">7699.1773871792384</cx:pt>
          <cx:pt idx="2190">7330.2399731431397</cx:pt>
          <cx:pt idx="2191">5108.4853268368652</cx:pt>
          <cx:pt idx="2192">6933.9345217526197</cx:pt>
          <cx:pt idx="2193">6985.399321615113</cx:pt>
          <cx:pt idx="2194">7709.2839878674704</cx:pt>
          <cx:pt idx="2195">7113.2371691380231</cx:pt>
          <cx:pt idx="2196">7618.6700759390787</cx:pt>
          <cx:pt idx="2197">5786.4388027926561</cx:pt>
          <cx:pt idx="2198">7452.0945462246282</cx:pt>
          <cx:pt idx="2199">6612.0457288729831</cx:pt>
          <cx:pt idx="2200">7515.3247679420501</cx:pt>
          <cx:pt idx="2201">7512.6775655249912</cx:pt>
          <cx:pt idx="2202">7107.2175762082106</cx:pt>
          <cx:pt idx="2203">6550.3567952495205</cx:pt>
          <cx:pt idx="2204">7794.4248739863169</cx:pt>
          <cx:pt idx="2205">8116.0295428978916</cx:pt>
          <cx:pt idx="2206">7526.0515654361288</cx:pt>
          <cx:pt idx="2207">7441.0441557783251</cx:pt>
          <cx:pt idx="2208">7303.7701446806113</cx:pt>
          <cx:pt idx="2209">7919.6170428172172</cx:pt>
          <cx:pt idx="2210">8122.6662600811014</cx:pt>
          <cx:pt idx="2211">7088.4361665239658</cx:pt>
          <cx:pt idx="2212">6323.7515361667538</cx:pt>
          <cx:pt idx="2213">6682.9678690009941</cx:pt>
          <cx:pt idx="2214">6682.0888237132585</cx:pt>
          <cx:pt idx="2215">7659.6611849314031</cx:pt>
          <cx:pt idx="2216">6980.6703144006851</cx:pt>
          <cx:pt idx="2217">7574.8925242275473</cx:pt>
          <cx:pt idx="2218">7176.3797333342127</cx:pt>
          <cx:pt idx="2219">7574.3672965718188</cx:pt>
          <cx:pt idx="2220">6709.4023424834013</cx:pt>
          <cx:pt idx="2221">5986.4718953928004</cx:pt>
          <cx:pt idx="2222">6432.2773673422726</cx:pt>
          <cx:pt idx="2223">7626.9923697414306</cx:pt>
          <cx:pt idx="2224">6920.6746628593573</cx:pt>
          <cx:pt idx="2225">7589.6500578911273</cx:pt>
          <cx:pt idx="2226">6131.4298662350493</cx:pt>
          <cx:pt idx="2227">6501.2857121388097</cx:pt>
          <cx:pt idx="2228">7039.9979387033572</cx:pt>
          <cx:pt idx="2229">4922.5875942427674</cx:pt>
          <cx:pt idx="2230">7408.6529385496815</cx:pt>
          <cx:pt idx="2231">7963.5922404342018</cx:pt>
          <cx:pt idx="2232">7487.9719506525998</cx:pt>
          <cx:pt idx="2233">7821.0444953142151</cx:pt>
          <cx:pt idx="2234">7243.8566517713807</cx:pt>
          <cx:pt idx="2235">7684.7746823531497</cx:pt>
          <cx:pt idx="2236">7586.3271874213369</cx:pt>
          <cx:pt idx="2237">6665.3319335406914</cx:pt>
          <cx:pt idx="2238">6287.7938236030122</cx:pt>
          <cx:pt idx="2239">6661.7353465646365</cx:pt>
          <cx:pt idx="2240">7248.7213734022644</cx:pt>
          <cx:pt idx="2241">6380.4673961752696</cx:pt>
          <cx:pt idx="2242">6341.4723835271006</cx:pt>
          <cx:pt idx="2243">7727.3896914961497</cx:pt>
          <cx:pt idx="2244">7151.1716291627508</cx:pt>
          <cx:pt idx="2245">7599.5332394091602</cx:pt>
          <cx:pt idx="2246">7390.4478131592332</cx:pt>
          <cx:pt idx="2247">7175.7486717984175</cx:pt>
          <cx:pt idx="2248">8473.1377792556341</cx:pt>
          <cx:pt idx="2249">6962.3006043468904</cx:pt>
          <cx:pt idx="2250">7426.7639076990463</cx:pt>
          <cx:pt idx="2251">7621.6076462238052</cx:pt>
          <cx:pt idx="2252">6088.108616547378</cx:pt>
          <cx:pt idx="2253">7818.8670838880644</cx:pt>
          <cx:pt idx="2254">7118.5379286630568</cx:pt>
          <cx:pt idx="2255">7728.6660554614809</cx:pt>
          <cx:pt idx="2256">6639.273435063762</cx:pt>
          <cx:pt idx="2257">6363.3139397063442</cx:pt>
          <cx:pt idx="2258">4853.7730854036663</cx:pt>
          <cx:pt idx="2259">7147.1374264720089</cx:pt>
          <cx:pt idx="2260">6724.6375878240433</cx:pt>
          <cx:pt idx="2261">7625.266136872714</cx:pt>
          <cx:pt idx="2262">6446.6617209980586</cx:pt>
          <cx:pt idx="2263">7734.3990615040739</cx:pt>
          <cx:pt idx="2264">7175.4978807654443</cx:pt>
          <cx:pt idx="2265">6849.404713312837</cx:pt>
          <cx:pt idx="2266">6896.5707658665697</cx:pt>
          <cx:pt idx="2267">6252.2305786806573</cx:pt>
          <cx:pt idx="2268">7009.4399272302035</cx:pt>
          <cx:pt idx="2269">5235.6888135869876</cx:pt>
          <cx:pt idx="2270">7907.7853346064367</cx:pt>
          <cx:pt idx="2271">7023.6465041176461</cx:pt>
          <cx:pt idx="2272">7978.3426882637305</cx:pt>
          <cx:pt idx="2273">8404.8006721960301</cx:pt>
          <cx:pt idx="2274">6689.0009655907552</cx:pt>
          <cx:pt idx="2275">6147.353600473285</cx:pt>
          <cx:pt idx="2276">7637.3409728686502</cx:pt>
          <cx:pt idx="2277">5800.9390255429853</cx:pt>
          <cx:pt idx="2278">6880.5866029392027</cx:pt>
          <cx:pt idx="2279">7283.380872217891</cx:pt>
          <cx:pt idx="2280">5889.2740469173696</cx:pt>
          <cx:pt idx="2281">5424.7632642744875</cx:pt>
          <cx:pt idx="2282">5578.2971272464265</cx:pt>
          <cx:pt idx="2283">7166.7149829662321</cx:pt>
          <cx:pt idx="2284">6742.6805427494219</cx:pt>
          <cx:pt idx="2285">7245.5057384517186</cx:pt>
          <cx:pt idx="2286">6406.9367120802963</cx:pt>
          <cx:pt idx="2287">6931.2926166962316</cx:pt>
          <cx:pt idx="2288">6640.0611185153775</cx:pt>
          <cx:pt idx="2289">6512.4230874039222</cx:pt>
          <cx:pt idx="2290">7109.6827651283857</cx:pt>
          <cx:pt idx="2291">7556.230658745907</cx:pt>
          <cx:pt idx="2292">7936.0319100635525</cx:pt>
          <cx:pt idx="2293">7123.2798093494284</cx:pt>
          <cx:pt idx="2294">7543.3499574038142</cx:pt>
          <cx:pt idx="2295">7103.3764340981788</cx:pt>
          <cx:pt idx="2296">5700.1452756012732</cx:pt>
          <cx:pt idx="2297">7674.9168245321616</cx:pt>
          <cx:pt idx="2298">6712.7210719291779</cx:pt>
          <cx:pt idx="2299">6327.3448393844428</cx:pt>
          <cx:pt idx="2300">6146.7242604707881</cx:pt>
          <cx:pt idx="2301">6077.4507385372053</cx:pt>
          <cx:pt idx="2302">4863.6469181238426</cx:pt>
          <cx:pt idx="2303">7272.6448729066742</cx:pt>
          <cx:pt idx="2304">5220.1164787001526</cx:pt>
          <cx:pt idx="2305">6945.4458509506267</cx:pt>
          <cx:pt idx="2306">6647.527996245808</cx:pt>
          <cx:pt idx="2307">6549.1596050986582</cx:pt>
          <cx:pt idx="2308">7664.3909492581133</cx:pt>
          <cx:pt idx="2309">5604.7951556814669</cx:pt>
          <cx:pt idx="2310">6673.9375980433715</cx:pt>
          <cx:pt idx="2311">5149.96806428729</cx:pt>
          <cx:pt idx="2312">7504.7380297560558</cx:pt>
          <cx:pt idx="2313">6608.8821214306445</cx:pt>
          <cx:pt idx="2314">8112.7941115894937</cx:pt>
          <cx:pt idx="2315">5582.6553196907316</cx:pt>
          <cx:pt idx="2316">7281.48972926647</cx:pt>
          <cx:pt idx="2317">6397.5678096759848</cx:pt>
          <cx:pt idx="2318">5518.3682535094022</cx:pt>
          <cx:pt idx="2319">6809.7490678416525</cx:pt>
          <cx:pt idx="2320">6825.5353681092174</cx:pt>
          <cx:pt idx="2321">6852.6223586034557</cx:pt>
          <cx:pt idx="2322">7597.2126631953743</cx:pt>
          <cx:pt idx="2323">7310.7977812341433</cx:pt>
          <cx:pt idx="2324">5875.1218115727997</cx:pt>
          <cx:pt idx="2325">5556.9286698249525</cx:pt>
          <cx:pt idx="2326">8027.3923619355974</cx:pt>
          <cx:pt idx="2327">7625.7650993299239</cx:pt>
          <cx:pt idx="2328">6581.2991568363523</cx:pt>
          <cx:pt idx="2329">7201.7992637780535</cx:pt>
          <cx:pt idx="2330">6487.3661513808993</cx:pt>
          <cx:pt idx="2331">7162.4203040826715</cx:pt>
          <cx:pt idx="2332">4708.0008739241566</cx:pt>
          <cx:pt idx="2333">7627.1872244666029</cx:pt>
          <cx:pt idx="2334">5459.0123261237386</cx:pt>
          <cx:pt idx="2335">5589.2492786785915</cx:pt>
          <cx:pt idx="2336">7039.1793052999337</cx:pt>
          <cx:pt idx="2337">8712.8632320771885</cx:pt>
          <cx:pt idx="2338">7187.0499556264767</cx:pt>
          <cx:pt idx="2339">6531.526423884633</cx:pt>
          <cx:pt idx="2340">6615.1481337490586</cx:pt>
          <cx:pt idx="2341">7174.0379434637198</cx:pt>
          <cx:pt idx="2342">7648.3531867485726</cx:pt>
          <cx:pt idx="2343">6674.7570513008377</cx:pt>
          <cx:pt idx="2344">4233.1325673503179</cx:pt>
          <cx:pt idx="2345">7874.2805322313006</cx:pt>
          <cx:pt idx="2346">7304.5846631620034</cx:pt>
          <cx:pt idx="2347">6643.3131131499067</cx:pt>
          <cx:pt idx="2348">6882.157439562794</cx:pt>
          <cx:pt idx="2349">5518.4227709687284</cx:pt>
          <cx:pt idx="2350">6536.6886461318036</cx:pt>
          <cx:pt idx="2351">7394.5259781101986</cx:pt>
          <cx:pt idx="2352">7292.286776572867</cx:pt>
          <cx:pt idx="2353">6553.9585530882196</cx:pt>
          <cx:pt idx="2354">7349.916979819428</cx:pt>
          <cx:pt idx="2355">6435.36701201082</cx:pt>
          <cx:pt idx="2356">7016.6309954566368</cx:pt>
          <cx:pt idx="2357">7592.3099802192028</cx:pt>
          <cx:pt idx="2358">7789.079968854795</cx:pt>
          <cx:pt idx="2359">7450.882632842764</cx:pt>
          <cx:pt idx="2360">5744.6028161872928</cx:pt>
          <cx:pt idx="2361">6380.3966030529127</cx:pt>
          <cx:pt idx="2362">7049.9609266309499</cx:pt>
          <cx:pt idx="2363">5166.8856729962063</cx:pt>
          <cx:pt idx="2364">7057.1666954891371</cx:pt>
          <cx:pt idx="2365">5603.6643030965715</cx:pt>
          <cx:pt idx="2366">8118.4306874203976</cx:pt>
          <cx:pt idx="2367">7310.2745974678983</cx:pt>
          <cx:pt idx="2368">8372.9610184665817</cx:pt>
          <cx:pt idx="2369">7200.7504099121834</cx:pt>
          <cx:pt idx="2370">4878.5562046830828</cx:pt>
          <cx:pt idx="2371">6668.9419530228306</cx:pt>
          <cx:pt idx="2372">6809.5749867990617</cx:pt>
          <cx:pt idx="2373">6270.6182076974274</cx:pt>
          <cx:pt idx="2374">7299.9433525699469</cx:pt>
          <cx:pt idx="2375">5544.4555345384661</cx:pt>
          <cx:pt idx="2376">6901.4217995433874</cx:pt>
          <cx:pt idx="2377">6517.6242030059757</cx:pt>
          <cx:pt idx="2378">6475.960971857261</cx:pt>
          <cx:pt idx="2379">6629.6692840651485</cx:pt>
          <cx:pt idx="2380">5645.3707553721051</cx:pt>
          <cx:pt idx="2381">7904.1640824318338</cx:pt>
          <cx:pt idx="2382">6893.516177620073</cx:pt>
          <cx:pt idx="2383">6498.0289854241046</cx:pt>
          <cx:pt idx="2384">6356.0424451459503</cx:pt>
          <cx:pt idx="2385">8236.2866094211549</cx:pt>
          <cx:pt idx="2386">6272.3278545917692</cx:pt>
          <cx:pt idx="2387">7189.5159798690147</cx:pt>
          <cx:pt idx="2388">7446.9367917797936</cx:pt>
          <cx:pt idx="2389">6907.5826855724335</cx:pt>
          <cx:pt idx="2390">7260.5125615115267</cx:pt>
          <cx:pt idx="2391">7577.931900805871</cx:pt>
          <cx:pt idx="2392">7530.9959354969742</cx:pt>
          <cx:pt idx="2393">6946.4535237235923</cx:pt>
          <cx:pt idx="2394">7292.6173480093694</cx:pt>
          <cx:pt idx="2395">6769.430030885931</cx:pt>
          <cx:pt idx="2396">6562.1992572365361</cx:pt>
          <cx:pt idx="2397">8311.8099550326497</cx:pt>
          <cx:pt idx="2398">7068.9240688348382</cx:pt>
          <cx:pt idx="2399">5883.6788723825421</cx:pt>
          <cx:pt idx="2400">5883.0444577995331</cx:pt>
          <cx:pt idx="2401">6638.8873771675289</cx:pt>
          <cx:pt idx="2402">6785.5415365444278</cx:pt>
          <cx:pt idx="2403">7798.4935022888812</cx:pt>
          <cx:pt idx="2404">5944.3160751053911</cx:pt>
          <cx:pt idx="2405">6278.3924106246313</cx:pt>
          <cx:pt idx="2406">7420.8644403301214</cx:pt>
          <cx:pt idx="2407">7966.1697993085045</cx:pt>
          <cx:pt idx="2408">7566.2677419822094</cx:pt>
          <cx:pt idx="2409">7054.0889386490426</cx:pt>
          <cx:pt idx="2410">5385.1694453504015</cx:pt>
          <cx:pt idx="2411">6707.6611022999787</cx:pt>
          <cx:pt idx="2412">5410.0893953619252</cx:pt>
          <cx:pt idx="2413">6326.0983187892743</cx:pt>
          <cx:pt idx="2414">5696.3582489475857</cx:pt>
          <cx:pt idx="2415">7863.2818253211399</cx:pt>
          <cx:pt idx="2416">7863.2942541315542</cx:pt>
          <cx:pt idx="2417">7555.2868761130148</cx:pt>
          <cx:pt idx="2418">5533.9392527327054</cx:pt>
          <cx:pt idx="2419">7046.9935486048344</cx:pt>
          <cx:pt idx="2420">5969.4596768172032</cx:pt>
          <cx:pt idx="2421">7361.3465093747072</cx:pt>
          <cx:pt idx="2422">7628.2499123969792</cx:pt>
          <cx:pt idx="2423">7756.5299213261051</cx:pt>
          <cx:pt idx="2424">6883.7900967454061</cx:pt>
          <cx:pt idx="2425">5915.2984915024253</cx:pt>
          <cx:pt idx="2426">7380.6695996804046</cx:pt>
          <cx:pt idx="2427">5440.5335167679887</cx:pt>
          <cx:pt idx="2428">5660.0991563288881</cx:pt>
          <cx:pt idx="2429">7181.504308248358</cx:pt>
          <cx:pt idx="2430">6962.7335193111066</cx:pt>
          <cx:pt idx="2431">6824.2079173416751</cx:pt>
          <cx:pt idx="2432">7400.3609601743392</cx:pt>
          <cx:pt idx="2433">7766.104465485324</cx:pt>
          <cx:pt idx="2434">6636.8392245126925</cx:pt>
          <cx:pt idx="2435">6849.8074495283281</cx:pt>
          <cx:pt idx="2436">7914.0436793026183</cx:pt>
          <cx:pt idx="2437">7158.6202935229903</cx:pt>
          <cx:pt idx="2438">7477.153051458763</cx:pt>
          <cx:pt idx="2439">7544.8103710832111</cx:pt>
          <cx:pt idx="2440">6972.726419330741</cx:pt>
          <cx:pt idx="2441">6767.0959353326671</cx:pt>
          <cx:pt idx="2442">6202.3392825594983</cx:pt>
          <cx:pt idx="2443">6840.6524879886147</cx:pt>
          <cx:pt idx="2444">7267.9273990195525</cx:pt>
          <cx:pt idx="2445">6875.0369026031394</cx:pt>
          <cx:pt idx="2446">6049.9371115458016</cx:pt>
          <cx:pt idx="2447">6643.5122943092929</cx:pt>
          <cx:pt idx="2448">6609.2490000937414</cx:pt>
          <cx:pt idx="2449">5718.9594979729063</cx:pt>
          <cx:pt idx="2450">7241.6037727365938</cx:pt>
          <cx:pt idx="2451">7096.1491340602734</cx:pt>
          <cx:pt idx="2452">6550.8894190393848</cx:pt>
          <cx:pt idx="2453">5858.0569895679337</cx:pt>
          <cx:pt idx="2454">5906.6941365486882</cx:pt>
          <cx:pt idx="2455">5231.1571902754404</cx:pt>
          <cx:pt idx="2456">6763.2247715037247</cx:pt>
          <cx:pt idx="2457">7955.8038350903325</cx:pt>
          <cx:pt idx="2458">6850.1668513834447</cx:pt>
          <cx:pt idx="2459">7412.5788495731731</cx:pt>
          <cx:pt idx="2460">5602.8364730237718</cx:pt>
          <cx:pt idx="2461">6665.4902080179218</cx:pt>
          <cx:pt idx="2462">7530.4987842094797</cx:pt>
          <cx:pt idx="2463">5932.0736788749991</cx:pt>
          <cx:pt idx="2464">7276.3123137585417</cx:pt>
          <cx:pt idx="2465">7787.3559830328195</cx:pt>
          <cx:pt idx="2466">7154.6062551187015</cx:pt>
          <cx:pt idx="2467">7914.4338960987434</cx:pt>
          <cx:pt idx="2468">7720.5028911569834</cx:pt>
          <cx:pt idx="2469">7193.9732191206786</cx:pt>
          <cx:pt idx="2470">6824.5449374330983</cx:pt>
          <cx:pt idx="2471">7519.3888411617518</cx:pt>
          <cx:pt idx="2472">6636.1458189347004</cx:pt>
          <cx:pt idx="2473">6391.1142714687921</cx:pt>
          <cx:pt idx="2474">7450.9097557138539</cx:pt>
          <cx:pt idx="2475">7569.8361440499484</cx:pt>
          <cx:pt idx="2476">5509.1352742152867</cx:pt>
          <cx:pt idx="2477">8201.3734544537419</cx:pt>
          <cx:pt idx="2478">5355.9744180878961</cx:pt>
          <cx:pt idx="2479">5815.5643892421276</cx:pt>
          <cx:pt idx="2480">6725.0093413854302</cx:pt>
          <cx:pt idx="2481">6569.7619298458958</cx:pt>
          <cx:pt idx="2482">6646.1904463483197</cx:pt>
          <cx:pt idx="2483">6381.8631645397491</cx:pt>
          <cx:pt idx="2484">6545.3254085473673</cx:pt>
          <cx:pt idx="2485">8338.8763912096329</cx:pt>
          <cx:pt idx="2486">7652.6020265624884</cx:pt>
          <cx:pt idx="2487">6819.7080830784744</cx:pt>
          <cx:pt idx="2488">4765.5302941291866</cx:pt>
          <cx:pt idx="2489">7144.2735092062476</cx:pt>
          <cx:pt idx="2490">6549.7191407615828</cx:pt>
          <cx:pt idx="2491">6388.3031931402238</cx:pt>
          <cx:pt idx="2492">7188.9865060714892</cx:pt>
          <cx:pt idx="2493">6059.5820627176035</cx:pt>
          <cx:pt idx="2494">5997.0785247547146</cx:pt>
          <cx:pt idx="2495">5435.8019938868001</cx:pt>
          <cx:pt idx="2496">7154.24267920293</cx:pt>
          <cx:pt idx="2497">6905.3328497605953</cx:pt>
          <cx:pt idx="2498">7429.3071715302458</cx:pt>
          <cx:pt idx="2499">5866.9873544049769</cx:pt>
          <cx:pt idx="2500">6865.3082781169142</cx:pt>
          <cx:pt idx="2501">6569.0693924388042</cx:pt>
          <cx:pt idx="2502">7673.2521889602704</cx:pt>
          <cx:pt idx="2503">7146.1457519463866</cx:pt>
          <cx:pt idx="2504">7812.9706535176465</cx:pt>
          <cx:pt idx="2505">7656.2293304703071</cx:pt>
          <cx:pt idx="2506">5464.2200614022995</cx:pt>
          <cx:pt idx="2507">5548.657366231565</cx:pt>
          <cx:pt idx="2508">7311.532166983262</cx:pt>
          <cx:pt idx="2509">7877.36352032989</cx:pt>
          <cx:pt idx="2510">7143.983637999876</cx:pt>
          <cx:pt idx="2511">6141.7116875143493</cx:pt>
          <cx:pt idx="2512">6736.4366281935409</cx:pt>
          <cx:pt idx="2513">5440.2615886005624</cx:pt>
          <cx:pt idx="2514">7725.6901462151573</cx:pt>
          <cx:pt idx="2515">6920.5801234849541</cx:pt>
          <cx:pt idx="2516">7320.0169198261592</cx:pt>
          <cx:pt idx="2517">6403.5538460922717</cx:pt>
          <cx:pt idx="2518">7385.44265141904</cx:pt>
          <cx:pt idx="2519">6181.2181228920299</cx:pt>
          <cx:pt idx="2520">4987.2900996049048</cx:pt>
          <cx:pt idx="2521">6225.139196837622</cx:pt>
          <cx:pt idx="2522">6284.9923611063023</cx:pt>
          <cx:pt idx="2523">6741.5917357426524</cx:pt>
          <cx:pt idx="2524">5440.2585018734899</cx:pt>
          <cx:pt idx="2525">7873.5774363833189</cx:pt>
          <cx:pt idx="2526">6417.1744818922116</cx:pt>
          <cx:pt idx="2527">5370.1580317211683</cx:pt>
          <cx:pt idx="2528">6951.3097700274966</cx:pt>
          <cx:pt idx="2529">7634.6938857237674</cx:pt>
          <cx:pt idx="2530">6694.2035855169797</cx:pt>
          <cx:pt idx="2531">6195.1407836818071</cx:pt>
          <cx:pt idx="2532">5444.7023231677686</cx:pt>
          <cx:pt idx="2533">4891.2015040322694</cx:pt>
          <cx:pt idx="2534">7256.0392936744829</cx:pt>
          <cx:pt idx="2535">6080.6037383367338</cx:pt>
          <cx:pt idx="2536">8145.459612826493</cx:pt>
          <cx:pt idx="2537">5689.210723724017</cx:pt>
          <cx:pt idx="2538">7066.7178970416771</cx:pt>
          <cx:pt idx="2539">6212.1014712684655</cx:pt>
          <cx:pt idx="2540">6374.1090870630296</cx:pt>
          <cx:pt idx="2541">6279.6010948938747</cx:pt>
          <cx:pt idx="2542">5911.966892995526</cx:pt>
          <cx:pt idx="2543">7208.6043428400208</cx:pt>
          <cx:pt idx="2544">7853.6956393310538</cx:pt>
          <cx:pt idx="2545">5575.1851214860435</cx:pt>
          <cx:pt idx="2546">6376.4711642529255</cx:pt>
          <cx:pt idx="2547">5630.1106949090308</cx:pt>
          <cx:pt idx="2548">7385.4684645179477</cx:pt>
          <cx:pt idx="2549">6336.9045703852307</cx:pt>
          <cx:pt idx="2550">7001.9950097637466</cx:pt>
          <cx:pt idx="2551">7584.4816141540323</cx:pt>
          <cx:pt idx="2552">6901.2479051334194</cx:pt>
          <cx:pt idx="2553">6670.2457790037861</cx:pt>
          <cx:pt idx="2554">6826.2943241239554</cx:pt>
          <cx:pt idx="2555">6507.9607128935868</cx:pt>
          <cx:pt idx="2556">7780.6994577490641</cx:pt>
          <cx:pt idx="2557">6165.5140574381658</cx:pt>
          <cx:pt idx="2558">6546.0406851628377</cx:pt>
          <cx:pt idx="2559">6828.4908107781312</cx:pt>
          <cx:pt idx="2560">7823.995726910247</cx:pt>
          <cx:pt idx="2561">6756.957885012549</cx:pt>
          <cx:pt idx="2562">7984.7934518256543</cx:pt>
          <cx:pt idx="2563">7127.4486280470892</cx:pt>
          <cx:pt idx="2564">8606.9955242980632</cx:pt>
          <cx:pt idx="2565">7011.6157198905066</cx:pt>
          <cx:pt idx="2566">6897.0821340859084</cx:pt>
          <cx:pt idx="2567">7324.5280106070286</cx:pt>
          <cx:pt idx="2568">7374.9251190045561</cx:pt>
          <cx:pt idx="2569">6231.5971758967198</cx:pt>
          <cx:pt idx="2570">6735.8123627882114</cx:pt>
          <cx:pt idx="2571">6770.8047696407866</cx:pt>
          <cx:pt idx="2572">6859.6685312151667</cx:pt>
          <cx:pt idx="2573">4792.996058189502</cx:pt>
          <cx:pt idx="2574">6391.516239013009</cx:pt>
          <cx:pt idx="2575">7436.6553589790574</cx:pt>
          <cx:pt idx="2576">8664.5373612206586</cx:pt>
          <cx:pt idx="2577">7711.7391392431291</cx:pt>
          <cx:pt idx="2578">4902.0056345427383</cx:pt>
          <cx:pt idx="2579">6525.770870684878</cx:pt>
          <cx:pt idx="2580">7499.0968308580696</cx:pt>
          <cx:pt idx="2581">8239.1534548992058</cx:pt>
          <cx:pt idx="2582">5549.8892528666584</cx:pt>
          <cx:pt idx="2583">7889.0321262203979</cx:pt>
          <cx:pt idx="2584">7045.0020904047678</cx:pt>
          <cx:pt idx="2585">7159.2621147594045</cx:pt>
          <cx:pt idx="2586">6584.9745921871809</cx:pt>
          <cx:pt idx="2587">6318.0936616683448</cx:pt>
          <cx:pt idx="2588">7033.7099887129898</cx:pt>
          <cx:pt idx="2589">4583.4833343940963</cx:pt>
          <cx:pt idx="2590">4900.8211637971835</cx:pt>
          <cx:pt idx="2591">7974.1892572253228</cx:pt>
          <cx:pt idx="2592">7278.4462017027827</cx:pt>
          <cx:pt idx="2593">7138.0546823355262</cx:pt>
          <cx:pt idx="2594">6552.1403186935759</cx:pt>
          <cx:pt idx="2595">7390.0020828232364</cx:pt>
          <cx:pt idx="2596">7369.9553664325176</cx:pt>
          <cx:pt idx="2597">7087.1734226685739</cx:pt>
          <cx:pt idx="2598">7638.5798067508658</cx:pt>
          <cx:pt idx="2599">5066.9635778514357</cx:pt>
          <cx:pt idx="2600">6962.0194681436433</cx:pt>
          <cx:pt idx="2601">7103.2120046710261</cx:pt>
          <cx:pt idx="2602">6332.1528047517941</cx:pt>
          <cx:pt idx="2603">7082.9945305320744</cx:pt>
          <cx:pt idx="2604">6779.8126113457101</cx:pt>
          <cx:pt idx="2605">6778.1411697487702</cx:pt>
          <cx:pt idx="2606">7595.3312582920171</cx:pt>
          <cx:pt idx="2607">6283.6661137477531</cx:pt>
          <cx:pt idx="2608">6957.3625895346322</cx:pt>
          <cx:pt idx="2609">7441.5518799424508</cx:pt>
          <cx:pt idx="2610">6666.2028200738232</cx:pt>
          <cx:pt idx="2611">7678.7880439660621</cx:pt>
          <cx:pt idx="2612">5158.3536322697455</cx:pt>
          <cx:pt idx="2613">6632.9963339375627</cx:pt>
          <cx:pt idx="2614">5532.2775704089181</cx:pt>
          <cx:pt idx="2615">7006.9290335296582</cx:pt>
          <cx:pt idx="2616">7053.5375667603121</cx:pt>
          <cx:pt idx="2617">6419.0337760375414</cx:pt>
          <cx:pt idx="2618">6788.9899502129911</cx:pt>
          <cx:pt idx="2619">7051.9216805770275</cx:pt>
          <cx:pt idx="2620">8408.2975428012323</cx:pt>
          <cx:pt idx="2621">7681.6303356844783</cx:pt>
          <cx:pt idx="2622">7422.3050713749972</cx:pt>
          <cx:pt idx="2623">6110.7785107084492</cx:pt>
          <cx:pt idx="2624">5899.2016126207482</cx:pt>
          <cx:pt idx="2625">8409.7523807569032</cx:pt>
          <cx:pt idx="2626">7227.811971312417</cx:pt>
          <cx:pt idx="2627">8186.5574377292869</cx:pt>
          <cx:pt idx="2628">7157.9760297211487</cx:pt>
          <cx:pt idx="2629">6397.6509138118208</cx:pt>
          <cx:pt idx="2630">6318.97224492029</cx:pt>
          <cx:pt idx="2631">7233.7446943322639</cx:pt>
          <cx:pt idx="2632">6881.6030507458445</cx:pt>
          <cx:pt idx="2633">8084.6440699635841</cx:pt>
          <cx:pt idx="2634">5367.9850032077429</cx:pt>
          <cx:pt idx="2635">6866.1135016903136</cx:pt>
          <cx:pt idx="2636">7273.5953958280179</cx:pt>
          <cx:pt idx="2637">6959.7523847155144</cx:pt>
          <cx:pt idx="2638">6511.6142551438079</cx:pt>
          <cx:pt idx="2639">6359.584144516718</cx:pt>
          <cx:pt idx="2640">6266.4164725556411</cx:pt>
          <cx:pt idx="2641">5629.3910538712189</cx:pt>
          <cx:pt idx="2642">7521.0292555793121</cx:pt>
          <cx:pt idx="2643">6929.8864553596304</cx:pt>
          <cx:pt idx="2644">6973.9422443945459</cx:pt>
          <cx:pt idx="2645">6878.2053063429212</cx:pt>
          <cx:pt idx="2646">7439.3262557279068</cx:pt>
          <cx:pt idx="2647">6350.6405447529723</cx:pt>
          <cx:pt idx="2648">7188.8369811490747</cx:pt>
          <cx:pt idx="2649">6615.4517483500022</cx:pt>
          <cx:pt idx="2650">7300.3194452172847</cx:pt>
          <cx:pt idx="2651">6087.8579069881744</cx:pt>
          <cx:pt idx="2652">6995.0882419427317</cx:pt>
          <cx:pt idx="2653">7770.1944330571559</cx:pt>
          <cx:pt idx="2654">6666.9928833241847</cx:pt>
          <cx:pt idx="2655">6861.1146404939236</cx:pt>
          <cx:pt idx="2656">7309.5607999084068</cx:pt>
          <cx:pt idx="2657">5599.5652368944911</cx:pt>
          <cx:pt idx="2658">7196.2548903673523</cx:pt>
          <cx:pt idx="2659">7419.7096504933779</cx:pt>
          <cx:pt idx="2660">6033.4200382191284</cx:pt>
          <cx:pt idx="2661">6603.5671233662661</cx:pt>
          <cx:pt idx="2662">7662.2586921410957</cx:pt>
          <cx:pt idx="2663">7379.1750871413087</cx:pt>
          <cx:pt idx="2664">7799.3549410737787</cx:pt>
          <cx:pt idx="2665">7815.9654737413712</cx:pt>
          <cx:pt idx="2666">5945.9178515411431</cx:pt>
          <cx:pt idx="2667">7135.7553723641286</cx:pt>
          <cx:pt idx="2668">6857.6774599486089</cx:pt>
          <cx:pt idx="2669">6613.8667985638958</cx:pt>
          <cx:pt idx="2670">6800.6705751809941</cx:pt>
          <cx:pt idx="2671">7365.2155896181866</cx:pt>
          <cx:pt idx="2672">7431.7958904401758</cx:pt>
          <cx:pt idx="2673">7714.8190834349234</cx:pt>
          <cx:pt idx="2674">7148.1121685506268</cx:pt>
          <cx:pt idx="2675">8943.7655866676832</cx:pt>
          <cx:pt idx="2676">7349.8748226839025</cx:pt>
          <cx:pt idx="2677">6834.3580815355153</cx:pt>
          <cx:pt idx="2678">7687.5104877123667</cx:pt>
          <cx:pt idx="2679">7059.9632843073723</cx:pt>
          <cx:pt idx="2680">5335.1711184122178</cx:pt>
          <cx:pt idx="2681">7762.222598856828</cx:pt>
          <cx:pt idx="2682">5741.0652397404128</cx:pt>
          <cx:pt idx="2683">7190.401048098227</cx:pt>
          <cx:pt idx="2684">4881.0056648984737</cx:pt>
          <cx:pt idx="2685">6642.6104809916906</cx:pt>
          <cx:pt idx="2686">6762.7435831873709</cx:pt>
          <cx:pt idx="2687">6902.3553670601868</cx:pt>
          <cx:pt idx="2688">7082.6211436546128</cx:pt>
          <cx:pt idx="2689">5379.6559909645694</cx:pt>
          <cx:pt idx="2690">6471.1857667051036</cx:pt>
          <cx:pt idx="2691">6861.7076072492955</cx:pt>
          <cx:pt idx="2692">7227.2840317667815</cx:pt>
          <cx:pt idx="2693">6875.8716179294061</cx:pt>
          <cx:pt idx="2694">6617.9995330838256</cx:pt>
          <cx:pt idx="2695">8015.0758901938379</cx:pt>
          <cx:pt idx="2696">8524.4617943441208</cx:pt>
          <cx:pt idx="2697">7428.5961944005358</cx:pt>
          <cx:pt idx="2698">6228.2874304441957</cx:pt>
          <cx:pt idx="2699">6592.9672577481488</cx:pt>
          <cx:pt idx="2700">6702.0241999439513</cx:pt>
          <cx:pt idx="2701">8029.279901265375</cx:pt>
          <cx:pt idx="2702">7065.0960803484732</cx:pt>
          <cx:pt idx="2703">5690.1914257339158</cx:pt>
          <cx:pt idx="2704">5853.2582702379668</cx:pt>
          <cx:pt idx="2705">6004.8125358063699</cx:pt>
          <cx:pt idx="2706">6377.5579573703462</cx:pt>
          <cx:pt idx="2707">7414.4360228601872</cx:pt>
          <cx:pt idx="2708">5896.5662870186115</cx:pt>
          <cx:pt idx="2709">6971.2759459886138</cx:pt>
          <cx:pt idx="2710">5528.9296687038768</cx:pt>
          <cx:pt idx="2711">7678.7452941563388</cx:pt>
          <cx:pt idx="2712">7116.9994201809959</cx:pt>
          <cx:pt idx="2713">6186.1648636261962</cx:pt>
          <cx:pt idx="2714">7704.9911893365143</cx:pt>
          <cx:pt idx="2715">7372.6883968860038</cx:pt>
          <cx:pt idx="2716">7629.7924051168748</cx:pt>
          <cx:pt idx="2717">7459.7134457503989</cx:pt>
          <cx:pt idx="2718">6983.2626087963754</cx:pt>
          <cx:pt idx="2719">7593.0629085820819</cx:pt>
          <cx:pt idx="2720">7121.5255156761859</cx:pt>
          <cx:pt idx="2721">6063.1261699467414</cx:pt>
          <cx:pt idx="2722">7463.0934761809312</cx:pt>
          <cx:pt idx="2723">7429.0069649806146</cx:pt>
          <cx:pt idx="2724">5588.1927823752649</cx:pt>
          <cx:pt idx="2725">7502.6919086410917</cx:pt>
          <cx:pt idx="2726">6832.000316046192</cx:pt>
          <cx:pt idx="2727">5408.5377897190165</cx:pt>
          <cx:pt idx="2728">6742.693796480683</cx:pt>
          <cx:pt idx="2729">7159.6147262097938</cx:pt>
          <cx:pt idx="2730">7824.0793273508698</cx:pt>
          <cx:pt idx="2731">6364.6917889169272</cx:pt>
          <cx:pt idx="2732">7295.1233380358899</cx:pt>
          <cx:pt idx="2733">7700.673968730307</cx:pt>
          <cx:pt idx="2734">7308.3811366638511</cx:pt>
          <cx:pt idx="2735">6839.2441772118045</cx:pt>
          <cx:pt idx="2736">7312.5735281778707</cx:pt>
          <cx:pt idx="2737">6767.2675499689676</cx:pt>
          <cx:pt idx="2738">7593.5328133490675</cx:pt>
          <cx:pt idx="2739">7342.2587363863076</cx:pt>
          <cx:pt idx="2740">8103.942816331366</cx:pt>
          <cx:pt idx="2741">7594.8956297357345</cx:pt>
          <cx:pt idx="2742">7658.9681411327674</cx:pt>
          <cx:pt idx="2743">7364.1175884779623</cx:pt>
          <cx:pt idx="2744">7639.3356820841382</cx:pt>
          <cx:pt idx="2745">6121.3994292602038</cx:pt>
          <cx:pt idx="2746">6692.0976637803942</cx:pt>
          <cx:pt idx="2747">7442.9852343304956</cx:pt>
          <cx:pt idx="2748">6596.6993577632538</cx:pt>
          <cx:pt idx="2749">5908.6644763926897</cx:pt>
          <cx:pt idx="2750">7406.4560901735131</cx:pt>
          <cx:pt idx="2751">7608.0173871190791</cx:pt>
          <cx:pt idx="2752">7394.1834535434527</cx:pt>
          <cx:pt idx="2753">7158.6406457025687</cx:pt>
          <cx:pt idx="2754">6074.1599124339918</cx:pt>
          <cx:pt idx="2755">8395.2275107519436</cx:pt>
          <cx:pt idx="2756">7153.1226373983063</cx:pt>
          <cx:pt idx="2757">7328.6166166522044</cx:pt>
          <cx:pt idx="2758">8107.8328485710572</cx:pt>
          <cx:pt idx="2759">7406.7243959722191</cx:pt>
          <cx:pt idx="2760">6329.5146238488087</cx:pt>
          <cx:pt idx="2761">7603.0221576048771</cx:pt>
          <cx:pt idx="2762">7470.1382057633782</cx:pt>
          <cx:pt idx="2763">7129.7792613560468</cx:pt>
          <cx:pt idx="2764">7802.2785005145452</cx:pt>
          <cx:pt idx="2765">8476.5691058597749</cx:pt>
          <cx:pt idx="2766">6416.6137075503739</cx:pt>
          <cx:pt idx="2767">7355.230223435834</cx:pt>
          <cx:pt idx="2768">7528.4077525013454</cx:pt>
          <cx:pt idx="2769">7254.6975028201896</cx:pt>
          <cx:pt idx="2770">7417.697320062236</cx:pt>
          <cx:pt idx="2771">7085.8072748704571</cx:pt>
          <cx:pt idx="2772">8004.5727742282706</cx:pt>
          <cx:pt idx="2773">7715.2965169094768</cx:pt>
          <cx:pt idx="2774">5938.2937438902709</cx:pt>
          <cx:pt idx="2775">7356.8451310152286</cx:pt>
          <cx:pt idx="2776">7088.397176451529</cx:pt>
          <cx:pt idx="2777">6877.5427421107916</cx:pt>
          <cx:pt idx="2778">7159.6313300914999</cx:pt>
          <cx:pt idx="2779">7659.4620176252183</cx:pt>
          <cx:pt idx="2780">5860.3853596970284</cx:pt>
          <cx:pt idx="2781">7461.3097505975184</cx:pt>
          <cx:pt idx="2782">7004.5242270582658</cx:pt>
          <cx:pt idx="2783">8119.3862696183751</cx:pt>
          <cx:pt idx="2784">6840.0842693140239</cx:pt>
          <cx:pt idx="2785">6312.7843567456293</cx:pt>
          <cx:pt idx="2786">7087.1568228047036</cx:pt>
          <cx:pt idx="2787">6720.3760894870029</cx:pt>
          <cx:pt idx="2788">5691.5260307116941</cx:pt>
          <cx:pt idx="2789">6872.6889295170613</cx:pt>
          <cx:pt idx="2790">7548.8553334331828</cx:pt>
          <cx:pt idx="2791">6834.9840861960556</cx:pt>
          <cx:pt idx="2792">6136.4633254551527</cx:pt>
          <cx:pt idx="2793">7027.3972278037454</cx:pt>
          <cx:pt idx="2794">6980.4901917308343</cx:pt>
          <cx:pt idx="2795">7403.4946790820877</cx:pt>
          <cx:pt idx="2796">4338.02272484491</cx:pt>
          <cx:pt idx="2797">7091.1436362397171</cx:pt>
          <cx:pt idx="2798">6752.502979012691</cx:pt>
          <cx:pt idx="2799">6378.5347606099867</cx:pt>
          <cx:pt idx="2800">6712.2100770694788</cx:pt>
          <cx:pt idx="2801">6261.2090782920495</cx:pt>
          <cx:pt idx="2802">6401.0180450512689</cx:pt>
          <cx:pt idx="2803">6858.6917477817824</cx:pt>
          <cx:pt idx="2804">6774.6584417391769</cx:pt>
          <cx:pt idx="2805">7544.8843216862961</cx:pt>
          <cx:pt idx="2806">5551.3479544993179</cx:pt>
          <cx:pt idx="2807">8112.1188593223496</cx:pt>
          <cx:pt idx="2808">7507.3549739783284</cx:pt>
          <cx:pt idx="2809">7582.2592951318338</cx:pt>
          <cx:pt idx="2810">6935.4928281452767</cx:pt>
          <cx:pt idx="2811">7576.2596598562968</cx:pt>
          <cx:pt idx="2812">7386.4657482432867</cx:pt>
          <cx:pt idx="2813">7358.9185609949509</cx:pt>
          <cx:pt idx="2814">8353.4105369401987</cx:pt>
          <cx:pt idx="2815">5355.8542690069062</cx:pt>
          <cx:pt idx="2816">4934.7289164269487</cx:pt>
          <cx:pt idx="2817">7821.4366005537222</cx:pt>
          <cx:pt idx="2818">7575.2700960064012</cx:pt>
          <cx:pt idx="2819">6569.8734173993971</cx:pt>
          <cx:pt idx="2820">7107.013621684021</cx:pt>
          <cx:pt idx="2821">6048.2978406949351</cx:pt>
          <cx:pt idx="2822">7760.6536411104807</cx:pt>
          <cx:pt idx="2823">7086.0777643466972</cx:pt>
          <cx:pt idx="2824">6572.270604173892</cx:pt>
          <cx:pt idx="2825">7637.4370377322457</cx:pt>
          <cx:pt idx="2826">5969.6555923790493</cx:pt>
          <cx:pt idx="2827">6722.7534767804036</cx:pt>
          <cx:pt idx="2828">7304.5791899824708</cx:pt>
          <cx:pt idx="2829">6210.5225782587277</cx:pt>
          <cx:pt idx="2830">8014.1834522690042</cx:pt>
          <cx:pt idx="2831">7018.313675575052</cx:pt>
          <cx:pt idx="2832">6160.3038583739108</cx:pt>
          <cx:pt idx="2833">7822.7532757220661</cx:pt>
          <cx:pt idx="2834">6888.9344290055378</cx:pt>
          <cx:pt idx="2835">7660.9771490017565</cx:pt>
          <cx:pt idx="2836">7592.7688963493765</cx:pt>
          <cx:pt idx="2837">7369.2614064960508</cx:pt>
          <cx:pt idx="2838">6832.4239432886652</cx:pt>
          <cx:pt idx="2839">6642.048191117492</cx:pt>
          <cx:pt idx="2840">6054.6640713288825</cx:pt>
          <cx:pt idx="2841">6121.1340981640733</cx:pt>
          <cx:pt idx="2842">7678.0606695624456</cx:pt>
          <cx:pt idx="2843">7345.0861380255938</cx:pt>
          <cx:pt idx="2844">7626.2775008733879</cx:pt>
          <cx:pt idx="2845">6782.827782110865</cx:pt>
          <cx:pt idx="2846">6731.329280656535</cx:pt>
          <cx:pt idx="2847">6710.0219653961949</cx:pt>
          <cx:pt idx="2848">6692.6665357128377</cx:pt>
          <cx:pt idx="2849">6994.9967590681817</cx:pt>
          <cx:pt idx="2850">6427.1746017107571</cx:pt>
          <cx:pt idx="2851">6164.9145257821492</cx:pt>
          <cx:pt idx="2852">7707.5427534291266</cx:pt>
          <cx:pt idx="2853">7934.9524177586054</cx:pt>
          <cx:pt idx="2854">7094.7361210375329</cx:pt>
          <cx:pt idx="2855">7312.8310658575401</cx:pt>
          <cx:pt idx="2856">7675.2802861844957</cx:pt>
          <cx:pt idx="2857">6935.2496457871875</cx:pt>
          <cx:pt idx="2858">5604.4783055219632</cx:pt>
          <cx:pt idx="2859">7520.4302740426783</cx:pt>
          <cx:pt idx="2860">7965.9195594885741</cx:pt>
          <cx:pt idx="2861">6481.8994546286413</cx:pt>
          <cx:pt idx="2862">8085.5121632911596</cx:pt>
          <cx:pt idx="2863">7213.7842801846682</cx:pt>
          <cx:pt idx="2864">6499.175973405002</cx:pt>
          <cx:pt idx="2865">7366.2141280902406</cx:pt>
          <cx:pt idx="2866">8063.2050537751202</cx:pt>
          <cx:pt idx="2867">7808.5620493555125</cx:pt>
          <cx:pt idx="2868">6842.7560889947144</cx:pt>
          <cx:pt idx="2869">5597.1624742029817</cx:pt>
          <cx:pt idx="2870">7730.7422466432927</cx:pt>
          <cx:pt idx="2871">6316.2154738527806</cx:pt>
          <cx:pt idx="2872">6796.1035548095524</cx:pt>
          <cx:pt idx="2873">5649.1456617206841</cx:pt>
          <cx:pt idx="2874">7381.8451168982565</cx:pt>
          <cx:pt idx="2875">4794.5820582912911</cx:pt>
          <cx:pt idx="2876">4913.7447191135243</cx:pt>
          <cx:pt idx="2877">7888.0522479145502</cx:pt>
          <cx:pt idx="2878">7773.1176395401417</cx:pt>
          <cx:pt idx="2879">7728.1282610625967</cx:pt>
          <cx:pt idx="2880">6264.5480164391174</cx:pt>
          <cx:pt idx="2881">5813.8461293953933</cx:pt>
          <cx:pt idx="2882">6591.4735885256268</cx:pt>
          <cx:pt idx="2883">7152.7484791999996</cx:pt>
          <cx:pt idx="2884">7282.8505813864094</cx:pt>
          <cx:pt idx="2885">7114.873240915219</cx:pt>
          <cx:pt idx="2886">6576.1561212787337</cx:pt>
          <cx:pt idx="2887">7555.0601266791109</cx:pt>
          <cx:pt idx="2888">5738.6641649687836</cx:pt>
          <cx:pt idx="2889">5916.12717178606</cx:pt>
          <cx:pt idx="2890">6155.8821755961953</cx:pt>
          <cx:pt idx="2891">7634.16973837151</cx:pt>
          <cx:pt idx="2892">7701.7610301681225</cx:pt>
          <cx:pt idx="2893">7870.5917937573713</cx:pt>
          <cx:pt idx="2894">6692.2235511559647</cx:pt>
          <cx:pt idx="2895">6782.002706229021</cx:pt>
          <cx:pt idx="2896">6896.1902442588089</cx:pt>
          <cx:pt idx="2897">7593.1243308871217</cx:pt>
          <cx:pt idx="2898">7072.0780979546616</cx:pt>
          <cx:pt idx="2899">5635.9823380281914</cx:pt>
          <cx:pt idx="2900">6209.4641063048985</cx:pt>
          <cx:pt idx="2901">8083.537372476294</cx:pt>
          <cx:pt idx="2902">6712.1184766341576</cx:pt>
          <cx:pt idx="2903">6256.6670775260072</cx:pt>
          <cx:pt idx="2904">6581.6425548131074</cx:pt>
          <cx:pt idx="2905">7225.5759622731484</cx:pt>
          <cx:pt idx="2906">7830.1908171142704</cx:pt>
          <cx:pt idx="2907">7921.4676529879871</cx:pt>
          <cx:pt idx="2908">6900.4040042813767</cx:pt>
          <cx:pt idx="2909">7168.9689810548571</cx:pt>
          <cx:pt idx="2910">6373.9459165321077</cx:pt>
          <cx:pt idx="2911">5636.220019382894</cx:pt>
          <cx:pt idx="2912">5734.8659157538177</cx:pt>
          <cx:pt idx="2913">5598.9071435431724</cx:pt>
          <cx:pt idx="2914">7360.7458617727279</cx:pt>
          <cx:pt idx="2915">6819.6738799572613</cx:pt>
          <cx:pt idx="2916">7130.444915856152</cx:pt>
          <cx:pt idx="2917">7979.3265540376724</cx:pt>
          <cx:pt idx="2918">8250.4679800735994</cx:pt>
          <cx:pt idx="2919">5934.9871729805482</cx:pt>
          <cx:pt idx="2920">5583.0350079019863</cx:pt>
          <cx:pt idx="2921">5931.8847936033044</cx:pt>
          <cx:pt idx="2922">6800.6532888981637</cx:pt>
          <cx:pt idx="2923">6418.6457685683381</cx:pt>
          <cx:pt idx="2924">7800.7444520437029</cx:pt>
          <cx:pt idx="2925">5321.0378820832775</cx:pt>
          <cx:pt idx="2926">6838.2312083794914</cx:pt>
          <cx:pt idx="2927">5842.4173066168105</cx:pt>
          <cx:pt idx="2928">6622.8929796880266</cx:pt>
          <cx:pt idx="2929">5892.0110656762372</cx:pt>
          <cx:pt idx="2930">7997.9297588333829</cx:pt>
          <cx:pt idx="2931">6456.8732958503488</cx:pt>
          <cx:pt idx="2932">7929.716596488769</cx:pt>
          <cx:pt idx="2933">6969.7566158196287</cx:pt>
          <cx:pt idx="2934">7485.5066274429118</cx:pt>
          <cx:pt idx="2935">7136.4806951268556</cx:pt>
          <cx:pt idx="2936">6103.4891068939824</cx:pt>
          <cx:pt idx="2937">6485.3269458745272</cx:pt>
          <cx:pt idx="2938">7713.1756570481939</cx:pt>
          <cx:pt idx="2939">6497.7410233536093</cx:pt>
          <cx:pt idx="2940">6389.9726267176884</cx:pt>
          <cx:pt idx="2941">6412.5707503278509</cx:pt>
          <cx:pt idx="2942">6564.05391780432</cx:pt>
          <cx:pt idx="2943">7049.3324266883792</cx:pt>
          <cx:pt idx="2944">8239.7157884405351</cx:pt>
          <cx:pt idx="2945">7425.8062295136406</cx:pt>
          <cx:pt idx="2946">6644.4590909514727</cx:pt>
          <cx:pt idx="2947">6963.2020161617711</cx:pt>
          <cx:pt idx="2948">6143.810532010707</cx:pt>
          <cx:pt idx="2949">7370.9440010017133</cx:pt>
          <cx:pt idx="2950">5728.8765032944884</cx:pt>
          <cx:pt idx="2951">7086.287515659903</cx:pt>
          <cx:pt idx="2952">7981.8647245908005</cx:pt>
          <cx:pt idx="2953">6658.0935867687758</cx:pt>
          <cx:pt idx="2954">6079.8416892711275</cx:pt>
          <cx:pt idx="2955">7616.337385632959</cx:pt>
          <cx:pt idx="2956">6225.6612208096658</cx:pt>
          <cx:pt idx="2957">6558.841930081222</cx:pt>
          <cx:pt idx="2958">7203.683880149023</cx:pt>
          <cx:pt idx="2959">6326.0216902372849</cx:pt>
          <cx:pt idx="2960">6290.1887395693675</cx:pt>
          <cx:pt idx="2961">6826.7934864676818</cx:pt>
          <cx:pt idx="2962">7314.841007830034</cx:pt>
          <cx:pt idx="2963">7810.5056248999381</cx:pt>
          <cx:pt idx="2964">5834.821719983237</cx:pt>
          <cx:pt idx="2965">6834.8110800652257</cx:pt>
          <cx:pt idx="2966">6963.4164530627695</cx:pt>
          <cx:pt idx="2967">6353.7410411080691</cx:pt>
          <cx:pt idx="2968">7445.3267050653139</cx:pt>
          <cx:pt idx="2969">6253.4842173223078</cx:pt>
          <cx:pt idx="2970">7566.2454150835783</cx:pt>
          <cx:pt idx="2971">6213.8446173050224</cx:pt>
          <cx:pt idx="2972">7237.101126470624</cx:pt>
          <cx:pt idx="2973">7001.3468030963832</cx:pt>
          <cx:pt idx="2974">6590.2154897173414</cx:pt>
          <cx:pt idx="2975">7863.7607877500159</cx:pt>
          <cx:pt idx="2976">4839.4853150322051</cx:pt>
          <cx:pt idx="2977">6160.5733724309093</cx:pt>
          <cx:pt idx="2978">6047.2071707497062</cx:pt>
          <cx:pt idx="2979">5521.4057125120225</cx:pt>
          <cx:pt idx="2980">6532.3045218079551</cx:pt>
          <cx:pt idx="2981">6204.7753195115583</cx:pt>
          <cx:pt idx="2982">6681.7085641002477</cx:pt>
          <cx:pt idx="2983">6829.2084721133006</cx:pt>
          <cx:pt idx="2984">5829.3166175113656</cx:pt>
          <cx:pt idx="2985">8202.7614200676417</cx:pt>
          <cx:pt idx="2986">7158.4217812918032</cx:pt>
          <cx:pt idx="2987">5554.704290112536</cx:pt>
          <cx:pt idx="2988">7124.3360336188271</cx:pt>
          <cx:pt idx="2989">7558.3220670602705</cx:pt>
          <cx:pt idx="2990">6698.3605520622177</cx:pt>
          <cx:pt idx="2991">6808.8958694177363</cx:pt>
          <cx:pt idx="2992">7759.1151388227881</cx:pt>
          <cx:pt idx="2993">5681.4686313358106</cx:pt>
          <cx:pt idx="2994">7989.31771111731</cx:pt>
          <cx:pt idx="2995">7002.5607122751708</cx:pt>
          <cx:pt idx="2996">6753.681305575964</cx:pt>
          <cx:pt idx="2997">7567.0453553635198</cx:pt>
          <cx:pt idx="2998">6367.5088218600977</cx:pt>
          <cx:pt idx="2999">6266.5593278034903</cx:pt>
          <cx:pt idx="3000">6809.1201110102866</cx:pt>
          <cx:pt idx="3001">6145.2697348190541</cx:pt>
          <cx:pt idx="3002">6453.2441214279979</cx:pt>
          <cx:pt idx="3003">7453.7584013083097</cx:pt>
          <cx:pt idx="3004">6421.7537524046247</cx:pt>
          <cx:pt idx="3005">7760.2144299768806</cx:pt>
          <cx:pt idx="3006">7070.5261405889987</cx:pt>
          <cx:pt idx="3007">7810.6633522700986</cx:pt>
          <cx:pt idx="3008">7560.0642568414505</cx:pt>
          <cx:pt idx="3009">6877.6097781813078</cx:pt>
          <cx:pt idx="3010">8070.8513154535431</cx:pt>
          <cx:pt idx="3011">6485.013588423426</cx:pt>
          <cx:pt idx="3012">5668.1806105849982</cx:pt>
          <cx:pt idx="3013">7715.1455010225072</cx:pt>
          <cx:pt idx="3014">8003.0380370681823</cx:pt>
          <cx:pt idx="3015">5917.6855685173314</cx:pt>
          <cx:pt idx="3016">6621.2301753967749</cx:pt>
          <cx:pt idx="3017">6000.8507157889135</cx:pt>
          <cx:pt idx="3018">5726.1516101430343</cx:pt>
          <cx:pt idx="3019">5565.7053744624009</cx:pt>
          <cx:pt idx="3020">6719.6355212213875</cx:pt>
          <cx:pt idx="3021">6445.0012610484673</cx:pt>
          <cx:pt idx="3022">7051.9843699609055</cx:pt>
          <cx:pt idx="3023">6130.2674268047758</cx:pt>
          <cx:pt idx="3024">6142.6434835638593</cx:pt>
          <cx:pt idx="3025">5688.4261009160746</cx:pt>
          <cx:pt idx="3026">7598.1529818473628</cx:pt>
          <cx:pt idx="3027">6975.7294616968866</cx:pt>
          <cx:pt idx="3028">7625.7877189987748</cx:pt>
          <cx:pt idx="3029">8058.9416976901675</cx:pt>
          <cx:pt idx="3030">7109.7068472317396</cx:pt>
          <cx:pt idx="3031">6400.5008161711303</cx:pt>
          <cx:pt idx="3032">7720.3904186464933</cx:pt>
          <cx:pt idx="3033">7480.5695328603106</cx:pt>
          <cx:pt idx="3034">5536.8550578213972</cx:pt>
          <cx:pt idx="3035">7791.4586792898308</cx:pt>
          <cx:pt idx="3036">6612.9383012281514</cx:pt>
          <cx:pt idx="3037">5845.8607163924989</cx:pt>
          <cx:pt idx="3038">5949.7510264443645</cx:pt>
          <cx:pt idx="3039">6516.9465807111646</cx:pt>
          <cx:pt idx="3040">6661.7542348817278</cx:pt>
          <cx:pt idx="3041">5922.040583793595</cx:pt>
          <cx:pt idx="3042">5777.7634333774786</cx:pt>
          <cx:pt idx="3043">6041.2973967391954</cx:pt>
          <cx:pt idx="3044">7210.5734348826008</cx:pt>
          <cx:pt idx="3045">8434.4317891871578</cx:pt>
          <cx:pt idx="3046">6439.8953055758375</cx:pt>
          <cx:pt idx="3047">6827.549673505061</cx:pt>
          <cx:pt idx="3048">7493.6805727630281</cx:pt>
          <cx:pt idx="3049">6892.0457518494886</cx:pt>
          <cx:pt idx="3050">7453.1777512984963</cx:pt>
          <cx:pt idx="3051">5894.4486169123056</cx:pt>
          <cx:pt idx="3052">7239.3342156415238</cx:pt>
          <cx:pt idx="3053">8145.7621779497704</cx:pt>
          <cx:pt idx="3054">6630.1438321920286</cx:pt>
          <cx:pt idx="3055">7031.6753506534787</cx:pt>
          <cx:pt idx="3056">5588.8995293242124</cx:pt>
          <cx:pt idx="3057">7181.478070954091</cx:pt>
          <cx:pt idx="3058">6719.6501787274756</cx:pt>
          <cx:pt idx="3059">7554.9728210042676</cx:pt>
          <cx:pt idx="3060">9108.3198803551641</cx:pt>
          <cx:pt idx="3061">8547.2552603343447</cx:pt>
          <cx:pt idx="3062">5493.9685791493912</cx:pt>
          <cx:pt idx="3063">6145.2352936445932</cx:pt>
          <cx:pt idx="3064">6390.7699147403009</cx:pt>
          <cx:pt idx="3065">6633.9389722815376</cx:pt>
          <cx:pt idx="3066">7682.9465562917367</cx:pt>
          <cx:pt idx="3067">7702.1708730895289</cx:pt>
          <cx:pt idx="3068">7406.6593060985824</cx:pt>
          <cx:pt idx="3069">7546.4980027029378</cx:pt>
          <cx:pt idx="3070">6936.2322822120377</cx:pt>
          <cx:pt idx="3071">7134.9837789754602</cx:pt>
          <cx:pt idx="3072">6616.2767426236369</cx:pt>
          <cx:pt idx="3073">6225.0469096502202</cx:pt>
          <cx:pt idx="3074">7649.785241742441</cx:pt>
          <cx:pt idx="3075">6012.4469220293158</cx:pt>
          <cx:pt idx="3076">6265.9567448907692</cx:pt>
          <cx:pt idx="3077">6199.5479041481412</cx:pt>
          <cx:pt idx="3078">6877.0079233636934</cx:pt>
          <cx:pt idx="3079">7583.1938209934415</cx:pt>
          <cx:pt idx="3080">7649.0844497275157</cx:pt>
          <cx:pt idx="3081">6266.9894525540203</cx:pt>
          <cx:pt idx="3082">5488.1267546659383</cx:pt>
          <cx:pt idx="3083">6204.2517186681343</cx:pt>
          <cx:pt idx="3084">7836.2652886584101</cx:pt>
          <cx:pt idx="3085">5852.852352037492</cx:pt>
          <cx:pt idx="3086">6321.2147084111521</cx:pt>
          <cx:pt idx="3087">6240.6482928688074</cx:pt>
          <cx:pt idx="3088">7642.8444149689585</cx:pt>
          <cx:pt idx="3089">7503.1058136745696</cx:pt>
          <cx:pt idx="3090">6852.8691998552003</cx:pt>
          <cx:pt idx="3091">6009.990418062368</cx:pt>
          <cx:pt idx="3092">6730.7360618261091</cx:pt>
          <cx:pt idx="3093">7249.1401586998427</cx:pt>
          <cx:pt idx="3094">6318.8452493274617</cx:pt>
          <cx:pt idx="3095">7612.1648380549213</cx:pt>
          <cx:pt idx="3096">6790.3100241964148</cx:pt>
          <cx:pt idx="3097">6703.0972198475729</cx:pt>
          <cx:pt idx="3098">7181.7624389473103</cx:pt>
          <cx:pt idx="3099">5870.8331894590719</cx:pt>
          <cx:pt idx="3100">7078.5413925326593</cx:pt>
          <cx:pt idx="3101">5602.0043845709806</cx:pt>
          <cx:pt idx="3102">6668.3325681959632</cx:pt>
          <cx:pt idx="3103">6716.5843906386935</cx:pt>
          <cx:pt idx="3104">6503.2905716236628</cx:pt>
          <cx:pt idx="3105">6431.3033390528235</cx:pt>
          <cx:pt idx="3106">6987.7858900544488</cx:pt>
          <cx:pt idx="3107">6927.0805266838333</cx:pt>
          <cx:pt idx="3108">8315.5299439241116</cx:pt>
          <cx:pt idx="3109">6673.0368326544331</cx:pt>
          <cx:pt idx="3110">6766.9046074515318</cx:pt>
          <cx:pt idx="3111">4946.2622617600464</cx:pt>
          <cx:pt idx="3112">6891.1172926972404</cx:pt>
          <cx:pt idx="3113">6704.0919859937449</cx:pt>
          <cx:pt idx="3114">5182.3164267873926</cx:pt>
          <cx:pt idx="3115">7986.2469806081681</cx:pt>
          <cx:pt idx="3116">6793.2023103014699</cx:pt>
          <cx:pt idx="3117">5568.806609521951</cx:pt>
          <cx:pt idx="3118">6291.7269301993765</cx:pt>
          <cx:pt idx="3119">8576.4931448264288</cx:pt>
          <cx:pt idx="3120">7482.492386887433</cx:pt>
          <cx:pt idx="3121">7752.4894489690796</cx:pt>
          <cx:pt idx="3122">6282.4864174833028</cx:pt>
          <cx:pt idx="3123">6498.0900908584754</cx:pt>
          <cx:pt idx="3124">7878.5971646003991</cx:pt>
          <cx:pt idx="3125">6312.4905876182138</cx:pt>
          <cx:pt idx="3126">7740.9562241485755</cx:pt>
          <cx:pt idx="3127">6830.4159870122057</cx:pt>
          <cx:pt idx="3128">5134.7958856284795</cx:pt>
          <cx:pt idx="3129">7704.5743816941531</cx:pt>
          <cx:pt idx="3130">7215.0046966196878</cx:pt>
          <cx:pt idx="3131">7969.6492107024105</cx:pt>
          <cx:pt idx="3132">5360.3027059916112</cx:pt>
          <cx:pt idx="3133">6805.5332035053216</cx:pt>
          <cx:pt idx="3134">7064.8436621165365</cx:pt>
          <cx:pt idx="3135">7104.8077437790598</cx:pt>
          <cx:pt idx="3136">7098.055853406514</cx:pt>
          <cx:pt idx="3137">5975.3573424774568</cx:pt>
          <cx:pt idx="3138">7886.131381674867</cx:pt>
          <cx:pt idx="3139">6889.715072570345</cx:pt>
          <cx:pt idx="3140">7463.6983819637271</cx:pt>
          <cx:pt idx="3141">6880.3786942664919</cx:pt>
          <cx:pt idx="3142">7444.0908646511716</cx:pt>
          <cx:pt idx="3143">6993.108018677568</cx:pt>
          <cx:pt idx="3144">8017.637921686448</cx:pt>
          <cx:pt idx="3145">6573.0917871340143</cx:pt>
          <cx:pt idx="3146">5538.329804976991</cx:pt>
          <cx:pt idx="3147">6922.0784261502531</cx:pt>
          <cx:pt idx="3148">7181.1638415457082</cx:pt>
          <cx:pt idx="3149">7637.6061996649623</cx:pt>
          <cx:pt idx="3150">6402.8668157040283</cx:pt>
          <cx:pt idx="3151">7923.2961344160967</cx:pt>
          <cx:pt idx="3152">5965.0925416971086</cx:pt>
          <cx:pt idx="3153">6787.6495132920772</cx:pt>
          <cx:pt idx="3154">4482.9379520834718</cx:pt>
          <cx:pt idx="3155">6632.4519584042991</cx:pt>
          <cx:pt idx="3156">6870.5349900099955</cx:pt>
          <cx:pt idx="3157">7066.6318854406163</cx:pt>
          <cx:pt idx="3158">6545.8578573385166</cx:pt>
          <cx:pt idx="3159">6703.2061566282491</cx:pt>
          <cx:pt idx="3160">7697.5626199210246</cx:pt>
          <cx:pt idx="3161">6880.7630213316615</cx:pt>
          <cx:pt idx="3162">6976.4674222382773</cx:pt>
          <cx:pt idx="3163">7839.0337459081429</cx:pt>
          <cx:pt idx="3164">6486.06052979168</cx:pt>
          <cx:pt idx="3165">7207.7495605225104</cx:pt>
          <cx:pt idx="3166">7071.0299129229734</cx:pt>
          <cx:pt idx="3167">7407.4957260366473</cx:pt>
          <cx:pt idx="3168">7011.9806705542696</cx:pt>
          <cx:pt idx="3169">7450.8128188010105</cx:pt>
          <cx:pt idx="3170">6554.031396635035</cx:pt>
          <cx:pt idx="3171">7018.56001729729</cx:pt>
          <cx:pt idx="3172">7172.5568840064861</cx:pt>
          <cx:pt idx="3173">7567.6335233638019</cx:pt>
          <cx:pt idx="3174">4658.0162435374477</cx:pt>
          <cx:pt idx="3175">7608.2607760814208</cx:pt>
          <cx:pt idx="3176">4448.0903587662933</cx:pt>
          <cx:pt idx="3177">7699.2453215235619</cx:pt>
          <cx:pt idx="3178">7072.8787649179412</cx:pt>
          <cx:pt idx="3179">6602.2182205391427</cx:pt>
          <cx:pt idx="3180">6365.2881642908742</cx:pt>
          <cx:pt idx="3181">6892.3036719807133</cx:pt>
          <cx:pt idx="3182">6760.3346007846549</cx:pt>
          <cx:pt idx="3183">7331.9696239285067</cx:pt>
          <cx:pt idx="3184">7204.0355207989123</cx:pt>
          <cx:pt idx="3185">7110.3925845033709</cx:pt>
          <cx:pt idx="3186">5688.5641187397705</cx:pt>
          <cx:pt idx="3187">6766.7135118778688</cx:pt>
          <cx:pt idx="3188">7913.6919554861288</cx:pt>
          <cx:pt idx="3189">5726.9921408652908</cx:pt>
          <cx:pt idx="3190">7711.354063685254</cx:pt>
          <cx:pt idx="3191">6915.7713428197676</cx:pt>
          <cx:pt idx="3192">7672.9011763415092</cx:pt>
          <cx:pt idx="3193">7611.3365452961116</cx:pt>
          <cx:pt idx="3194">6874.515673046586</cx:pt>
          <cx:pt idx="3195">6844.0349150965712</cx:pt>
          <cx:pt idx="3196">6508.5052220389425</cx:pt>
          <cx:pt idx="3197">5754.4396128927756</cx:pt>
          <cx:pt idx="3198">7324.278161363095</cx:pt>
          <cx:pt idx="3199">6388.2636859607055</cx:pt>
          <cx:pt idx="3200">6655.9786794454267</cx:pt>
          <cx:pt idx="3201">8078.7664571774185</cx:pt>
          <cx:pt idx="3202">5814.0475739154763</cx:pt>
          <cx:pt idx="3203">7214.5402760853403</cx:pt>
          <cx:pt idx="3204">7221.173505513405</cx:pt>
          <cx:pt idx="3205">7314.3284622211713</cx:pt>
          <cx:pt idx="3206">7418.6251270372031</cx:pt>
          <cx:pt idx="3207">8675.3667467997875</cx:pt>
          <cx:pt idx="3208">5666.8752576860306</cx:pt>
          <cx:pt idx="3209">6977.3206239915953</cx:pt>
          <cx:pt idx="3210">7907.0684026653134</cx:pt>
          <cx:pt idx="3211">6952.3915285579415</cx:pt>
          <cx:pt idx="3212">6722.3663304255442</cx:pt>
          <cx:pt idx="3213">6629.0459632159436</cx:pt>
          <cx:pt idx="3214">6698.4980806252843</cx:pt>
          <cx:pt idx="3215">6103.1004135842704</cx:pt>
          <cx:pt idx="3216">7888.7202371053154</cx:pt>
          <cx:pt idx="3217">6584.2255418541763</cx:pt>
          <cx:pt idx="3218">5507.1203524759785</cx:pt>
          <cx:pt idx="3219">6476.4110000894843</cx:pt>
          <cx:pt idx="3220">6693.9021973023355</cx:pt>
          <cx:pt idx="3221">5636.9978419816944</cx:pt>
          <cx:pt idx="3222">6129.8257569612288</cx:pt>
          <cx:pt idx="3223">6667.1588894630222</cx:pt>
          <cx:pt idx="3224">5658.7331759899544</cx:pt>
          <cx:pt idx="3225">8014.7379350421261</cx:pt>
          <cx:pt idx="3226">7368.9607576071767</cx:pt>
          <cx:pt idx="3227">6646.6298332191791</cx:pt>
          <cx:pt idx="3228">7971.6720581488089</cx:pt>
          <cx:pt idx="3229">7460.6646294673928</cx:pt>
          <cx:pt idx="3230">6804.3328104573338</cx:pt>
          <cx:pt idx="3231">7998.8161826368123</cx:pt>
          <cx:pt idx="3232">8556.1828299574754</cx:pt>
          <cx:pt idx="3233">6382.6393889277588</cx:pt>
          <cx:pt idx="3234">7591.5498092084044</cx:pt>
          <cx:pt idx="3235">5642.8733978386117</cx:pt>
          <cx:pt idx="3236">7058.1868165459064</cx:pt>
          <cx:pt idx="3237">8092.1221101920728</cx:pt>
          <cx:pt idx="3238">7311.4778686313757</cx:pt>
          <cx:pt idx="3239">7805.6830261728392</cx:pt>
          <cx:pt idx="3240">6891.2902532010394</cx:pt>
          <cx:pt idx="3241">6999.1712984757078</cx:pt>
          <cx:pt idx="3242">8528.2631646254431</cx:pt>
          <cx:pt idx="3243">6644.6851079798644</cx:pt>
          <cx:pt idx="3244">6259.6802049689213</cx:pt>
          <cx:pt idx="3245">7605.2210588883918</cx:pt>
          <cx:pt idx="3246">6903.7544334160948</cx:pt>
          <cx:pt idx="3247">7297.3087335537775</cx:pt>
          <cx:pt idx="3248">7177.5549332889059</cx:pt>
          <cx:pt idx="3249">6655.9597194821954</cx:pt>
          <cx:pt idx="3250">7137.5265136991193</cx:pt>
          <cx:pt idx="3251">5614.2136554435747</cx:pt>
          <cx:pt idx="3252">7010.8227608051075</cx:pt>
          <cx:pt idx="3253">8135.8785324385935</cx:pt>
          <cx:pt idx="3254">6995.6609766996453</cx:pt>
          <cx:pt idx="3255">6263.0101566468684</cx:pt>
          <cx:pt idx="3256">6174.951098256046</cx:pt>
          <cx:pt idx="3257">7470.1152498205165</cx:pt>
          <cx:pt idx="3258">7306.9393629185033</cx:pt>
          <cx:pt idx="3259">5211.4766168968945</cx:pt>
          <cx:pt idx="3260">5383.210442502027</cx:pt>
          <cx:pt idx="3261">6875.6976837766679</cx:pt>
          <cx:pt idx="3262">7152.7145605759442</cx:pt>
          <cx:pt idx="3263">7667.8869010990848</cx:pt>
          <cx:pt idx="3264">6227.5381288503031</cx:pt>
          <cx:pt idx="3265">6922.4994653478598</cx:pt>
          <cx:pt idx="3266">7649.0509220929052</cx:pt>
          <cx:pt idx="3267">7753.308788604355</cx:pt>
          <cx:pt idx="3268">6790.108204066597</cx:pt>
          <cx:pt idx="3269">7550.2294244146415</cx:pt>
          <cx:pt idx="3270">6439.173452460107</cx:pt>
          <cx:pt idx="3271">7534.0075519000757</cx:pt>
          <cx:pt idx="3272">6656.2304942798846</cx:pt>
          <cx:pt idx="3273">6511.10590134837</cx:pt>
          <cx:pt idx="3274">7360.9119072621925</cx:pt>
          <cx:pt idx="3275">7302.3704582808423</cx:pt>
          <cx:pt idx="3276">5992.9371266922881</cx:pt>
          <cx:pt idx="3277">6882.9943297761929</cx:pt>
          <cx:pt idx="3278">7044.7696933527768</cx:pt>
          <cx:pt idx="3279">7313.1937497115141</cx:pt>
          <cx:pt idx="3280">7671.3960992384618</cx:pt>
          <cx:pt idx="3281">7900.6209513338317</cx:pt>
          <cx:pt idx="3282">5878.4543414018517</cx:pt>
          <cx:pt idx="3283">7618.3697461218371</cx:pt>
          <cx:pt idx="3284">6852.075128372674</cx:pt>
          <cx:pt idx="3285">6868.8162562055859</cx:pt>
          <cx:pt idx="3286">7457.9559083357799</cx:pt>
          <cx:pt idx="3287">7512.4960630014939</cx:pt>
          <cx:pt idx="3288">5501.8496502985299</cx:pt>
          <cx:pt idx="3289">5830.0446562976103</cx:pt>
          <cx:pt idx="3290">6877.7899868752884</cx:pt>
          <cx:pt idx="3291">7090.4044085268351</cx:pt>
          <cx:pt idx="3292">7046.5682508400778</cx:pt>
          <cx:pt idx="3293">6164.836368113627</cx:pt>
          <cx:pt idx="3294">6248.3058811517867</cx:pt>
          <cx:pt idx="3295">7341.5404422904221</cx:pt>
          <cx:pt idx="3296">6963.8691040505491</cx:pt>
          <cx:pt idx="3297">7089.9902466524254</cx:pt>
          <cx:pt idx="3298">5907.9461272876342</cx:pt>
          <cx:pt idx="3299">6853.3138210262905</cx:pt>
          <cx:pt idx="3300">6386.7088652646125</cx:pt>
          <cx:pt idx="3301">8522.6284220486486</cx:pt>
          <cx:pt idx="3302">7551.3021300170049</cx:pt>
          <cx:pt idx="3303">7385.8625874059671</cx:pt>
          <cx:pt idx="3304">8521.1516140183321</cx:pt>
          <cx:pt idx="3305">6915.354701181308</cx:pt>
          <cx:pt idx="3306">6910.5422461889411</cx:pt>
          <cx:pt idx="3307">7648.2882879846802</cx:pt>
          <cx:pt idx="3308">6972.3021173132411</cx:pt>
          <cx:pt idx="3309">6946.2659621877547</cx:pt>
          <cx:pt idx="3310">8277.8989291306953</cx:pt>
          <cx:pt idx="3311">6081.1052753206304</cx:pt>
          <cx:pt idx="3312">6712.630202090565</cx:pt>
          <cx:pt idx="3313">8007.9257211623462</cx:pt>
          <cx:pt idx="3314">6722.1086996209324</cx:pt>
          <cx:pt idx="3315">6751.7899005541904</cx:pt>
          <cx:pt idx="3316">7381.8402984170707</cx:pt>
          <cx:pt idx="3317">8163.9278002583706</cx:pt>
          <cx:pt idx="3318">6519.6747412623254</cx:pt>
          <cx:pt idx="3319">6877.1292013666625</cx:pt>
          <cx:pt idx="3320">7550.0526714217303</cx:pt>
          <cx:pt idx="3321">7474.6216739016618</cx:pt>
          <cx:pt idx="3322">5579.4162110475509</cx:pt>
          <cx:pt idx="3323">6551.4876891340109</cx:pt>
          <cx:pt idx="3324">6461.9362594680197</cx:pt>
          <cx:pt idx="3325">8166.6461272896813</cx:pt>
          <cx:pt idx="3326">7355.652567805575</cx:pt>
          <cx:pt idx="3327">7934.1434832739233</cx:pt>
          <cx:pt idx="3328">6245.1981403720283</cx:pt>
          <cx:pt idx="3329">6298.8765479745744</cx:pt>
          <cx:pt idx="3330">5853.7589476676931</cx:pt>
          <cx:pt idx="3331">5171.1866084572575</cx:pt>
          <cx:pt idx="3332">7662.8081567754198</cx:pt>
          <cx:pt idx="3333">7381.9620962687168</cx:pt>
          <cx:pt idx="3334">6303.7647500273215</cx:pt>
          <cx:pt idx="3335">7487.8562430170705</cx:pt>
          <cx:pt idx="3336">7961.3691341991071</cx:pt>
          <cx:pt idx="3337">7651.7008954124794</cx:pt>
          <cx:pt idx="3338">7154.5214154208097</cx:pt>
          <cx:pt idx="3339">6453.5667903135391</cx:pt>
          <cx:pt idx="3340">6671.3059728761891</cx:pt>
          <cx:pt idx="3341">6760.061346778507</cx:pt>
          <cx:pt idx="3342">6674.863410925821</cx:pt>
          <cx:pt idx="3343">6449.1959387679417</cx:pt>
          <cx:pt idx="3344">7631.89792218408</cx:pt>
          <cx:pt idx="3345">6882.6723259559421</cx:pt>
          <cx:pt idx="3346">7927.7130697994708</cx:pt>
          <cx:pt idx="3347">6037.5852447805746</cx:pt>
          <cx:pt idx="3348">6612.0826326307397</cx:pt>
          <cx:pt idx="3349">6538.7923523718428</cx:pt>
          <cx:pt idx="3350">8197.9294950608655</cx:pt>
          <cx:pt idx="3351">5225.9216381262495</cx:pt>
          <cx:pt idx="3352">5694.5485374118316</cx:pt>
          <cx:pt idx="3353">6670.3999305973257</cx:pt>
          <cx:pt idx="3354">6425.2859820091253</cx:pt>
          <cx:pt idx="3355">6659.052301342701</cx:pt>
          <cx:pt idx="3356">7273.1745315882681</cx:pt>
          <cx:pt idx="3357">7869.4983457886619</cx:pt>
          <cx:pt idx="3358">7700.3006329932114</cx:pt>
          <cx:pt idx="3359">6724.9522662096624</cx:pt>
          <cx:pt idx="3360">7553.3521672924107</cx:pt>
          <cx:pt idx="3361">6224.275907877909</cx:pt>
          <cx:pt idx="3362">6941.2980572382121</cx:pt>
          <cx:pt idx="3363">6583.7234572202206</cx:pt>
          <cx:pt idx="3364">7918.0211894335416</cx:pt>
          <cx:pt idx="3365">6341.6180037526628</cx:pt>
          <cx:pt idx="3366">7541.6916922048849</cx:pt>
          <cx:pt idx="3367">7398.9441441880172</cx:pt>
          <cx:pt idx="3368">6995.4598500131306</cx:pt>
          <cx:pt idx="3369">7629.8538047367647</cx:pt>
          <cx:pt idx="3370">7156.8120958750633</cx:pt>
          <cx:pt idx="3371">7502.560713016177</cx:pt>
          <cx:pt idx="3372">6558.9650214265539</cx:pt>
          <cx:pt idx="3373">8145.6269244982941</cx:pt>
          <cx:pt idx="3374">6526.6648765634491</cx:pt>
          <cx:pt idx="3375">7991.1665781932852</cx:pt>
          <cx:pt idx="3376">6101.3023371971913</cx:pt>
          <cx:pt idx="3377">7243.8535810648118</cx:pt>
          <cx:pt idx="3378">6202.7608027765809</cx:pt>
          <cx:pt idx="3379">5849.4980237582831</cx:pt>
          <cx:pt idx="3380">6514.9620580528208</cx:pt>
          <cx:pt idx="3381">6679.3918371259069</cx:pt>
          <cx:pt idx="3382">6642.7369367382098</cx:pt>
          <cx:pt idx="3383">7290.4016562856968</cx:pt>
          <cx:pt idx="3384">7861.8158526088109</cx:pt>
          <cx:pt idx="3385">6783.9846919509819</cx:pt>
          <cx:pt idx="3386">6808.920666914616</cx:pt>
          <cx:pt idx="3387">6481.7844863721475</cx:pt>
          <cx:pt idx="3388">7358.437061716555</cx:pt>
          <cx:pt idx="3389">6417.5081730669626</cx:pt>
          <cx:pt idx="3390">7458.2367481541396</cx:pt>
          <cx:pt idx="3391">6750.9543842323001</cx:pt>
          <cx:pt idx="3392">6835.652346953184</cx:pt>
          <cx:pt idx="3393">6992.048559524027</cx:pt>
          <cx:pt idx="3394">7037.0557649616012</cx:pt>
          <cx:pt idx="3395">6561.8993481518146</cx:pt>
          <cx:pt idx="3396">6771.4900824664892</cx:pt>
          <cx:pt idx="3397">5547.4272248390589</cx:pt>
          <cx:pt idx="3398">7590.6852166165854</cx:pt>
          <cx:pt idx="3399">7677.6227198855349</cx:pt>
          <cx:pt idx="3400">6688.8432295767907</cx:pt>
          <cx:pt idx="3401">8047.8095515816021</cx:pt>
          <cx:pt idx="3402">8049.593731089999</cx:pt>
          <cx:pt idx="3403">7617.1116505852387</cx:pt>
          <cx:pt idx="3404">9203.1877863052905</cx:pt>
          <cx:pt idx="3405">7558.3515614838825</cx:pt>
          <cx:pt idx="3406">7301.7513767208548</cx:pt>
          <cx:pt idx="3407">6104.1272395027227</cx:pt>
          <cx:pt idx="3408">6711.9206556739755</cx:pt>
          <cx:pt idx="3409">8235.7212901113635</cx:pt>
          <cx:pt idx="3410">7792.1896361884001</cx:pt>
          <cx:pt idx="3411">6934.5592745056156</cx:pt>
          <cx:pt idx="3412">6536.516675036838</cx:pt>
          <cx:pt idx="3413">7925.5911006427796</cx:pt>
          <cx:pt idx="3414">6974.4051800332027</cx:pt>
          <cx:pt idx="3415">8886.4009079209463</cx:pt>
          <cx:pt idx="3416">6133.7784725780084</cx:pt>
          <cx:pt idx="3417">6865.0764139649991</cx:pt>
          <cx:pt idx="3418">7989.8036837040818</cx:pt>
          <cx:pt idx="3419">7127.765112610773</cx:pt>
          <cx:pt idx="3420">8624.0661466758411</cx:pt>
          <cx:pt idx="3421">7487.1528046403446</cx:pt>
          <cx:pt idx="3422">7384.6192907473569</cx:pt>
          <cx:pt idx="3423">6956.7932611882788</cx:pt>
          <cx:pt idx="3424">5588.2375019983583</cx:pt>
          <cx:pt idx="3425">8201.004211028272</cx:pt>
          <cx:pt idx="3426">7714.9717512203169</cx:pt>
          <cx:pt idx="3427">6535.0038598461706</cx:pt>
          <cx:pt idx="3428">7961.3712772343752</cx:pt>
          <cx:pt idx="3429">6420.4747834365735</cx:pt>
          <cx:pt idx="3430">7260.9398003448769</cx:pt>
          <cx:pt idx="3431">6532.6894730183549</cx:pt>
          <cx:pt idx="3432">7330.6071195478598</cx:pt>
          <cx:pt idx="3433">6767.0236307223195</cx:pt>
          <cx:pt idx="3434">7685.6241899963825</cx:pt>
          <cx:pt idx="3435">7822.621222001656</cx:pt>
          <cx:pt idx="3436">7782.1300147870661</cx:pt>
          <cx:pt idx="3437">7347.2096051007866</cx:pt>
          <cx:pt idx="3438">6526.2283695690003</cx:pt>
          <cx:pt idx="3439">7977.8640936294551</cx:pt>
          <cx:pt idx="3440">6662.7829680067716</cx:pt>
          <cx:pt idx="3441">5907.8037004208345</cx:pt>
          <cx:pt idx="3442">6359.5748105468201</cx:pt>
          <cx:pt idx="3443">6212.2832310643025</cx:pt>
          <cx:pt idx="3444">7942.9194381743309</cx:pt>
          <cx:pt idx="3445">7122.7639938169568</cx:pt>
          <cx:pt idx="3446">6980.8494684150719</cx:pt>
          <cx:pt idx="3447">7462.9749340362469</cx:pt>
          <cx:pt idx="3448">7479.7355225470501</cx:pt>
          <cx:pt idx="3449">8011.5623600212512</cx:pt>
          <cx:pt idx="3450">6347.5093321441072</cx:pt>
          <cx:pt idx="3451">7084.8671168560186</cx:pt>
          <cx:pt idx="3452">7335.0656986185923</cx:pt>
          <cx:pt idx="3453">6659.0482889724253</cx:pt>
          <cx:pt idx="3454">7495.5554403384149</cx:pt>
          <cx:pt idx="3455">5736.1852468831439</cx:pt>
          <cx:pt idx="3456">5550.6912638641179</cx:pt>
          <cx:pt idx="3457">6800.6532490128111</cx:pt>
          <cx:pt idx="3458">5205.5972057083754</cx:pt>
          <cx:pt idx="3459">7621.2987442528511</cx:pt>
          <cx:pt idx="3460">6522.6318574883135</cx:pt>
          <cx:pt idx="3461">5889.8489713740937</cx:pt>
          <cx:pt idx="3462">7226.0509507849683</cx:pt>
          <cx:pt idx="3463">7020.5261838337437</cx:pt>
          <cx:pt idx="3464">8189.1091365180582</cx:pt>
          <cx:pt idx="3465">7648.9141919218837</cx:pt>
          <cx:pt idx="3466">6307.5644263488293</cx:pt>
          <cx:pt idx="3467">5485.4572716324983</cx:pt>
          <cx:pt idx="3468">4887.7631021639354</cx:pt>
          <cx:pt idx="3469">6930.1049660171029</cx:pt>
          <cx:pt idx="3470">5676.2465808045872</cx:pt>
          <cx:pt idx="3471">7387.5309742344634</cx:pt>
          <cx:pt idx="3472">6473.3528530989533</cx:pt>
          <cx:pt idx="3473">6516.8929263071659</cx:pt>
          <cx:pt idx="3474">5289.9208661209805</cx:pt>
          <cx:pt idx="3475">6947.3266296023785</cx:pt>
          <cx:pt idx="3476">6054.3423009923245</cx:pt>
          <cx:pt idx="3477">7564.9815664719381</cx:pt>
          <cx:pt idx="3478">7170.8274507814149</cx:pt>
          <cx:pt idx="3479">6196.6621489359804</cx:pt>
          <cx:pt idx="3480">5680.2281380721643</cx:pt>
          <cx:pt idx="3481">6767.3188774400178</cx:pt>
          <cx:pt idx="3482">7534.6396174465635</cx:pt>
          <cx:pt idx="3483">6799.954747687555</cx:pt>
          <cx:pt idx="3484">8288.1829003551811</cx:pt>
          <cx:pt idx="3485">7349.4526472912885</cx:pt>
          <cx:pt idx="3486">6977.629504292564</cx:pt>
          <cx:pt idx="3487">8194.5096872002305</cx:pt>
          <cx:pt idx="3488">6205.0452357479453</cx:pt>
          <cx:pt idx="3489">7938.7706225853626</cx:pt>
          <cx:pt idx="3490">7579.766487432129</cx:pt>
          <cx:pt idx="3491">6903.6693613541029</cx:pt>
          <cx:pt idx="3492">6466.0021749414445</cx:pt>
          <cx:pt idx="3493">7312.5861528473188</cx:pt>
          <cx:pt idx="3494">7033.4638013467365</cx:pt>
          <cx:pt idx="3495">7133.4061542734134</cx:pt>
          <cx:pt idx="3496">7412.5919445767076</cx:pt>
          <cx:pt idx="3497">6943.4320013822326</cx:pt>
          <cx:pt idx="3498">7209.9798944839094</cx:pt>
          <cx:pt idx="3499">6713.8849169120713</cx:pt>
          <cx:pt idx="3500">6368.7146799046423</cx:pt>
          <cx:pt idx="3501">4664.2524736559344</cx:pt>
          <cx:pt idx="3502">7307.9222078872372</cx:pt>
          <cx:pt idx="3503">5707.206802875955</cx:pt>
          <cx:pt idx="3504">7343.0849293988185</cx:pt>
          <cx:pt idx="3505">6431.0445380636702</cx:pt>
          <cx:pt idx="3506">7187.5836941505095</cx:pt>
          <cx:pt idx="3507">7070.823013196542</cx:pt>
          <cx:pt idx="3508">7101.5919731932527</cx:pt>
          <cx:pt idx="3509">6790.300918076081</cx:pt>
          <cx:pt idx="3510">7792.3978844499261</cx:pt>
          <cx:pt idx="3511">7149.6907284008303</cx:pt>
          <cx:pt idx="3512">6955.2723684216289</cx:pt>
          <cx:pt idx="3513">6900.1887324544914</cx:pt>
          <cx:pt idx="3514">6888.3422066731055</cx:pt>
          <cx:pt idx="3515">6541.2716386789198</cx:pt>
          <cx:pt idx="3516">7557.7948769687882</cx:pt>
          <cx:pt idx="3517">7163.5936842103474</cx:pt>
          <cx:pt idx="3518">7222.7784920454587</cx:pt>
          <cx:pt idx="3519">6668.7164469019144</cx:pt>
          <cx:pt idx="3520">4512.3735780281422</cx:pt>
          <cx:pt idx="3521">7277.1659021135756</cx:pt>
          <cx:pt idx="3522">7525.2007860802923</cx:pt>
          <cx:pt idx="3523">6177.0713892750855</cx:pt>
          <cx:pt idx="3524">5795.1924674514139</cx:pt>
          <cx:pt idx="3525">5994.5775793777584</cx:pt>
          <cx:pt idx="3526">8029.6471926973045</cx:pt>
          <cx:pt idx="3527">6192.1345270942993</cx:pt>
          <cx:pt idx="3528">7406.5591715718101</cx:pt>
          <cx:pt idx="3529">6492.069293079403</cx:pt>
          <cx:pt idx="3530">7959.112728318426</cx:pt>
          <cx:pt idx="3531">7087.3017837457655</cx:pt>
          <cx:pt idx="3532">7087.7506230541367</cx:pt>
          <cx:pt idx="3533">4632.1995048677936</cx:pt>
          <cx:pt idx="3534">6536.1989827339585</cx:pt>
          <cx:pt idx="3535">6974.3119959282831</cx:pt>
          <cx:pt idx="3536">7116.3404079672446</cx:pt>
          <cx:pt idx="3537">7518.2979988488314</cx:pt>
          <cx:pt idx="3538">6835.3254182292994</cx:pt>
          <cx:pt idx="3539">6903.8646471425391</cx:pt>
          <cx:pt idx="3540">5140.3224940010632</cx:pt>
          <cx:pt idx="3541">7257.5009619463162</cx:pt>
          <cx:pt idx="3542">7426.8018282918229</cx:pt>
          <cx:pt idx="3543">6566.8988291309606</cx:pt>
          <cx:pt idx="3544">6323.1829355023883</cx:pt>
          <cx:pt idx="3545">6699.7128656933364</cx:pt>
          <cx:pt idx="3546">5709.7017939250136</cx:pt>
          <cx:pt idx="3547">6243.0130094389469</cx:pt>
          <cx:pt idx="3548">6943.6697356747127</cx:pt>
          <cx:pt idx="3549">6077.0525603138449</cx:pt>
          <cx:pt idx="3550">7681.0775891117082</cx:pt>
          <cx:pt idx="3551">6353.4834179192321</cx:pt>
          <cx:pt idx="3552">8181.7768531374295</cx:pt>
          <cx:pt idx="3553">6556.9481647293342</cx:pt>
          <cx:pt idx="3554">5714.1897061417885</cx:pt>
          <cx:pt idx="3555">6554.2090830134193</cx:pt>
          <cx:pt idx="3556">6573.2448072335155</cx:pt>
          <cx:pt idx="3557">6551.7634405417039</cx:pt>
          <cx:pt idx="3558">7700.9373220662637</cx:pt>
          <cx:pt idx="3559">6081.5084578052874</cx:pt>
          <cx:pt idx="3560">7702.6744730608325</cx:pt>
          <cx:pt idx="3561">5508.0993153855661</cx:pt>
          <cx:pt idx="3562">7346.4917787625345</cx:pt>
          <cx:pt idx="3563">6988.1258427888397</cx:pt>
          <cx:pt idx="3564">7671.0035359701224</cx:pt>
          <cx:pt idx="3565">5842.0573128814549</cx:pt>
          <cx:pt idx="3566">6577.1957016397755</cx:pt>
          <cx:pt idx="3567">8220.6164247967736</cx:pt>
          <cx:pt idx="3568">7479.5164845897289</cx:pt>
          <cx:pt idx="3569">6811.704732186623</cx:pt>
          <cx:pt idx="3570">6710.6578999333888</cx:pt>
          <cx:pt idx="3571">8110.75801948765</cx:pt>
          <cx:pt idx="3572">5753.8272328442808</cx:pt>
          <cx:pt idx="3573">7260.0787158678013</cx:pt>
          <cx:pt idx="3574">6172.7182571239473</cx:pt>
          <cx:pt idx="3575">7870.9043179585742</cx:pt>
          <cx:pt idx="3576">6435.5378104059382</cx:pt>
          <cx:pt idx="3577">6776.423462578101</cx:pt>
          <cx:pt idx="3578">6843.5432081266172</cx:pt>
          <cx:pt idx="3579">7097.14696365279</cx:pt>
          <cx:pt idx="3580">7007.5218116993565</cx:pt>
          <cx:pt idx="3581">6623.5754203769166</cx:pt>
          <cx:pt idx="3582">8323.2216436320759</cx:pt>
          <cx:pt idx="3583">6266.604617523717</cx:pt>
          <cx:pt idx="3584">5600.9959235942106</cx:pt>
          <cx:pt idx="3585">6969.9693770733538</cx:pt>
          <cx:pt idx="3586">7555.4283384471319</cx:pt>
          <cx:pt idx="3587">7582.5039163840884</cx:pt>
          <cx:pt idx="3588">6980.2405547239832</cx:pt>
          <cx:pt idx="3589">6902.1545250666686</cx:pt>
          <cx:pt idx="3590">6634.1248247164513</cx:pt>
          <cx:pt idx="3591">7108.656475120164</cx:pt>
          <cx:pt idx="3592">6698.6911551446756</cx:pt>
          <cx:pt idx="3593">6581.9618107509896</cx:pt>
          <cx:pt idx="3594">6701.3086465173456</cx:pt>
          <cx:pt idx="3595">7444.5590166654492</cx:pt>
          <cx:pt idx="3596">6909.0840481451951</cx:pt>
          <cx:pt idx="3597">6939.4466265139563</cx:pt>
          <cx:pt idx="3598">5506.7197338401493</cx:pt>
          <cx:pt idx="3599">5910.5650487843095</cx:pt>
          <cx:pt idx="3600">6957.0076808153535</cx:pt>
          <cx:pt idx="3601">6791.9617756388943</cx:pt>
          <cx:pt idx="3602">6560.2334496108142</cx:pt>
          <cx:pt idx="3603">8334.4605915889551</cx:pt>
          <cx:pt idx="3604">6187.142345445719</cx:pt>
          <cx:pt idx="3605">6758.1165625654849</cx:pt>
          <cx:pt idx="3606">6395.9736704245697</cx:pt>
          <cx:pt idx="3607">7827.5003375315973</cx:pt>
          <cx:pt idx="3608">7248.1183595005059</cx:pt>
          <cx:pt idx="3609">5829.8696071346703</cx:pt>
          <cx:pt idx="3610">6437.5151318414155</cx:pt>
          <cx:pt idx="3611">6717.20456351353</cx:pt>
          <cx:pt idx="3612">6143.3020281391136</cx:pt>
          <cx:pt idx="3613">7251.3407202699673</cx:pt>
          <cx:pt idx="3614">6922.1695721754068</cx:pt>
          <cx:pt idx="3615">5979.117824653089</cx:pt>
          <cx:pt idx="3616">6902.2425539887327</cx:pt>
          <cx:pt idx="3617">6490.5148367221409</cx:pt>
          <cx:pt idx="3618">7141.1239524634684</cx:pt>
          <cx:pt idx="3619">7267.0450108371533</cx:pt>
          <cx:pt idx="3620">6488.5937434782181</cx:pt>
          <cx:pt idx="3621">7792.1354194287369</cx:pt>
          <cx:pt idx="3622">7058.408868763072</cx:pt>
          <cx:pt idx="3623">6306.1328469425298</cx:pt>
          <cx:pt idx="3624">7217.3374083441568</cx:pt>
          <cx:pt idx="3625">7388.5428849425198</cx:pt>
          <cx:pt idx="3626">6358.4295712738813</cx:pt>
          <cx:pt idx="3627">7046.5713218445753</cx:pt>
          <cx:pt idx="3628">6758.6652021559621</cx:pt>
          <cx:pt idx="3629">5727.2473336270414</cx:pt>
          <cx:pt idx="3630">7646.8172457442242</cx:pt>
          <cx:pt idx="3631">6794.9646579648224</cx:pt>
          <cx:pt idx="3632">6963.6945773404859</cx:pt>
          <cx:pt idx="3633">4852.2356062238468</cx:pt>
          <cx:pt idx="3634">6673.1882936762931</cx:pt>
          <cx:pt idx="3635">7242.7435261130331</cx:pt>
          <cx:pt idx="3636">6965.5280241022692</cx:pt>
          <cx:pt idx="3637">5806.2425766698552</cx:pt>
          <cx:pt idx="3638">7312.9858883960997</cx:pt>
          <cx:pt idx="3639">7520.2412845032868</cx:pt>
          <cx:pt idx="3640">5970.0789730031229</cx:pt>
          <cx:pt idx="3641">7919.6966528135199</cx:pt>
          <cx:pt idx="3642">6690.9639146916097</cx:pt>
          <cx:pt idx="3643">6648.7698854714345</cx:pt>
          <cx:pt idx="3644">7165.7043361402802</cx:pt>
          <cx:pt idx="3645">6995.2885387811339</cx:pt>
          <cx:pt idx="3646">6897.0286491414863</cx:pt>
          <cx:pt idx="3647">7030.2746098554871</cx:pt>
          <cx:pt idx="3648">5810.9461971446008</cx:pt>
          <cx:pt idx="3649">7469.5243116942065</cx:pt>
          <cx:pt idx="3650">8017.6588423111143</cx:pt>
          <cx:pt idx="3651">7787.2265003301163</cx:pt>
          <cx:pt idx="3652">6545.1508091230762</cx:pt>
          <cx:pt idx="3653">7583.1515139020075</cx:pt>
          <cx:pt idx="3654">7482.6200675950831</cx:pt>
          <cx:pt idx="3655">7643.3120787993803</cx:pt>
          <cx:pt idx="3656">7458.4794987844389</cx:pt>
          <cx:pt idx="3657">6738.0675658215605</cx:pt>
          <cx:pt idx="3658">7002.2781631966554</cx:pt>
          <cx:pt idx="3659">6698.4899423316429</cx:pt>
          <cx:pt idx="3660">7040.8642902603424</cx:pt>
          <cx:pt idx="3661">9203.0009661170607</cx:pt>
          <cx:pt idx="3662">5188.3572733791971</cx:pt>
          <cx:pt idx="3663">7185.3179981156354</cx:pt>
          <cx:pt idx="3664">7304.5732410910141</cx:pt>
          <cx:pt idx="3665">7851.99227384598</cx:pt>
          <cx:pt idx="3666">6206.5033256581937</cx:pt>
          <cx:pt idx="3667">6101.9105208823148</cx:pt>
          <cx:pt idx="3668">7010.1757173504739</cx:pt>
          <cx:pt idx="3669">5617.4653965809857</cx:pt>
          <cx:pt idx="3670">6127.0489089029761</cx:pt>
          <cx:pt idx="3671">7709.4200879777736</cx:pt>
          <cx:pt idx="3672">7720.6186137929026</cx:pt>
          <cx:pt idx="3673">7546.0682038195955</cx:pt>
          <cx:pt idx="3674">6991.2094457933745</cx:pt>
          <cx:pt idx="3675">7124.1679873452831</cx:pt>
          <cx:pt idx="3676">7325.2625836296274</cx:pt>
          <cx:pt idx="3677">6977.0915086452305</cx:pt>
          <cx:pt idx="3678">6887.1140971021705</cx:pt>
          <cx:pt idx="3679">7747.1380157909716</cx:pt>
          <cx:pt idx="3680">8480.7830960016017</cx:pt>
          <cx:pt idx="3681">5753.0046828331106</cx:pt>
          <cx:pt idx="3682">5995.8221210078354</cx:pt>
          <cx:pt idx="3683">6175.1821208869615</cx:pt>
          <cx:pt idx="3684">5965.8464450624888</cx:pt>
          <cx:pt idx="3685">7239.5646255122965</cx:pt>
          <cx:pt idx="3686">6773.0597612403935</cx:pt>
          <cx:pt idx="3687">7765.6548339297842</cx:pt>
          <cx:pt idx="3688">7503.6188327162936</cx:pt>
          <cx:pt idx="3689">7950.3269647569741</cx:pt>
          <cx:pt idx="3690">6856.8715244038922</cx:pt>
          <cx:pt idx="3691">5566.2186135487755</cx:pt>
          <cx:pt idx="3692">6583.2409015277226</cx:pt>
          <cx:pt idx="3693">6864.6069949193788</cx:pt>
          <cx:pt idx="3694">5341.8122873816701</cx:pt>
          <cx:pt idx="3695">6912.6802709962749</cx:pt>
          <cx:pt idx="3696">7419.8560913493156</cx:pt>
          <cx:pt idx="3697">8069.4850701800879</cx:pt>
          <cx:pt idx="3698">6429.0381665627119</cx:pt>
          <cx:pt idx="3699">7280.8846693251853</cx:pt>
          <cx:pt idx="3700">5174.2727207665121</cx:pt>
          <cx:pt idx="3701">5778.3510952094157</cx:pt>
          <cx:pt idx="3702">7304.8373171030089</cx:pt>
          <cx:pt idx="3703">7842.7667162083608</cx:pt>
          <cx:pt idx="3704">6201.0447293747811</cx:pt>
          <cx:pt idx="3705">7144.5789299976095</cx:pt>
          <cx:pt idx="3706">7382.8812292415241</cx:pt>
          <cx:pt idx="3707">6526.5903163750691</cx:pt>
          <cx:pt idx="3708">7454.1132912377834</cx:pt>
          <cx:pt idx="3709">8348.3820283521836</cx:pt>
          <cx:pt idx="3710">7336.0609220883489</cx:pt>
          <cx:pt idx="3711">5656.0597141654143</cx:pt>
          <cx:pt idx="3712">7549.6195159883946</cx:pt>
          <cx:pt idx="3713">6483.4477065254123</cx:pt>
          <cx:pt idx="3714">5205.8222242489492</cx:pt>
          <cx:pt idx="3715">6050.3599287622637</cx:pt>
          <cx:pt idx="3716">5932.0962465531165</cx:pt>
          <cx:pt idx="3717">7656.2193741708452</cx:pt>
          <cx:pt idx="3718">5770.0464563154273</cx:pt>
          <cx:pt idx="3719">7012.1948918134494</cx:pt>
          <cx:pt idx="3720">8286.6501429709642</cx:pt>
          <cx:pt idx="3721">5316.2820830940918</cx:pt>
          <cx:pt idx="3722">7379.0799643769305</cx:pt>
          <cx:pt idx="3723">8057.0648189640324</cx:pt>
          <cx:pt idx="3724">7409.8743562860609</cx:pt>
          <cx:pt idx="3725">7349.2073144299939</cx:pt>
          <cx:pt idx="3726">6356.6570642413262</cx:pt>
          <cx:pt idx="3727">6257.8797886478224</cx:pt>
          <cx:pt idx="3728">9240.025123228701</cx:pt>
          <cx:pt idx="3729">6238.347952891042</cx:pt>
          <cx:pt idx="3730">6644.5353390359533</cx:pt>
          <cx:pt idx="3731">6654.7448191090152</cx:pt>
          <cx:pt idx="3732">6694.0683216431462</cx:pt>
          <cx:pt idx="3733">6052.1770781408504</cx:pt>
          <cx:pt idx="3734">6295.336913704713</cx:pt>
          <cx:pt idx="3735">6983.5970548729947</cx:pt>
          <cx:pt idx="3736">6519.303649857985</cx:pt>
          <cx:pt idx="3737">5725.2719361776026</cx:pt>
          <cx:pt idx="3738">6908.684580192662</cx:pt>
          <cx:pt idx="3739">7807.7149325427936</cx:pt>
          <cx:pt idx="3740">7132.2033147386173</cx:pt>
          <cx:pt idx="3741">5500.6122545960679</cx:pt>
          <cx:pt idx="3742">7148.6082548850891</cx:pt>
          <cx:pt idx="3743">7884.5566956440607</cx:pt>
          <cx:pt idx="3744">6897.4208653093183</cx:pt>
          <cx:pt idx="3745">7689.8765406199791</cx:pt>
          <cx:pt idx="3746">5714.0760579110874</cx:pt>
          <cx:pt idx="3747">6995.9209929058607</cx:pt>
          <cx:pt idx="3748">7141.7567435173214</cx:pt>
          <cx:pt idx="3749">7442.0562277721274</cx:pt>
          <cx:pt idx="3750">7623.3481601288604</cx:pt>
          <cx:pt idx="3751">7027.6196253007629</cx:pt>
          <cx:pt idx="3752">6975.9167039576851</cx:pt>
          <cx:pt idx="3753">6844.2697176250522</cx:pt>
          <cx:pt idx="3754">6618.8457067783311</cx:pt>
          <cx:pt idx="3755">5234.9725659151918</cx:pt>
          <cx:pt idx="3756">6556.5382828779511</cx:pt>
          <cx:pt idx="3757">7412.2227205467425</cx:pt>
          <cx:pt idx="3758">6300.2808649098188</cx:pt>
          <cx:pt idx="3759">5068.949570435816</cx:pt>
          <cx:pt idx="3760">6589.9018926934023</cx:pt>
          <cx:pt idx="3761">8355.8098753770973</cx:pt>
          <cx:pt idx="3762">7656.1117998946193</cx:pt>
          <cx:pt idx="3763">7010.1197767752301</cx:pt>
          <cx:pt idx="3764">6915.9248167034275</cx:pt>
          <cx:pt idx="3765">6622.0379110118474</cx:pt>
          <cx:pt idx="3766">7517.2388629797106</cx:pt>
          <cx:pt idx="3767">6449.5245501747922</cx:pt>
          <cx:pt idx="3768">7681.6270750059975</cx:pt>
          <cx:pt idx="3769">6596.5954586344833</cx:pt>
          <cx:pt idx="3770">6079.0373456318421</cx:pt>
          <cx:pt idx="3771">6452.5827344210993</cx:pt>
          <cx:pt idx="3772">6180.8900686416773</cx:pt>
          <cx:pt idx="3773">7970.8984153924357</cx:pt>
          <cx:pt idx="3774">6578.6946456081532</cx:pt>
          <cx:pt idx="3775">7283.503014900848</cx:pt>
          <cx:pt idx="3776">7986.8114385536664</cx:pt>
          <cx:pt idx="3777">7729.1481633574622</cx:pt>
          <cx:pt idx="3778">6378.9446070339627</cx:pt>
          <cx:pt idx="3779">6622.6304576807997</cx:pt>
          <cx:pt idx="3780">6171.4412885578322</cx:pt>
          <cx:pt idx="3781">6356.9528461514483</cx:pt>
          <cx:pt idx="3782">7943.1568558461422</cx:pt>
          <cx:pt idx="3783">7296.6838977705365</cx:pt>
          <cx:pt idx="3784">6928.5297401080179</cx:pt>
          <cx:pt idx="3785">6163.0550187319113</cx:pt>
          <cx:pt idx="3786">6144.4263547720066</cx:pt>
          <cx:pt idx="3787">7814.0396813795469</cx:pt>
          <cx:pt idx="3788">7735.8976109034529</cx:pt>
          <cx:pt idx="3789">5611.1870929075212</cx:pt>
          <cx:pt idx="3790">6773.8747728624203</cx:pt>
          <cx:pt idx="3791">7697.4254138411934</cx:pt>
          <cx:pt idx="3792">6504.3129467263816</cx:pt>
          <cx:pt idx="3793">5718.1786405387802</cx:pt>
          <cx:pt idx="3794">6217.0530159841046</cx:pt>
          <cx:pt idx="3795">6939.9868949099427</cx:pt>
          <cx:pt idx="3796">7120.5656942212045</cx:pt>
          <cx:pt idx="3797">5246.539072687302</cx:pt>
          <cx:pt idx="3798">6565.9803577402718</cx:pt>
          <cx:pt idx="3799">6783.7876573474023</cx:pt>
          <cx:pt idx="3800">6475.299999044395</cx:pt>
          <cx:pt idx="3801">5454.369124412432</cx:pt>
          <cx:pt idx="3802">7916.1004901001752</cx:pt>
          <cx:pt idx="3803">7033.0998083283375</cx:pt>
          <cx:pt idx="3804">5741.9602519355458</cx:pt>
          <cx:pt idx="3805">7066.9573764105944</cx:pt>
          <cx:pt idx="3806">6846.2156180875763</cx:pt>
          <cx:pt idx="3807">6345.1784405871422</cx:pt>
          <cx:pt idx="3808">7400.3426213339135</cx:pt>
          <cx:pt idx="3809">7815.2106090787111</cx:pt>
          <cx:pt idx="3810">7869.6591695809684</cx:pt>
          <cx:pt idx="3811">7227.5879014397642</cx:pt>
          <cx:pt idx="3812">7067.8515107379217</cx:pt>
          <cx:pt idx="3813">7856.1190194297196</cx:pt>
          <cx:pt idx="3814">6586.0004958159398</cx:pt>
          <cx:pt idx="3815">7711.1293920574481</cx:pt>
          <cx:pt idx="3816">6954.5444085455065</cx:pt>
          <cx:pt idx="3817">7164.2173854248522</cx:pt>
          <cx:pt idx="3818">8230.2602481842623</cx:pt>
          <cx:pt idx="3819">7604.112491109815</cx:pt>
          <cx:pt idx="3820">6619.4286840954092</cx:pt>
          <cx:pt idx="3821">6972.2945903477121</cx:pt>
          <cx:pt idx="3822">6676.8430773188302</cx:pt>
          <cx:pt idx="3823">6103.5755335382464</cx:pt>
          <cx:pt idx="3824">8081.1330871926657</cx:pt>
          <cx:pt idx="3825">7439.5039200797464</cx:pt>
          <cx:pt idx="3826">7130.0600260125211</cx:pt>
          <cx:pt idx="3827">6943.775539583783</cx:pt>
          <cx:pt idx="3828">7553.7359554803788</cx:pt>
          <cx:pt idx="3829">6726.9833431258194</cx:pt>
          <cx:pt idx="3830">7180.0080063499599</cx:pt>
          <cx:pt idx="3831">6909.9282491698686</cx:pt>
          <cx:pt idx="3832">8029.6717680695028</cx:pt>
          <cx:pt idx="3833">7423.6492643885467</cx:pt>
          <cx:pt idx="3834">5683.7018166986581</cx:pt>
          <cx:pt idx="3835">7148.2283965393099</cx:pt>
          <cx:pt idx="3836">6794.470925835496</cx:pt>
          <cx:pt idx="3837">7468.3854073363564</cx:pt>
          <cx:pt idx="3838">7429.027770123982</cx:pt>
          <cx:pt idx="3839">6924.2348620477242</cx:pt>
          <cx:pt idx="3840">6653.5749492300965</cx:pt>
          <cx:pt idx="3841">7432.9735202506026</cx:pt>
          <cx:pt idx="3842">7488.4412734033222</cx:pt>
          <cx:pt idx="3843">7016.8168159291672</cx:pt>
          <cx:pt idx="3844">7285.4630797851114</cx:pt>
          <cx:pt idx="3845">7226.2608657937262</cx:pt>
          <cx:pt idx="3846">8339.4483106073349</cx:pt>
          <cx:pt idx="3847">6964.4541061501886</cx:pt>
          <cx:pt idx="3848">6818.9327458403659</cx:pt>
          <cx:pt idx="3849">5893.6018603137754</cx:pt>
          <cx:pt idx="3850">6843.189983915825</cx:pt>
          <cx:pt idx="3851">6408.0910372077233</cx:pt>
          <cx:pt idx="3852">7187.4086209882535</cx:pt>
          <cx:pt idx="3853">6085.5974217993153</cx:pt>
          <cx:pt idx="3854">6309.189653685653</cx:pt>
          <cx:pt idx="3855">7267.4952542950832</cx:pt>
          <cx:pt idx="3856">7263.9397421023914</cx:pt>
          <cx:pt idx="3857">5100.7034473438916</cx:pt>
          <cx:pt idx="3858">5663.3669866960718</cx:pt>
          <cx:pt idx="3859">7448.0294572786188</cx:pt>
          <cx:pt idx="3860">6607.8277609492552</cx:pt>
          <cx:pt idx="3861">6035.5862065938582</cx:pt>
          <cx:pt idx="3862">5533.7654548608152</cx:pt>
          <cx:pt idx="3863">5926.5740260029779</cx:pt>
          <cx:pt idx="3864">6091.6571361406386</cx:pt>
          <cx:pt idx="3865">7446.133459163726</cx:pt>
          <cx:pt idx="3866">5940.651517668769</cx:pt>
          <cx:pt idx="3867">6884.4819683600681</cx:pt>
          <cx:pt idx="3868">6878.0533043147188</cx:pt>
          <cx:pt idx="3869">7288.6988793859637</cx:pt>
          <cx:pt idx="3870">7037.4978216976051</cx:pt>
          <cx:pt idx="3871">7912.414923139303</cx:pt>
          <cx:pt idx="3872">6498.2496762336887</cx:pt>
          <cx:pt idx="3873">6216.2087620732264</cx:pt>
          <cx:pt idx="3874">5863.4226105999333</cx:pt>
          <cx:pt idx="3875">7037.5684284370564</cx:pt>
          <cx:pt idx="3876">5713.6463525179806</cx:pt>
          <cx:pt idx="3877">6262.670580604422</cx:pt>
          <cx:pt idx="3878">7359.3468478714594</cx:pt>
          <cx:pt idx="3879">6366.4730831110419</cx:pt>
          <cx:pt idx="3880">7569.2815364445923</cx:pt>
          <cx:pt idx="3881">7231.9292040777736</cx:pt>
          <cx:pt idx="3882">7779.3730368428251</cx:pt>
          <cx:pt idx="3883">6392.2931312554983</cx:pt>
          <cx:pt idx="3884">6669.2257986828008</cx:pt>
          <cx:pt idx="3885">6349.9744578073842</cx:pt>
          <cx:pt idx="3886">7527.896156815068</cx:pt>
          <cx:pt idx="3887">6722.2535049299759</cx:pt>
          <cx:pt idx="3888">6548.2249787594401</cx:pt>
          <cx:pt idx="3889">5757.7385585604907</cx:pt>
          <cx:pt idx="3890">7065.2784374306266</cx:pt>
          <cx:pt idx="3891">5959.7815095653586</cx:pt>
          <cx:pt idx="3892">5209.806760824782</cx:pt>
          <cx:pt idx="3893">6190.6379022456285</cx:pt>
          <cx:pt idx="3894">6145.2583728671425</cx:pt>
          <cx:pt idx="3895">7090.4710549921292</cx:pt>
          <cx:pt idx="3896">6472.2465384821253</cx:pt>
          <cx:pt idx="3897">5277.7686833953185</cx:pt>
          <cx:pt idx="3898">5819.6397504696743</cx:pt>
          <cx:pt idx="3899">6938.6960765325421</cx:pt>
          <cx:pt idx="3900">7056.5925121964683</cx:pt>
          <cx:pt idx="3901">8230.105870460975</cx:pt>
          <cx:pt idx="3902">7583.5611059527864</cx:pt>
          <cx:pt idx="3903">7134.0692108104076</cx:pt>
          <cx:pt idx="3904">6340.7760320844891</cx:pt>
          <cx:pt idx="3905">7469.4315066129348</cx:pt>
          <cx:pt idx="3906">7755.0715516253385</cx:pt>
          <cx:pt idx="3907">6498.6651353204579</cx:pt>
          <cx:pt idx="3908">7312.1640028348775</cx:pt>
          <cx:pt idx="3909">6798.8314048376051</cx:pt>
          <cx:pt idx="3910">7582.1478609129681</cx:pt>
          <cx:pt idx="3911">7319.4014670233028</cx:pt>
          <cx:pt idx="3912">6967.7733791322644</cx:pt>
          <cx:pt idx="3913">7415.7254424606072</cx:pt>
          <cx:pt idx="3914">6625.604970633708</cx:pt>
          <cx:pt idx="3915">7545.4415822830906</cx:pt>
          <cx:pt idx="3916">5123.0084127055798</cx:pt>
          <cx:pt idx="3917">5343.4901279696396</cx:pt>
          <cx:pt idx="3918">7491.7661173323195</cx:pt>
          <cx:pt idx="3919">7450.6285446442653</cx:pt>
          <cx:pt idx="3920">5216.850314285045</cx:pt>
          <cx:pt idx="3921">7675.8508738308974</cx:pt>
          <cx:pt idx="3922">7935.1928914743739</cx:pt>
          <cx:pt idx="3923">5248.9820994039956</cx:pt>
          <cx:pt idx="3924">5236.4367585568389</cx:pt>
          <cx:pt idx="3925">6596.5592045393569</cx:pt>
          <cx:pt idx="3926">8146.3970419003945</cx:pt>
          <cx:pt idx="3927">5213.4487379962329</cx:pt>
          <cx:pt idx="3928">8341.0464594419464</cx:pt>
          <cx:pt idx="3929">7548.6345617865536</cx:pt>
          <cx:pt idx="3930">7703.0029832770952</cx:pt>
          <cx:pt idx="3931">6361.6825824227008</cx:pt>
          <cx:pt idx="3932">6619.2542185494749</cx:pt>
          <cx:pt idx="3933">7830.9854827214531</cx:pt>
          <cx:pt idx="3934">7722.6624734265915</cx:pt>
          <cx:pt idx="3935">7250.5775839968746</cx:pt>
          <cx:pt idx="3936">6983.8280154544045</cx:pt>
          <cx:pt idx="3937">7779.6286599407904</cx:pt>
          <cx:pt idx="3938">4920.8918378151229</cx:pt>
          <cx:pt idx="3939">6436.4904798795105</cx:pt>
          <cx:pt idx="3940">7318.1988589426028</cx:pt>
          <cx:pt idx="3941">6251.2250590607882</cx:pt>
          <cx:pt idx="3942">6886.7961539886528</cx:pt>
          <cx:pt idx="3943">7199.995906577461</cx:pt>
          <cx:pt idx="3944">7284.3485780785686</cx:pt>
          <cx:pt idx="3945">6868.8293284523243</cx:pt>
          <cx:pt idx="3946">8472.0435941023279</cx:pt>
          <cx:pt idx="3947">6945.7267532283468</cx:pt>
          <cx:pt idx="3948">5856.2369157006324</cx:pt>
          <cx:pt idx="3949">6924.9641551037257</cx:pt>
          <cx:pt idx="3950">7913.0568486288139</cx:pt>
          <cx:pt idx="3951">6032.6187678371944</cx:pt>
          <cx:pt idx="3952">7631.2501226722661</cx:pt>
          <cx:pt idx="3953">6099.6967309393958</cx:pt>
          <cx:pt idx="3954">6566.957426090411</cx:pt>
          <cx:pt idx="3955">6581.1062780811744</cx:pt>
          <cx:pt idx="3956">6934.689889631798</cx:pt>
          <cx:pt idx="3957">6287.063038433851</cx:pt>
          <cx:pt idx="3958">6406.9266975047231</cx:pt>
          <cx:pt idx="3959">7009.2884272079436</cx:pt>
          <cx:pt idx="3960">4727.7415789923107</cx:pt>
          <cx:pt idx="3961">5656.3844444061333</cx:pt>
          <cx:pt idx="3962">5382.0085709960294</cx:pt>
          <cx:pt idx="3963">6372.4666848237621</cx:pt>
          <cx:pt idx="3964">5818.8493481963487</cx:pt>
          <cx:pt idx="3965">8100.1206597144228</cx:pt>
          <cx:pt idx="3966">8175.3407636311968</cx:pt>
          <cx:pt idx="3967">6328.8950772954731</cx:pt>
          <cx:pt idx="3968">6906.318093573258</cx:pt>
          <cx:pt idx="3969">6539.8308021786461</cx:pt>
          <cx:pt idx="3970">6593.9988573621686</cx:pt>
          <cx:pt idx="3971">7074.7619951645711</cx:pt>
          <cx:pt idx="3972">6014.6121279470617</cx:pt>
          <cx:pt idx="3973">5691.7500019396593</cx:pt>
          <cx:pt idx="3974">6809.0029469993915</cx:pt>
          <cx:pt idx="3975">6639.0148516071031</cx:pt>
          <cx:pt idx="3976">7692.7460197022065</cx:pt>
          <cx:pt idx="3977">4875.0379441801851</cx:pt>
          <cx:pt idx="3978">6979.7120383176589</cx:pt>
          <cx:pt idx="3979">6943.6665079668355</cx:pt>
          <cx:pt idx="3980">7954.7889154825098</cx:pt>
          <cx:pt idx="3981">6133.542579983965</cx:pt>
          <cx:pt idx="3982">7121.3492774249207</cx:pt>
          <cx:pt idx="3983">5984.0451046889493</cx:pt>
          <cx:pt idx="3984">6245.5581140741288</cx:pt>
          <cx:pt idx="3985">7652.6627959192547</cx:pt>
          <cx:pt idx="3986">7198.427698716062</cx:pt>
          <cx:pt idx="3987">7603.8829651945834</cx:pt>
          <cx:pt idx="3988">6986.777322855407</cx:pt>
          <cx:pt idx="3989">6435.1588825919962</cx:pt>
          <cx:pt idx="3990">6990.7571910295756</cx:pt>
          <cx:pt idx="3991">6004.511227409771</cx:pt>
          <cx:pt idx="3992">6978.4203269864847</cx:pt>
          <cx:pt idx="3993">8022.9848029770947</cx:pt>
          <cx:pt idx="3994">7467.0052013889272</cx:pt>
          <cx:pt idx="3995">7238.1395797200694</cx:pt>
          <cx:pt idx="3996">6079.9396412453134</cx:pt>
          <cx:pt idx="3997">5102.2430697797809</cx:pt>
          <cx:pt idx="3998">7392.8490870732849</cx:pt>
          <cx:pt idx="3999">7414.6058478629657</cx:pt>
          <cx:pt idx="4000">7785.1443979531705</cx:pt>
          <cx:pt idx="4001">6491.4209680078966</cx:pt>
          <cx:pt idx="4002">5709.5055035525147</cx:pt>
          <cx:pt idx="4003">7448.5179946316812</cx:pt>
          <cx:pt idx="4004">6693.0089444931873</cx:pt>
          <cx:pt idx="4005">6144.7866400003486</cx:pt>
          <cx:pt idx="4006">7184.3218794141476</cx:pt>
          <cx:pt idx="4007">5897.3009520696269</cx:pt>
          <cx:pt idx="4008">7895.2461744381899</cx:pt>
          <cx:pt idx="4009">6857.5162400030658</cx:pt>
          <cx:pt idx="4010">8062.4178394381706</cx:pt>
          <cx:pt idx="4011">7189.2083070699664</cx:pt>
          <cx:pt idx="4012">6210.5951227215546</cx:pt>
          <cx:pt idx="4013">6999.9793456060324</cx:pt>
          <cx:pt idx="4014">6447.1594382712165</cx:pt>
          <cx:pt idx="4015">7308.4506888694241</cx:pt>
          <cx:pt idx="4016">6146.344829513122</cx:pt>
          <cx:pt idx="4017">6859.0915808899426</cx:pt>
          <cx:pt idx="4018">6261.9617020566629</cx:pt>
          <cx:pt idx="4019">5971.6129770172456</cx:pt>
          <cx:pt idx="4020">4960.0411733676492</cx:pt>
          <cx:pt idx="4021">7020.1889503345856</cx:pt>
          <cx:pt idx="4022">5832.1826518769622</cx:pt>
          <cx:pt idx="4023">6029.6033678419908</cx:pt>
          <cx:pt idx="4024">8083.0449119863133</cx:pt>
          <cx:pt idx="4025">8300.1739856018812</cx:pt>
          <cx:pt idx="4026">5632.4055315101841</cx:pt>
          <cx:pt idx="4027">5392.381064090845</cx:pt>
          <cx:pt idx="4028">7314.0263448780206</cx:pt>
          <cx:pt idx="4029">7142.0467885547896</cx:pt>
          <cx:pt idx="4030">7495.621238500511</cx:pt>
          <cx:pt idx="4031">7002.2270495410676</cx:pt>
          <cx:pt idx="4032">7611.1241206920731</cx:pt>
          <cx:pt idx="4033">8719.8075652535645</cx:pt>
          <cx:pt idx="4034">7372.7732058376141</cx:pt>
          <cx:pt idx="4035">6267.7084555444044</cx:pt>
          <cx:pt idx="4036">7308.0103578307035</cx:pt>
          <cx:pt idx="4037">6545.2630432224705</cx:pt>
          <cx:pt idx="4038">6256.4944120055889</cx:pt>
          <cx:pt idx="4039">7412.7114707141136</cx:pt>
          <cx:pt idx="4040">6643.290028823998</cx:pt>
          <cx:pt idx="4041">7036.8765033344807</cx:pt>
          <cx:pt idx="4042">7695.3268187352924</cx:pt>
          <cx:pt idx="4043">8001.4520733896688</cx:pt>
          <cx:pt idx="4044">6372.4252491567058</cx:pt>
          <cx:pt idx="4045">6379.0707155073924</cx:pt>
          <cx:pt idx="4046">6160.291936231366</cx:pt>
          <cx:pt idx="4047">7270.4835843288074</cx:pt>
          <cx:pt idx="4048">8118.276182187933</cx:pt>
          <cx:pt idx="4049">6132.0437985115277</cx:pt>
          <cx:pt idx="4050">4945.279440346153</cx:pt>
          <cx:pt idx="4051">7155.3739098321976</cx:pt>
          <cx:pt idx="4052">5949.6005346131515</cx:pt>
          <cx:pt idx="4053">5849.6269955112384</cx:pt>
          <cx:pt idx="4054">7012.4872050980102</cx:pt>
          <cx:pt idx="4055">6068.5377024968111</cx:pt>
          <cx:pt idx="4056">6691.6013341333173</cx:pt>
          <cx:pt idx="4057">6298.0798864804965</cx:pt>
          <cx:pt idx="4058">7161.767625122141</cx:pt>
          <cx:pt idx="4059">6625.0428476404913</cx:pt>
          <cx:pt idx="4060">6229.2291793101876</cx:pt>
          <cx:pt idx="4061">6337.7472591368851</cx:pt>
          <cx:pt idx="4062">6816.5922354629856</cx:pt>
          <cx:pt idx="4063">5762.7708419728442</cx:pt>
          <cx:pt idx="4064">6062.795942563529</cx:pt>
          <cx:pt idx="4065">8179.8220306366629</cx:pt>
          <cx:pt idx="4066">6640.4713033649641</cx:pt>
          <cx:pt idx="4067">6348.9312951307011</cx:pt>
          <cx:pt idx="4068">6784.3864672887285</cx:pt>
          <cx:pt idx="4069">8078.7963098543223</cx:pt>
          <cx:pt idx="4070">6775.2478263687635</cx:pt>
          <cx:pt idx="4071">7277.7668068827161</cx:pt>
          <cx:pt idx="4072">8582.5589432312081</cx:pt>
          <cx:pt idx="4073">6720.3721199867732</cx:pt>
          <cx:pt idx="4074">6070.1401592054217</cx:pt>
          <cx:pt idx="4075">5937.5870305594344</cx:pt>
          <cx:pt idx="4076">6246.7827816094723</cx:pt>
          <cx:pt idx="4077">7696.9315733218527</cx:pt>
          <cx:pt idx="4078">5546.2703540130678</cx:pt>
          <cx:pt idx="4079">6941.3431183712546</cx:pt>
          <cx:pt idx="4080">7383.8610340817168</cx:pt>
          <cx:pt idx="4081">6765.1312280168759</cx:pt>
          <cx:pt idx="4082">5320.6536882263463</cx:pt>
          <cx:pt idx="4083">7563.3949505303726</cx:pt>
          <cx:pt idx="4084">7227.3342378332609</cx:pt>
          <cx:pt idx="4085">7880.505569783787</cx:pt>
          <cx:pt idx="4086">6142.1665059457573</cx:pt>
          <cx:pt idx="4087">6686.3722541560555</cx:pt>
          <cx:pt idx="4088">7854.9680720945453</cx:pt>
          <cx:pt idx="4089">8476.0396192084554</cx:pt>
          <cx:pt idx="4090">7235.5484546076032</cx:pt>
          <cx:pt idx="4091">7069.0840114080802</cx:pt>
          <cx:pt idx="4092">8512.3416936928807</cx:pt>
          <cx:pt idx="4093">6850.2002336808155</cx:pt>
          <cx:pt idx="4094">7165.4602005134893</cx:pt>
          <cx:pt idx="4095">7005.8815517857502</cx:pt>
          <cx:pt idx="4096">5883.7347398752408</cx:pt>
          <cx:pt idx="4097">6607.4915523282843</cx:pt>
          <cx:pt idx="4098">6200.6365287231811</cx:pt>
          <cx:pt idx="4099">7473.2193444155319</cx:pt>
          <cx:pt idx="4100">7887.8011708777149</cx:pt>
          <cx:pt idx="4101">4492.6320962235695</cx:pt>
          <cx:pt idx="4102">7195.5781966928544</cx:pt>
          <cx:pt idx="4103">7334.1682399787287</cx:pt>
          <cx:pt idx="4104">7301.5955268131993</cx:pt>
          <cx:pt idx="4105">6721.16534199527</cx:pt>
          <cx:pt idx="4106">6751.8516049998498</cx:pt>
          <cx:pt idx="4107">5670.7935779941663</cx:pt>
          <cx:pt idx="4108">6737.9459256449163</cx:pt>
          <cx:pt idx="4109">4902.5355348386929</cx:pt>
          <cx:pt idx="4110">7773.4503183838378</cx:pt>
          <cx:pt idx="4111">6767.840392120268</cx:pt>
          <cx:pt idx="4112">7726.2990111910867</cx:pt>
          <cx:pt idx="4113">6730.2527084612166</cx:pt>
          <cx:pt idx="4114">6934.0909803719787</cx:pt>
          <cx:pt idx="4115">7438.3195742566268</cx:pt>
          <cx:pt idx="4116">5848.8067072437825</cx:pt>
          <cx:pt idx="4117">6336.9961753473044</cx:pt>
          <cx:pt idx="4118">7616.9278211955316</cx:pt>
          <cx:pt idx="4119">7709.7769774396975</cx:pt>
          <cx:pt idx="4120">7801.0718731483748</cx:pt>
          <cx:pt idx="4121">6226.0509706029925</cx:pt>
          <cx:pt idx="4122">6732.0297736451566</cx:pt>
          <cx:pt idx="4123">7705.0049951338151</cx:pt>
          <cx:pt idx="4124">7230.0325544653206</cx:pt>
          <cx:pt idx="4125">7237.6033843319547</cx:pt>
          <cx:pt idx="4126">7337.2217752081378</cx:pt>
          <cx:pt idx="4127">5994.3467583145966</cx:pt>
          <cx:pt idx="4128">6891.7251969191893</cx:pt>
          <cx:pt idx="4129">6716.3580791208351</cx:pt>
          <cx:pt idx="4130">6512.4046942937421</cx:pt>
          <cx:pt idx="4131">5981.5808456132681</cx:pt>
          <cx:pt idx="4132">7255.741464925638</cx:pt>
          <cx:pt idx="4133">6230.9789097101202</cx:pt>
          <cx:pt idx="4134">6868.1847591604392</cx:pt>
          <cx:pt idx="4135">7275.9840360740964</cx:pt>
          <cx:pt idx="4136">5048.1265941042902</cx:pt>
          <cx:pt idx="4137">6548.9917953594095</cx:pt>
          <cx:pt idx="4138">7445.9996026735671</cx:pt>
          <cx:pt idx="4139">5495.0474643034959</cx:pt>
          <cx:pt idx="4140">6757.8181609228704</cx:pt>
          <cx:pt idx="4141">5618.9359568424916</cx:pt>
          <cx:pt idx="4142">8065.078004347758</cx:pt>
          <cx:pt idx="4143">7897.1657750166587</cx:pt>
          <cx:pt idx="4144">6684.0038031373469</cx:pt>
          <cx:pt idx="4145">6454.7196720236188</cx:pt>
          <cx:pt idx="4146">7412.9040185752301</cx:pt>
          <cx:pt idx="4147">6380.5874891563599</cx:pt>
          <cx:pt idx="4148">6949.8555168131852</cx:pt>
          <cx:pt idx="4149">7216.846830400742</cx:pt>
          <cx:pt idx="4150">6626.010512960147</cx:pt>
          <cx:pt idx="4151">6347.0625983190612</cx:pt>
          <cx:pt idx="4152">5645.1934201998311</cx:pt>
          <cx:pt idx="4153">6786.7387183977107</cx:pt>
          <cx:pt idx="4154">7663.7885174027188</cx:pt>
          <cx:pt idx="4155">7313.659458170202</cx:pt>
          <cx:pt idx="4156">5128.4823729742293</cx:pt>
          <cx:pt idx="4157">7231.1221459667559</cx:pt>
          <cx:pt idx="4158">7019.5956907346808</cx:pt>
          <cx:pt idx="4159">6363.1219211779498</cx:pt>
          <cx:pt idx="4160">8041.6644364663298</cx:pt>
          <cx:pt idx="4161">6409.1725250763793</cx:pt>
          <cx:pt idx="4162">6610.432093884262</cx:pt>
          <cx:pt idx="4163">5953.7319223462946</cx:pt>
          <cx:pt idx="4164">6535.0596818273616</cx:pt>
          <cx:pt idx="4165">8140.5546369460817</cx:pt>
          <cx:pt idx="4166">6588.6022516476032</cx:pt>
          <cx:pt idx="4167">6485.2369498455173</cx:pt>
          <cx:pt idx="4168">6569.3840577350256</cx:pt>
          <cx:pt idx="4169">6211.0223168610155</cx:pt>
          <cx:pt idx="4170">8445.0032938028035</cx:pt>
          <cx:pt idx="4171">6063.8703396012779</cx:pt>
          <cx:pt idx="4172">7050.6723708042573</cx:pt>
          <cx:pt idx="4173">6853.1455964791585</cx:pt>
          <cx:pt idx="4174">7416.9964919452668</cx:pt>
          <cx:pt idx="4175">6711.459182401396</cx:pt>
          <cx:pt idx="4176">6774.8505116553251</cx:pt>
          <cx:pt idx="4177">6428.0874701007369</cx:pt>
          <cx:pt idx="4178">6143.1247983296498</cx:pt>
          <cx:pt idx="4179">6646.1763578683913</cx:pt>
          <cx:pt idx="4180">6881.389277530011</cx:pt>
          <cx:pt idx="4181">5780.8854113493735</cx:pt>
          <cx:pt idx="4182">6718.5427617096284</cx:pt>
          <cx:pt idx="4183">7832.5812865309254</cx:pt>
          <cx:pt idx="4184">6672.225216415789</cx:pt>
          <cx:pt idx="4185">6357.5346165264818</cx:pt>
          <cx:pt idx="4186">5110.8931477291981</cx:pt>
          <cx:pt idx="4187">6881.9281455605487</cx:pt>
          <cx:pt idx="4188">6591.131216875986</cx:pt>
          <cx:pt idx="4189">7126.9974413468744</cx:pt>
          <cx:pt idx="4190">6490.3274127728009</cx:pt>
          <cx:pt idx="4191">5474.6076775047914</cx:pt>
          <cx:pt idx="4192">8380.1312737273311</cx:pt>
          <cx:pt idx="4193">6257.552382527776</cx:pt>
          <cx:pt idx="4194">7366.6507739879589</cx:pt>
          <cx:pt idx="4195">7050.9269877510724</cx:pt>
          <cx:pt idx="4196">7057.4447526873955</cx:pt>
          <cx:pt idx="4197">6145.8728453627973</cx:pt>
          <cx:pt idx="4198">5996.030636088316</cx:pt>
          <cx:pt idx="4199">7135.6133258761838</cx:pt>
          <cx:pt idx="4200">6311.4268959208075</cx:pt>
          <cx:pt idx="4201">6988.0690675159085</cx:pt>
          <cx:pt idx="4202">7636.6950863988941</cx:pt>
          <cx:pt idx="4203">7301.4183316844519</cx:pt>
          <cx:pt idx="4204">5984.8708754093059</cx:pt>
          <cx:pt idx="4205">7103.1586046729562</cx:pt>
          <cx:pt idx="4206">6656.0468443670388</cx:pt>
          <cx:pt idx="4207">6048.0339896658597</cx:pt>
          <cx:pt idx="4208">7401.2454688337957</cx:pt>
          <cx:pt idx="4209">7248.0321233577124</cx:pt>
          <cx:pt idx="4210">8130.9478642255935</cx:pt>
          <cx:pt idx="4211">7058.3046823000486</cx:pt>
          <cx:pt idx="4212">6424.1942717711272</cx:pt>
          <cx:pt idx="4213">7265.8443646914529</cx:pt>
          <cx:pt idx="4214">6865.1545157600485</cx:pt>
          <cx:pt idx="4215">5494.0464524704394</cx:pt>
          <cx:pt idx="4216">5977.8738527444539</cx:pt>
          <cx:pt idx="4217">5885.2676857258466</cx:pt>
          <cx:pt idx="4218">6310.3704825924606</cx:pt>
          <cx:pt idx="4219">7425.4486030967091</cx:pt>
          <cx:pt idx="4220">6130.03891621196</cx:pt>
          <cx:pt idx="4221">6118.576079971931</cx:pt>
          <cx:pt idx="4222">8024.8853085888013</cx:pt>
          <cx:pt idx="4223">6141.5558162194866</cx:pt>
          <cx:pt idx="4224">6082.0616334560891</cx:pt>
          <cx:pt idx="4225">7444.2575413006834</cx:pt>
          <cx:pt idx="4226">5997.1811629624144</cx:pt>
          <cx:pt idx="4227">6799.678470153588</cx:pt>
          <cx:pt idx="4228">5652.0210257379094</cx:pt>
          <cx:pt idx="4229">5622.171168793755</cx:pt>
          <cx:pt idx="4230">6907.9981148065235</cx:pt>
          <cx:pt idx="4231">7118.623460481117</cx:pt>
          <cx:pt idx="4232">6551.6084731125748</cx:pt>
          <cx:pt idx="4233">7617.5383534111879</cx:pt>
          <cx:pt idx="4234">7078.1962318882534</cx:pt>
          <cx:pt idx="4235">5673.1519419338929</cx:pt>
          <cx:pt idx="4236">6701.4939588586003</cx:pt>
          <cx:pt idx="4237">5549.0407203564946</cx:pt>
          <cx:pt idx="4238">6011.7184707637089</cx:pt>
          <cx:pt idx="4239">7471.9320426550121</cx:pt>
          <cx:pt idx="4240">6598.6739748834934</cx:pt>
          <cx:pt idx="4241">7222.1445178405002</cx:pt>
          <cx:pt idx="4242">7268.8976880322061</cx:pt>
          <cx:pt idx="4243">4779.3950322341352</cx:pt>
          <cx:pt idx="4244">7153.5357537702221</cx:pt>
          <cx:pt idx="4245">7649.1599725016349</cx:pt>
          <cx:pt idx="4246">8375.368694077486</cx:pt>
          <cx:pt idx="4247">6150.3551081206497</cx:pt>
          <cx:pt idx="4248">6647.598347336494</cx:pt>
          <cx:pt idx="4249">7359.9125463719784</cx:pt>
          <cx:pt idx="4250">6799.2151479876102</cx:pt>
          <cx:pt idx="4251">7128.8576337511922</cx:pt>
          <cx:pt idx="4252">7532.820211430625</cx:pt>
          <cx:pt idx="4253">5706.4528778610966</cx:pt>
          <cx:pt idx="4254">6164.9777043692602</cx:pt>
          <cx:pt idx="4255">6349.6112272613063</cx:pt>
          <cx:pt idx="4256">6411.8436860703932</cx:pt>
          <cx:pt idx="4257">6613.1661774785853</cx:pt>
          <cx:pt idx="4258">5063.3450229982082</cx:pt>
          <cx:pt idx="4259">6644.7578977867734</cx:pt>
          <cx:pt idx="4260">7504.0722110191291</cx:pt>
          <cx:pt idx="4261">5589.0691259964206</cx:pt>
          <cx:pt idx="4262">5540.715960066168</cx:pt>
          <cx:pt idx="4263">6407.0140688831043</cx:pt>
          <cx:pt idx="4264">7302.8750027287888</cx:pt>
          <cx:pt idx="4265">8283.7739310544348</cx:pt>
          <cx:pt idx="4266">6941.8701459517688</cx:pt>
          <cx:pt idx="4267">6093.4187454947623</cx:pt>
          <cx:pt idx="4268">6678.1707587653254</cx:pt>
          <cx:pt idx="4269">5479.4054896067255</cx:pt>
          <cx:pt idx="4270">6432.128017990849</cx:pt>
          <cx:pt idx="4271">7376.4822892689717</cx:pt>
          <cx:pt idx="4272">5928.6606348244204</cx:pt>
          <cx:pt idx="4273">6233.0429836930462</cx:pt>
          <cx:pt idx="4274">7159.49587702393</cx:pt>
          <cx:pt idx="4275">8278.7614072821852</cx:pt>
          <cx:pt idx="4276">7303.3195299993977</cx:pt>
          <cx:pt idx="4277">7373.8746414606803</cx:pt>
          <cx:pt idx="4278">7763.6045029275401</cx:pt>
          <cx:pt idx="4279">6659.9062193020154</cx:pt>
          <cx:pt idx="4280">8258.2513655576113</cx:pt>
          <cx:pt idx="4281">6908.1641212939485</cx:pt>
          <cx:pt idx="4282">5445.4405301683628</cx:pt>
          <cx:pt idx="4283">5307.0379189409377</cx:pt>
          <cx:pt idx="4284">7430.7516984870072</cx:pt>
          <cx:pt idx="4285">7098.5647167715006</cx:pt>
          <cx:pt idx="4286">7783.357231242715</cx:pt>
          <cx:pt idx="4287">7296.0974567929707</cx:pt>
          <cx:pt idx="4288">5358.061197763298</cx:pt>
          <cx:pt idx="4289">6615.4535181441606</cx:pt>
          <cx:pt idx="4290">7363.6832996482999</cx:pt>
          <cx:pt idx="4291">6422.3538544364474</cx:pt>
          <cx:pt idx="4292">5380.7660776700568</cx:pt>
          <cx:pt idx="4293">6950.8541092200157</cx:pt>
          <cx:pt idx="4294">7133.7235292982441</cx:pt>
          <cx:pt idx="4295">7247.0406595089562</cx:pt>
          <cx:pt idx="4296">7422.5346459233406</cx:pt>
          <cx:pt idx="4297">6196.7933995101484</cx:pt>
          <cx:pt idx="4298">6441.9222725558366</cx:pt>
          <cx:pt idx="4299">6701.5485659426995</cx:pt>
          <cx:pt idx="4300">5460.1993765298957</cx:pt>
          <cx:pt idx="4301">7857.6900814802975</cx:pt>
          <cx:pt idx="4302">7725.997606161668</cx:pt>
          <cx:pt idx="4303">7558.7052201989636</cx:pt>
          <cx:pt idx="4304">5298.9009518814155</cx:pt>
          <cx:pt idx="4305">7453.6567705965363</cx:pt>
          <cx:pt idx="4306">6123.1138893080133</cx:pt>
          <cx:pt idx="4307">6089.1878516475172</cx:pt>
          <cx:pt idx="4308">7069.4146363901909</cx:pt>
          <cx:pt idx="4309">6056.0210215261886</cx:pt>
          <cx:pt idx="4310">7018.0101633062677</cx:pt>
          <cx:pt idx="4311">7543.8888609374917</cx:pt>
          <cx:pt idx="4312">7006.8444718164346</cx:pt>
          <cx:pt idx="4313">6135.4905480130392</cx:pt>
          <cx:pt idx="4314">6333.3650269516575</cx:pt>
          <cx:pt idx="4315">6339.4370510173021</cx:pt>
          <cx:pt idx="4316">7731.0712738312086</cx:pt>
          <cx:pt idx="4317">6090.352936686535</cx:pt>
          <cx:pt idx="4318">7043.9144564285452</cx:pt>
          <cx:pt idx="4319">6928.3023849677866</cx:pt>
          <cx:pt idx="4320">7513.0747832157731</cx:pt>
          <cx:pt idx="4321">7599.0641479685182</cx:pt>
          <cx:pt idx="4322">5956.4381446322486</cx:pt>
          <cx:pt idx="4323">6991.6004322356011</cx:pt>
          <cx:pt idx="4324">7754.1232455284944</cx:pt>
          <cx:pt idx="4325">7930.1192483109617</cx:pt>
          <cx:pt idx="4326">5955.0221269302174</cx:pt>
          <cx:pt idx="4327">7849.4154383211489</cx:pt>
          <cx:pt idx="4328">6478.2011384097004</cx:pt>
          <cx:pt idx="4329">5284.6895129207787</cx:pt>
          <cx:pt idx="4330">5867.2635474494782</cx:pt>
          <cx:pt idx="4331">7318.8866937569028</cx:pt>
          <cx:pt idx="4332">6334.7820620539487</cx:pt>
          <cx:pt idx="4333">6445.4554453750634</cx:pt>
          <cx:pt idx="4334">6319.1059670874829</cx:pt>
          <cx:pt idx="4335">6359.9766437340095</cx:pt>
          <cx:pt idx="4336">6484.6334685598695</cx:pt>
          <cx:pt idx="4337">6827.7233155103077</cx:pt>
          <cx:pt idx="4338">6902.3199037796849</cx:pt>
          <cx:pt idx="4339">5311.2200787607953</cx:pt>
          <cx:pt idx="4340">7577.8244965875292</cx:pt>
          <cx:pt idx="4341">7099.1820555908298</cx:pt>
          <cx:pt idx="4342">7145.2416827203033</cx:pt>
          <cx:pt idx="4343">4781.3450452082643</cx:pt>
          <cx:pt idx="4344">8048.4826068039511</cx:pt>
          <cx:pt idx="4345">5926.8359192269372</cx:pt>
          <cx:pt idx="4346">8330.387547010756</cx:pt>
          <cx:pt idx="4347">6503.2505864712093</cx:pt>
          <cx:pt idx="4348">7316.1319271938528</cx:pt>
          <cx:pt idx="4349">6411.3300796367439</cx:pt>
          <cx:pt idx="4350">6165.3973656431535</cx:pt>
          <cx:pt idx="4351">6852.1171631374982</cx:pt>
          <cx:pt idx="4352">6443.1874706644321</cx:pt>
          <cx:pt idx="4353">5454.0213004810785</cx:pt>
          <cx:pt idx="4354">7092.3869668929292</cx:pt>
          <cx:pt idx="4355">6639.9728976247789</cx:pt>
          <cx:pt idx="4356">6770.8081381111442</cx:pt>
          <cx:pt idx="4357">6549.9572199176737</cx:pt>
          <cx:pt idx="4358">6245.6267905845061</cx:pt>
          <cx:pt idx="4359">7302.2160647739884</cx:pt>
          <cx:pt idx="4360">6633.6253743561538</cx:pt>
          <cx:pt idx="4361">6384.4868741466889</cx:pt>
          <cx:pt idx="4362">7072.3738073244631</cx:pt>
          <cx:pt idx="4363">7957.6265849603633</cx:pt>
          <cx:pt idx="4364">6786.1568088713484</cx:pt>
          <cx:pt idx="4365">6045.3025333238784</cx:pt>
          <cx:pt idx="4366">6999.064708492785</cx:pt>
          <cx:pt idx="4367">6014.1428986208102</cx:pt>
          <cx:pt idx="4368">7639.20127647962</cx:pt>
          <cx:pt idx="4369">6651.0263498369141</cx:pt>
          <cx:pt idx="4370">7436.9652728029469</cx:pt>
          <cx:pt idx="4371">6590.6101953832858</cx:pt>
          <cx:pt idx="4372">5364.1641846055772</cx:pt>
          <cx:pt idx="4373">7561.4952323562502</cx:pt>
          <cx:pt idx="4374">5901.9338875444482</cx:pt>
          <cx:pt idx="4375">6738.5183727631429</cx:pt>
          <cx:pt idx="4376">6141.2869766548056</cx:pt>
          <cx:pt idx="4377">7067.3051020598095</cx:pt>
          <cx:pt idx="4378">5945.5621822839048</cx:pt>
          <cx:pt idx="4379">5785.2568091765124</cx:pt>
          <cx:pt idx="4380">6263.3737912118986</cx:pt>
          <cx:pt idx="4381">6327.0531653666167</cx:pt>
          <cx:pt idx="4382">6214.1567600214257</cx:pt>
          <cx:pt idx="4383">5840.9960239495203</cx:pt>
          <cx:pt idx="4384">6254.8605430289999</cx:pt>
          <cx:pt idx="4385">7355.7621740046952</cx:pt>
          <cx:pt idx="4386">6914.9080589740533</cx:pt>
          <cx:pt idx="4387">7108.3190675640481</cx:pt>
          <cx:pt idx="4388">7671.0696657887829</cx:pt>
          <cx:pt idx="4389">6223.1363900887391</cx:pt>
          <cx:pt idx="4390">7519.9456060722878</cx:pt>
          <cx:pt idx="4391">8120.5215177575346</cx:pt>
          <cx:pt idx="4392">7055.3492556407791</cx:pt>
          <cx:pt idx="4393">6472.1129078268768</cx:pt>
          <cx:pt idx="4394">5722.8856108031769</cx:pt>
          <cx:pt idx="4395">6545.7753126808911</cx:pt>
          <cx:pt idx="4396">6922.4289915168929</cx:pt>
          <cx:pt idx="4397">6825.8600529386986</cx:pt>
          <cx:pt idx="4398">6967.6959458742849</cx:pt>
          <cx:pt idx="4399">4809.2811823863231</cx:pt>
          <cx:pt idx="4400">5258.0662261461457</cx:pt>
          <cx:pt idx="4401">7252.3250455384095</cx:pt>
          <cx:pt idx="4402">7591.6600033182267</cx:pt>
          <cx:pt idx="4403">5904.4264915308813</cx:pt>
          <cx:pt idx="4404">6271.5463761711353</cx:pt>
          <cx:pt idx="4405">6362.6251114846273</cx:pt>
          <cx:pt idx="4406">7521.3742520525302</cx:pt>
          <cx:pt idx="4407">6901.9010866941489</cx:pt>
          <cx:pt idx="4408">7802.1547776198249</cx:pt>
          <cx:pt idx="4409">7696.2261205598479</cx:pt>
          <cx:pt idx="4410">7328.6729441759926</cx:pt>
          <cx:pt idx="4411">7378.7564335953148</cx:pt>
          <cx:pt idx="4412">5754.8070676333455</cx:pt>
          <cx:pt idx="4413">5916.571980879171</cx:pt>
          <cx:pt idx="4414">6089.3388824820895</cx:pt>
          <cx:pt idx="4415">6341.894186921566</cx:pt>
          <cx:pt idx="4416">7697.9443706583961</cx:pt>
          <cx:pt idx="4417">7312.1190599219663</cx:pt>
          <cx:pt idx="4418">7196.2922947200668</cx:pt>
          <cx:pt idx="4419">8577.7750048592861</cx:pt>
          <cx:pt idx="4420">8344.8120735096199</cx:pt>
          <cx:pt idx="4421">7750.4312763932585</cx:pt>
          <cx:pt idx="4422">6196.176333565707</cx:pt>
          <cx:pt idx="4423">7400.661862499579</cx:pt>
          <cx:pt idx="4424">7299.498733162709</cx:pt>
          <cx:pt idx="4425">6766.8928786050574</cx:pt>
          <cx:pt idx="4426">7895.8595496403341</cx:pt>
          <cx:pt idx="4427">6582.3658119951106</cx:pt>
          <cx:pt idx="4428">6326.4810808127486</cx:pt>
          <cx:pt idx="4429">5357.5588473190655</cx:pt>
          <cx:pt idx="4430">6101.2949636027006</cx:pt>
          <cx:pt idx="4431">7460.4114774180161</cx:pt>
          <cx:pt idx="4432">6938.4010296349034</cx:pt>
          <cx:pt idx="4433">6633.2287261907013</cx:pt>
          <cx:pt idx="4434">8395.5309981198443</cx:pt>
          <cx:pt idx="4435">6702.8865950431027</cx:pt>
          <cx:pt idx="4436">5995.3958560895953</cx:pt>
          <cx:pt idx="4437">7251.4396779396411</cx:pt>
          <cx:pt idx="4438">7742.4899176440322</cx:pt>
          <cx:pt idx="4439">8246.930670282849</cx:pt>
          <cx:pt idx="4440">7761.6531443228941</cx:pt>
          <cx:pt idx="4441">5575.9066129659468</cx:pt>
          <cx:pt idx="4442">7402.036422746648</cx:pt>
          <cx:pt idx="4443">7572.496411165781</cx:pt>
          <cx:pt idx="4444">6525.5573806281527</cx:pt>
          <cx:pt idx="4445">6009.0378885260825</cx:pt>
          <cx:pt idx="4446">7580.8426670986937</cx:pt>
          <cx:pt idx="4447">5844.1533632516539</cx:pt>
          <cx:pt idx="4448">6119.0691650681483</cx:pt>
          <cx:pt idx="4449">5929.5964334615965</cx:pt>
          <cx:pt idx="4450">6293.6420848738953</cx:pt>
          <cx:pt idx="4451">6686.7830625361466</cx:pt>
          <cx:pt idx="4452">5935.9957105311451</cx:pt>
          <cx:pt idx="4453">6648.9168436594246</cx:pt>
          <cx:pt idx="4454">6544.0664737181623</cx:pt>
          <cx:pt idx="4455">6832.6982993187512</cx:pt>
          <cx:pt idx="4456">7101.4310046843748</cx:pt>
          <cx:pt idx="4457">5479.4998290101639</cx:pt>
          <cx:pt idx="4458">6868.8311915307031</cx:pt>
          <cx:pt idx="4459">7234.6242932706828</cx:pt>
          <cx:pt idx="4460">5735.0656619340207</cx:pt>
          <cx:pt idx="4461">6658.4478879012395</cx:pt>
          <cx:pt idx="4462">7388.2928547065012</cx:pt>
          <cx:pt idx="4463">6375.9762451065853</cx:pt>
          <cx:pt idx="4464">5302.0663030018977</cx:pt>
          <cx:pt idx="4465">6737.6262754976779</cx:pt>
          <cx:pt idx="4466">6835.6669734951101</cx:pt>
          <cx:pt idx="4467">8143.9758424568827</cx:pt>
          <cx:pt idx="4468">6504.4509725587868</cx:pt>
          <cx:pt idx="4469">6446.6805597790426</cx:pt>
          <cx:pt idx="4470">6467.0273835866983</cx:pt>
          <cx:pt idx="4471">6958.6794069658699</cx:pt>
          <cx:pt idx="4472">5598.1445535503581</cx:pt>
          <cx:pt idx="4473">5524.2721444576237</cx:pt>
          <cx:pt idx="4474">7336.3102357754169</cx:pt>
          <cx:pt idx="4475">4792.4308749700058</cx:pt>
          <cx:pt idx="4476">7679.4089618508733</cx:pt>
          <cx:pt idx="4477">6219.3512301117107</cx:pt>
          <cx:pt idx="4478">7141.0331487967005</cx:pt>
          <cx:pt idx="4479">6441.7622426564885</cx:pt>
          <cx:pt idx="4480">5717.7381874368803</cx:pt>
          <cx:pt idx="4481">6495.9598978913582</cx:pt>
          <cx:pt idx="4482">7335.2079138024801</cx:pt>
          <cx:pt idx="4483">7136.3746412646624</cx:pt>
          <cx:pt idx="4484">6267.7952343940506</cx:pt>
          <cx:pt idx="4485">7532.5847166259991</cx:pt>
          <cx:pt idx="4486">7583.6906112593369</cx:pt>
          <cx:pt idx="4487">7068.6200821534776</cx:pt>
          <cx:pt idx="4488">6732.1795617391817</cx:pt>
          <cx:pt idx="4489">7788.7341697427155</cx:pt>
          <cx:pt idx="4490">5946.2076804935941</cx:pt>
          <cx:pt idx="4491">7633.0197584432271</cx:pt>
          <cx:pt idx="4492">6249.0457357865816</cx:pt>
          <cx:pt idx="4493">7595.4798554511926</cx:pt>
          <cx:pt idx="4494">7492.1406133726086</cx:pt>
          <cx:pt idx="4495">6728.3412912718704</cx:pt>
          <cx:pt idx="4496">6239.4109394075786</cx:pt>
          <cx:pt idx="4497">7967.6314692791875</cx:pt>
          <cx:pt idx="4498">7202.2005078434222</cx:pt>
          <cx:pt idx="4499">7471.7497405765398</cx:pt>
          <cx:pt idx="4500">6623.6167342476219</cx:pt>
          <cx:pt idx="4501">6602.069030034254</cx:pt>
          <cx:pt idx="4502">7381.044486522369</cx:pt>
          <cx:pt idx="4503">6382.3097436520638</cx:pt>
          <cx:pt idx="4504">6209.3141189653516</cx:pt>
          <cx:pt idx="4505">7760.0576549700718</cx:pt>
          <cx:pt idx="4506">6957.4560592450443</cx:pt>
          <cx:pt idx="4507">7264.1712281257096</cx:pt>
          <cx:pt idx="4508">6639.4398998929264</cx:pt>
          <cx:pt idx="4509">6890.0639187061543</cx:pt>
          <cx:pt idx="4510">7922.4179625195757</cx:pt>
          <cx:pt idx="4511">5991.3278960156131</cx:pt>
          <cx:pt idx="4512">6772.883026789892</cx:pt>
          <cx:pt idx="4513">7113.6337039977652</cx:pt>
          <cx:pt idx="4514">6541.8844560789157</cx:pt>
          <cx:pt idx="4515">8037.5728885460458</cx:pt>
          <cx:pt idx="4516">5816.2037878599613</cx:pt>
          <cx:pt idx="4517">6359.1223274762879</cx:pt>
          <cx:pt idx="4518">6807.3090378372035</cx:pt>
          <cx:pt idx="4519">7417.9413729402731</cx:pt>
          <cx:pt idx="4520">6014.4733620604538</cx:pt>
          <cx:pt idx="4521">6937.0329987748046</cx:pt>
          <cx:pt idx="4522">5107.9915899349689</cx:pt>
          <cx:pt idx="4523">6988.8334338114646</cx:pt>
          <cx:pt idx="4524">6707.3561655527456</cx:pt>
          <cx:pt idx="4525">6668.955669711846</cx:pt>
          <cx:pt idx="4526">8032.4400878895967</cx:pt>
          <cx:pt idx="4527">5026.7391982275785</cx:pt>
          <cx:pt idx="4528">7247.5849366829098</cx:pt>
          <cx:pt idx="4529">7492.8842525072878</cx:pt>
          <cx:pt idx="4530">7163.3376329163939</cx:pt>
          <cx:pt idx="4531">7199.1811631768242</cx:pt>
          <cx:pt idx="4532">7691.7516225860436</cx:pt>
          <cx:pt idx="4533">6228.0983116972066</cx:pt>
          <cx:pt idx="4534">5684.5920613074541</cx:pt>
          <cx:pt idx="4535">7704.6041561858538</cx:pt>
          <cx:pt idx="4536">7507.4618167304561</cx:pt>
          <cx:pt idx="4537">6960.0504723516624</cx:pt>
          <cx:pt idx="4538">7529.0536759826064</cx:pt>
          <cx:pt idx="4539">8281.1017261588058</cx:pt>
          <cx:pt idx="4540">7732.461110745292</cx:pt>
          <cx:pt idx="4541">6450.1608087945124</cx:pt>
          <cx:pt idx="4542">7598.724255797265</cx:pt>
          <cx:pt idx="4543">6981.9446387800263</cx:pt>
          <cx:pt idx="4544">6911.465476541538</cx:pt>
          <cx:pt idx="4545">7621.379014984861</cx:pt>
          <cx:pt idx="4546">7083.1556752657489</cx:pt>
          <cx:pt idx="4547">6867.28053345026</cx:pt>
          <cx:pt idx="4548">5853.85876357909</cx:pt>
          <cx:pt idx="4549">6152.0976494512706</cx:pt>
          <cx:pt idx="4550">7168.7128029561336</cx:pt>
          <cx:pt idx="4551">5505.6790982963812</cx:pt>
          <cx:pt idx="4552">6423.114938077475</cx:pt>
          <cx:pt idx="4553">7304.4645689814961</cx:pt>
          <cx:pt idx="4554">6421.7455631544753</cx:pt>
          <cx:pt idx="4555">6286.2490870456231</cx:pt>
          <cx:pt idx="4556">6503.2902923451911</cx:pt>
          <cx:pt idx="4557">6978.6358409861059</cx:pt>
          <cx:pt idx="4558">7002.5700977277129</cx:pt>
          <cx:pt idx="4559">5921.182343881238</cx:pt>
          <cx:pt idx="4560">7181.1225783724594</cx:pt>
          <cx:pt idx="4561">6356.1781784116847</cx:pt>
          <cx:pt idx="4562">6675.1642416461618</cx:pt>
          <cx:pt idx="4563">6653.3155999802675</cx:pt>
          <cx:pt idx="4564">6429.1966408504813</cx:pt>
          <cx:pt idx="4565">5893.4487603679336</cx:pt>
          <cx:pt idx="4566">6653.2624639868309</cx:pt>
          <cx:pt idx="4567">6675.3483124220575</cx:pt>
          <cx:pt idx="4568">8320.5191889233101</cx:pt>
          <cx:pt idx="4569">6205.6487958012449</cx:pt>
          <cx:pt idx="4570">6970.3755486002892</cx:pt>
          <cx:pt idx="4571">6218.5473481059753</cx:pt>
          <cx:pt idx="4572">7353.6941572368014</cx:pt>
          <cx:pt idx="4573">7484.3355576235754</cx:pt>
          <cx:pt idx="4574">5430.8887840060406</cx:pt>
          <cx:pt idx="4575">8031.4622340701699</cx:pt>
          <cx:pt idx="4576">7400.4308348926288</cx:pt>
          <cx:pt idx="4577">7343.3419845982316</cx:pt>
          <cx:pt idx="4578">5695.5653203477032</cx:pt>
          <cx:pt idx="4579">6845.9960691148644</cx:pt>
          <cx:pt idx="4580">7209.8083122140806</cx:pt>
          <cx:pt idx="4581">6736.642751095218</cx:pt>
          <cx:pt idx="4582">6789.3946639926226</cx:pt>
          <cx:pt idx="4583">8331.4305796489371</cx:pt>
          <cx:pt idx="4584">6781.5480617147987</cx:pt>
          <cx:pt idx="4585">7179.1533130579155</cx:pt>
          <cx:pt idx="4586">6016.0553654209571</cx:pt>
          <cx:pt idx="4587">5259.998358098569</cx:pt>
          <cx:pt idx="4588">7751.1928340237682</cx:pt>
          <cx:pt idx="4589">6873.7630152932843</cx:pt>
          <cx:pt idx="4590">6900.5229540457103</cx:pt>
          <cx:pt idx="4591">6468.4913922410733</cx:pt>
          <cx:pt idx="4592">5407.3809942842727</cx:pt>
          <cx:pt idx="4593">7775.6015410532073</cx:pt>
          <cx:pt idx="4594">6186.1625805093845</cx:pt>
          <cx:pt idx="4595">7197.2219567100619</cx:pt>
          <cx:pt idx="4596">5785.8479106264831</cx:pt>
          <cx:pt idx="4597">7053.0108765251134</cx:pt>
          <cx:pt idx="4598">7064.6857982687552</cx:pt>
          <cx:pt idx="4599">7319.4747219707679</cx:pt>
          <cx:pt idx="4600">8278.0924945861425</cx:pt>
          <cx:pt idx="4601">6147.4678300998794</cx:pt>
          <cx:pt idx="4602">6283.2872772906321</cx:pt>
          <cx:pt idx="4603">7731.9765105283004</cx:pt>
          <cx:pt idx="4604">5354.3459529506117</cx:pt>
          <cx:pt idx="4605">7217.8980131336621</cx:pt>
          <cx:pt idx="4606">8453.0848643726658</cx:pt>
          <cx:pt idx="4607">6816.1270760877806</cx:pt>
          <cx:pt idx="4608">6322.9520588322403</cx:pt>
          <cx:pt idx="4609">6515.1382797372189</cx:pt>
          <cx:pt idx="4610">7657.0078851276239</cx:pt>
          <cx:pt idx="4611">6318.0341632740692</cx:pt>
          <cx:pt idx="4612">6635.5846421899441</cx:pt>
          <cx:pt idx="4613">6819.2181247236731</cx:pt>
          <cx:pt idx="4614">5692.8602804121492</cx:pt>
          <cx:pt idx="4615">5452.5270349301918</cx:pt>
          <cx:pt idx="4616">7682.7147475370157</cx:pt>
          <cx:pt idx="4617">6497.5937267793506</cx:pt>
          <cx:pt idx="4618">6711.4145620961535</cx:pt>
          <cx:pt idx="4619">7759.0626452965689</cx:pt>
          <cx:pt idx="4620">5909.8265049689526</cx:pt>
          <cx:pt idx="4621">4709.8386341948672</cx:pt>
          <cx:pt idx="4622">7541.0174238755626</cx:pt>
          <cx:pt idx="4623">5363.245643416707</cx:pt>
          <cx:pt idx="4624">7146.6390758650105</cx:pt>
          <cx:pt idx="4625">5854.3381946856034</cx:pt>
          <cx:pt idx="4626">6684.9645965655218</cx:pt>
          <cx:pt idx="4627">6855.4601621960455</cx:pt>
          <cx:pt idx="4628">7040.5063506510978</cx:pt>
          <cx:pt idx="4629">6989.9095849964933</cx:pt>
          <cx:pt idx="4630">7855.3483444152644</cx:pt>
          <cx:pt idx="4631">5213.0393754296265</cx:pt>
          <cx:pt idx="4632">7937.5741529917486</cx:pt>
          <cx:pt idx="4633">6520.5532714804085</cx:pt>
          <cx:pt idx="4634">7163.1473319795705</cx:pt>
          <cx:pt idx="4635">7168.2811585044647</cx:pt>
          <cx:pt idx="4636">6421.5589127555386</cx:pt>
          <cx:pt idx="4637">7200.9557460500628</cx:pt>
          <cx:pt idx="4638">5572.3211315280168</cx:pt>
          <cx:pt idx="4639">6917.2395189596637</cx:pt>
          <cx:pt idx="4640">8120.1050554919357</cx:pt>
          <cx:pt idx="4641">6616.64017802335</cx:pt>
          <cx:pt idx="4642">6115.6377894207471</cx:pt>
          <cx:pt idx="4643">7383.9782862476704</cx:pt>
          <cx:pt idx="4644">6733.7991889091818</cx:pt>
          <cx:pt idx="4645">8915.1351963915458</cx:pt>
          <cx:pt idx="4646">6725.0883045684313</cx:pt>
          <cx:pt idx="4647">6064.2726690357822</cx:pt>
          <cx:pt idx="4648">8223.5781922231326</cx:pt>
          <cx:pt idx="4649">7680.14126198948</cx:pt>
          <cx:pt idx="4650">5854.4081150320244</cx:pt>
          <cx:pt idx="4651">6996.3953750057599</cx:pt>
          <cx:pt idx="4652">5201.5195371134196</cx:pt>
          <cx:pt idx="4653">5721.9671567286914</cx:pt>
          <cx:pt idx="4654">6890.3782363376504</cx:pt>
          <cx:pt idx="4655">6536.4364536020366</cx:pt>
          <cx:pt idx="4656">5784.1067668924061</cx:pt>
          <cx:pt idx="4657">5945.2107041966128</cx:pt>
          <cx:pt idx="4658">8257.3961985699498</cx:pt>
          <cx:pt idx="4659">6485.2793005545527</cx:pt>
          <cx:pt idx="4660">6278.3137341810561</cx:pt>
          <cx:pt idx="4661">8281.9358601306867</cx:pt>
          <cx:pt idx="4662">7382.6736483250243</cx:pt>
          <cx:pt idx="4663">7349.3183111942271</cx:pt>
          <cx:pt idx="4664">5836.4538076707404</cx:pt>
          <cx:pt idx="4665">6876.6001303620342</cx:pt>
          <cx:pt idx="4666">7412.3295705923474</cx:pt>
          <cx:pt idx="4667">4640.1770707323449</cx:pt>
          <cx:pt idx="4668">6689.9481696232733</cx:pt>
          <cx:pt idx="4669">6433.1088434153999</cx:pt>
          <cx:pt idx="4670">6242.2343825269681</cx:pt>
          <cx:pt idx="4671">6125.6932412392389</cx:pt>
          <cx:pt idx="4672">7044.2741055797296</cx:pt>
          <cx:pt idx="4673">8292.5916135891821</cx:pt>
          <cx:pt idx="4674">6777.5283953629514</cx:pt>
          <cx:pt idx="4675">8218.3635979210776</cx:pt>
          <cx:pt idx="4676">6356.4098296461807</cx:pt>
          <cx:pt idx="4677">6523.0984176778675</cx:pt>
          <cx:pt idx="4678">7439.6801447489815</cx:pt>
          <cx:pt idx="4679">7841.0339352927303</cx:pt>
          <cx:pt idx="4680">5518.5453892525911</cx:pt>
          <cx:pt idx="4681">8136.3080586738452</cx:pt>
          <cx:pt idx="4682">6129.2953795423264</cx:pt>
          <cx:pt idx="4683">6777.5500732018145</cx:pt>
          <cx:pt idx="4684">7001.9600022831573</cx:pt>
          <cx:pt idx="4685">5208.2992750610392</cx:pt>
          <cx:pt idx="4686">7966.481949252322</cx:pt>
          <cx:pt idx="4687">7269.9024520776275</cx:pt>
          <cx:pt idx="4688">7733.1364410906644</cx:pt>
          <cx:pt idx="4689">6272.7886119859377</cx:pt>
          <cx:pt idx="4690">6719.2550518752987</cx:pt>
          <cx:pt idx="4691">6069.0682748299205</cx:pt>
          <cx:pt idx="4692">5246.6561979296612</cx:pt>
          <cx:pt idx="4693">7697.1895631618063</cx:pt>
          <cx:pt idx="4694">8124.4405815540704</cx:pt>
          <cx:pt idx="4695">7167.0076043597683</cx:pt>
          <cx:pt idx="4696">6871.4491226600439</cx:pt>
          <cx:pt idx="4697">8037.1658389595004</cx:pt>
          <cx:pt idx="4698">7005.1894068337788</cx:pt>
          <cx:pt idx="4699">7081.710367129429</cx:pt>
          <cx:pt idx="4700">6202.6734416336267</cx:pt>
          <cx:pt idx="4701">7822.440854821376</cx:pt>
          <cx:pt idx="4702">6831.6422739507734</cx:pt>
          <cx:pt idx="4703">6196.3245728994716</cx:pt>
          <cx:pt idx="4704">6753.5330970193372</cx:pt>
          <cx:pt idx="4705">8245.3908711855802</cx:pt>
          <cx:pt idx="4706">8342.615480709741</cx:pt>
          <cx:pt idx="4707">5988.7072355068622</cx:pt>
          <cx:pt idx="4708">6842.976957205643</cx:pt>
          <cx:pt idx="4709">7328.2480971872337</cx:pt>
          <cx:pt idx="4710">7991.5894491845029</cx:pt>
          <cx:pt idx="4711">6357.6845744634657</cx:pt>
          <cx:pt idx="4712">5221.1038151875437</cx:pt>
          <cx:pt idx="4713">7011.1682261720689</cx:pt>
          <cx:pt idx="4714">8523.4673336635042</cx:pt>
          <cx:pt idx="4715">6871.8865054783109</cx:pt>
          <cx:pt idx="4716">6833.6078595197177</cx:pt>
          <cx:pt idx="4717">5569.5864990021828</cx:pt>
          <cx:pt idx="4718">8489.8780852882883</cx:pt>
          <cx:pt idx="4719">7971.9518596408443</cx:pt>
          <cx:pt idx="4720">6327.7160093928151</cx:pt>
          <cx:pt idx="4721">6977.106916015151</cx:pt>
          <cx:pt idx="4722">7328.9949828236577</cx:pt>
          <cx:pt idx="4723">5255.6233452664164</cx:pt>
          <cx:pt idx="4724">7348.7591367121686</cx:pt>
          <cx:pt idx="4725">7813.1918967359179</cx:pt>
          <cx:pt idx="4726">8400.18146978185</cx:pt>
          <cx:pt idx="4727">5506.8776883384589</cx:pt>
          <cx:pt idx="4728">6514.881894546108</cx:pt>
          <cx:pt idx="4729">6192.3815347148757</cx:pt>
          <cx:pt idx="4730">6566.9120462446408</cx:pt>
          <cx:pt idx="4731">6482.5028930423559</cx:pt>
          <cx:pt idx="4732">7327.9318836645871</cx:pt>
          <cx:pt idx="4733">5674.9916861930124</cx:pt>
          <cx:pt idx="4734">6234.5521114659941</cx:pt>
          <cx:pt idx="4735">7758.8517499610552</cx:pt>
          <cx:pt idx="4736">7239.3799334551213</cx:pt>
          <cx:pt idx="4737">7355.9477096787314</cx:pt>
          <cx:pt idx="4738">6233.0239459035465</cx:pt>
          <cx:pt idx="4739">6898.7788810919183</cx:pt>
          <cx:pt idx="4740">6721.3489510347745</cx:pt>
          <cx:pt idx="4741">7413.0435181508801</cx:pt>
          <cx:pt idx="4742">6763.0447499933816</cx:pt>
          <cx:pt idx="4743">7527.3269731817654</cx:pt>
          <cx:pt idx="4744">8378.7686959422135</cx:pt>
          <cx:pt idx="4745">6638.4550605198147</cx:pt>
          <cx:pt idx="4746">5079.4206131160081</cx:pt>
          <cx:pt idx="4747">6831.7317877991973</cx:pt>
          <cx:pt idx="4748">6835.0154425258324</cx:pt>
          <cx:pt idx="4749">5186.9228597004749</cx:pt>
          <cx:pt idx="4750">7258.051150038973</cx:pt>
          <cx:pt idx="4751">6868.9630780789312</cx:pt>
          <cx:pt idx="4752">7486.2082784924141</cx:pt>
          <cx:pt idx="4753">6876.2272990251176</cx:pt>
          <cx:pt idx="4754">7574.5210793194792</cx:pt>
          <cx:pt idx="4755">6467.7427011904228</cx:pt>
          <cx:pt idx="4756">6578.3413068582158</cx:pt>
          <cx:pt idx="4757">7795.5400476525128</cx:pt>
          <cx:pt idx="4758">7033.9553419065769</cx:pt>
          <cx:pt idx="4759">6809.1913666318906</cx:pt>
          <cx:pt idx="4760">6358.9615886972815</cx:pt>
          <cx:pt idx="4761">6818.4268944006926</cx:pt>
          <cx:pt idx="4762">7551.2622074665314</cx:pt>
          <cx:pt idx="4763">6867.1757257287227</cx:pt>
          <cx:pt idx="4764">6293.0828868398539</cx:pt>
          <cx:pt idx="4765">6747.1416893659989</cx:pt>
          <cx:pt idx="4766">8512.0774944409077</cx:pt>
          <cx:pt idx="4767">5268.2370739650751</cx:pt>
          <cx:pt idx="4768">4544.249111711194</cx:pt>
          <cx:pt idx="4769">5752.4551476177394</cx:pt>
          <cx:pt idx="4770">7429.0316759706275</cx:pt>
          <cx:pt idx="4771">5289.808042003935</cx:pt>
          <cx:pt idx="4772">6395.5749253833565</cx:pt>
          <cx:pt idx="4773">6067.9945776185868</cx:pt>
          <cx:pt idx="4774">7550.7036251931222</cx:pt>
          <cx:pt idx="4775">6306.0516203359348</cx:pt>
          <cx:pt idx="4776">6636.8124172425214</cx:pt>
          <cx:pt idx="4777">5217.2055664846876</cx:pt>
          <cx:pt idx="4778">7144.2239316610066</cx:pt>
          <cx:pt idx="4779">6990.2745350551832</cx:pt>
          <cx:pt idx="4780">6362.1929146751954</cx:pt>
          <cx:pt idx="4781">7306.9602833946947</cx:pt>
          <cx:pt idx="4782">6045.115206133446</cx:pt>
          <cx:pt idx="4783">7870.3720085823679</cx:pt>
          <cx:pt idx="4784">6670.9699999266386</cx:pt>
          <cx:pt idx="4785">6832.8302780734812</cx:pt>
          <cx:pt idx="4786">5094.7322833013714</cx:pt>
          <cx:pt idx="4787">7255.1835582415833</cx:pt>
          <cx:pt idx="4788">7098.6941263686658</cx:pt>
          <cx:pt idx="4789">6716.2372251539928</cx:pt>
          <cx:pt idx="4790">5947.9848803403784</cx:pt>
          <cx:pt idx="4791">7209.3052110712124</cx:pt>
          <cx:pt idx="4792">6715.112156108009</cx:pt>
          <cx:pt idx="4793">5113.4849180567999</cx:pt>
          <cx:pt idx="4794">6702.686756904206</cx:pt>
          <cx:pt idx="4795">6367.0719312250012</cx:pt>
          <cx:pt idx="4796">6779.3526283323627</cx:pt>
          <cx:pt idx="4797">5714.5435988890313</cx:pt>
          <cx:pt idx="4798">7786.7757035665536</cx:pt>
          <cx:pt idx="4799">8022.013336682704</cx:pt>
          <cx:pt idx="4800">7628.1401936040102</cx:pt>
          <cx:pt idx="4801">7751.7315507436379</cx:pt>
          <cx:pt idx="4802">6438.523113083811</cx:pt>
          <cx:pt idx="4803">6669.6335249309795</cx:pt>
          <cx:pt idx="4804">6783.4022642069222</cx:pt>
          <cx:pt idx="4805">6043.9768911071933</cx:pt>
          <cx:pt idx="4806">6085.3260944486065</cx:pt>
          <cx:pt idx="4807">7520.5975183673236</cx:pt>
          <cx:pt idx="4808">7013.5391986832155</cx:pt>
          <cx:pt idx="4809">7151.2445882877291</cx:pt>
          <cx:pt idx="4810">7456.2706116476966</cx:pt>
          <cx:pt idx="4811">6934.1689522393499</cx:pt>
          <cx:pt idx="4812">8059.2696608681799</cx:pt>
          <cx:pt idx="4813">7433.8685927311035</cx:pt>
          <cx:pt idx="4814">4442.4632657241382</cx:pt>
          <cx:pt idx="4815">6866.8103519643391</cx:pt>
          <cx:pt idx="4816">6794.009223022309</cx:pt>
          <cx:pt idx="4817">6141.6283246071434</cx:pt>
          <cx:pt idx="4818">6722.9220873509212</cx:pt>
          <cx:pt idx="4819">5533.5624061084072</cx:pt>
          <cx:pt idx="4820">6283.0048188776245</cx:pt>
          <cx:pt idx="4821">8263.5511530936819</cx:pt>
          <cx:pt idx="4822">7564.3348982645221</cx:pt>
          <cx:pt idx="4823">6925.9514292067288</cx:pt>
          <cx:pt idx="4824">5269.8782064174784</cx:pt>
          <cx:pt idx="4825">7058.9420274612357</cx:pt>
          <cx:pt idx="4826">7217.1489449028677</cx:pt>
          <cx:pt idx="4827">6669.2238485399448</cx:pt>
          <cx:pt idx="4828">6942.5910848601134</cx:pt>
          <cx:pt idx="4829">6211.66906791172</cx:pt>
          <cx:pt idx="4830">6779.3234764079552</cx:pt>
          <cx:pt idx="4831">6468.0508877382281</cx:pt>
          <cx:pt idx="4832">8080.4453607591895</cx:pt>
          <cx:pt idx="4833">5561.8283014415547</cx:pt>
          <cx:pt idx="4834">7197.713806894234</cx:pt>
          <cx:pt idx="4835">5972.7208747037776</cx:pt>
          <cx:pt idx="4836">6867.1114551264145</cx:pt>
          <cx:pt idx="4837">6655.2687888810478</cx:pt>
          <cx:pt idx="4838">6464.6634278253741</cx:pt>
          <cx:pt idx="4839">6689.0729706244347</cx:pt>
          <cx:pt idx="4840">6425.2264429725838</cx:pt>
          <cx:pt idx="4841">6508.2526416182072</cx:pt>
          <cx:pt idx="4842">6740.9007383088283</cx:pt>
          <cx:pt idx="4843">6990.8046540209143</cx:pt>
          <cx:pt idx="4844">5848.0578097898178</cx:pt>
          <cx:pt idx="4845">7414.3798697603697</cx:pt>
          <cx:pt idx="4846">7744.9200289713845</cx:pt>
          <cx:pt idx="4847">6804.9177365600826</cx:pt>
          <cx:pt idx="4848">7267.4807311717514</cx:pt>
          <cx:pt idx="4849">7780.5551377654065</cx:pt>
          <cx:pt idx="4850">5276.4451007313719</cx:pt>
          <cx:pt idx="4851">5956.7458204948498</cx:pt>
          <cx:pt idx="4852">7767.9100188654356</cx:pt>
          <cx:pt idx="4853">5789.0991930397513</cx:pt>
          <cx:pt idx="4854">5574.1756217865895</cx:pt>
          <cx:pt idx="4855">5703.8818277261789</cx:pt>
          <cx:pt idx="4856">6654.0752524998861</cx:pt>
          <cx:pt idx="4857">7160.9580590361447</cx:pt>
          <cx:pt idx="4858">7599.7806041268195</cx:pt>
          <cx:pt idx="4859">7715.8135593042643</cx:pt>
          <cx:pt idx="4860">7225.6294055792969</cx:pt>
          <cx:pt idx="4861">7173.4043785588137</cx:pt>
          <cx:pt idx="4862">6743.5942558162997</cx:pt>
          <cx:pt idx="4863">4941.0663416186653</cx:pt>
          <cx:pt idx="4864">7613.4593696872525</cx:pt>
          <cx:pt idx="4865">6673.6988399613047</cx:pt>
          <cx:pt idx="4866">7370.8591407255308</cx:pt>
          <cx:pt idx="4867">6695.8845994545281</cx:pt>
          <cx:pt idx="4868">7112.301169426536</cx:pt>
          <cx:pt idx="4869">7822.8760847008234</cx:pt>
          <cx:pt idx="4870">6834.9179707307385</cx:pt>
          <cx:pt idx="4871">6465.4224354619409</cx:pt>
          <cx:pt idx="4872">7531.097686214518</cx:pt>
          <cx:pt idx="4873">6945.6697698303924</cx:pt>
          <cx:pt idx="4874">7598.8891745575411</cx:pt>
          <cx:pt idx="4875">7160.3272099485939</cx:pt>
          <cx:pt idx="4876">8055.3281032047908</cx:pt>
          <cx:pt idx="4877">7623.7082024117854</cx:pt>
          <cx:pt idx="4878">7610.1217269511708</cx:pt>
          <cx:pt idx="4879">6607.889208051336</cx:pt>
          <cx:pt idx="4880">6985.3858884358542</cx:pt>
          <cx:pt idx="4881">7138.064933733016</cx:pt>
          <cx:pt idx="4882">6850.6666206855707</cx:pt>
          <cx:pt idx="4883">7151.9640251737546</cx:pt>
          <cx:pt idx="4884">7000.7049178504021</cx:pt>
          <cx:pt idx="4885">6703.6751128350179</cx:pt>
          <cx:pt idx="4886">6110.2547668482821</cx:pt>
          <cx:pt idx="4887">7938.456878166885</cx:pt>
          <cx:pt idx="4888">5997.2545076801425</cx:pt>
          <cx:pt idx="4889">7635.3600123759743</cx:pt>
          <cx:pt idx="4890">7128.8884861394763</cx:pt>
          <cx:pt idx="4891">7937.0629577969084</cx:pt>
          <cx:pt idx="4892">6269.6155741136026</cx:pt>
          <cx:pt idx="4893">6872.6407215038698</cx:pt>
          <cx:pt idx="4894">7204.4426041891356</cx:pt>
          <cx:pt idx="4895">5565.1463383752634</cx:pt>
          <cx:pt idx="4896">6819.348172479994</cx:pt>
          <cx:pt idx="4897">6322.6965770842735</cx:pt>
          <cx:pt idx="4898">7228.923705942535</cx:pt>
          <cx:pt idx="4899">7455.2023955482709</cx:pt>
          <cx:pt idx="4900">8135.7870684656809</cx:pt>
          <cx:pt idx="4901">6633.8789666332495</cx:pt>
          <cx:pt idx="4902">7347.8814808208645</cx:pt>
          <cx:pt idx="4903">6602.3173920076506</cx:pt>
          <cx:pt idx="4904">6753.8136098867944</cx:pt>
          <cx:pt idx="4905">6421.8432699224995</cx:pt>
          <cx:pt idx="4906">7758.4971617255196</cx:pt>
          <cx:pt idx="4907">6841.657993208556</cx:pt>
          <cx:pt idx="4908">6571.6339764222485</cx:pt>
          <cx:pt idx="4909">7150.4777828180486</cx:pt>
          <cx:pt idx="4910">6023.1535941431375</cx:pt>
          <cx:pt idx="4911">6792.444517217984</cx:pt>
          <cx:pt idx="4912">5992.8553986113093</cx:pt>
          <cx:pt idx="4913">7065.3697779786116</cx:pt>
          <cx:pt idx="4914">8617.3490102578689</cx:pt>
          <cx:pt idx="4915">7721.515757766243</cx:pt>
          <cx:pt idx="4916">7103.3260706075871</cx:pt>
          <cx:pt idx="4917">7008.4324367963654</cx:pt>
          <cx:pt idx="4918">5135.6756855779777</cx:pt>
          <cx:pt idx="4919">7031.234575045456</cx:pt>
          <cx:pt idx="4920">8225.4477629243756</cx:pt>
          <cx:pt idx="4921">7260.7512976036523</cx:pt>
          <cx:pt idx="4922">6511.7001569762451</cx:pt>
          <cx:pt idx="4923">7608.095539225621</cx:pt>
          <cx:pt idx="4924">6640.0597208671097</cx:pt>
          <cx:pt idx="4925">6921.4937953850858</cx:pt>
          <cx:pt idx="4926">5456.406717808959</cx:pt>
          <cx:pt idx="4927">6069.3062921729424</cx:pt>
          <cx:pt idx="4928">6803.2852897175353</cx:pt>
          <cx:pt idx="4929">7428.7696787314635</cx:pt>
          <cx:pt idx="4930">7455.7756700167811</cx:pt>
          <cx:pt idx="4931">6115.4460105086328</cx:pt>
          <cx:pt idx="4932">8868.9815237905586</cx:pt>
          <cx:pt idx="4933">6483.434957493916</cx:pt>
          <cx:pt idx="4934">7237.7687689041713</cx:pt>
          <cx:pt idx="4935">7330.1678754506102</cx:pt>
          <cx:pt idx="4936">7502.1404201808582</cx:pt>
          <cx:pt idx="4937">7087.4340246216207</cx:pt>
          <cx:pt idx="4938">6380.6996786649406</cx:pt>
          <cx:pt idx="4939">7076.8586424960658</cx:pt>
          <cx:pt idx="4940">6897.2334431368836</cx:pt>
          <cx:pt idx="4941">7981.1358753115564</cx:pt>
          <cx:pt idx="4942">6648.7490462740943</cx:pt>
          <cx:pt idx="4943">6590.4859341992251</cx:pt>
          <cx:pt idx="4944">6332.0703370772871</cx:pt>
          <cx:pt idx="4945">5272.2350022133123</cx:pt>
          <cx:pt idx="4946">7449.5695495852442</cx:pt>
          <cx:pt idx="4947">6606.5971256823432</cx:pt>
          <cx:pt idx="4948">6712.3405864568813</cx:pt>
          <cx:pt idx="4949">7589.1146975080901</cx:pt>
          <cx:pt idx="4950">5689.1122679977898</cx:pt>
          <cx:pt idx="4951">7286.7339568170828</cx:pt>
          <cx:pt idx="4952">6865.2453841399292</cx:pt>
          <cx:pt idx="4953">7399.2043228566008</cx:pt>
          <cx:pt idx="4954">6294.0031439564164</cx:pt>
          <cx:pt idx="4955">6761.3560574291123</cx:pt>
          <cx:pt idx="4956">7725.060766386885</cx:pt>
          <cx:pt idx="4957">6633.0559540957593</cx:pt>
          <cx:pt idx="4958">7075.6613110589096</cx:pt>
          <cx:pt idx="4959">8510.2057417004307</cx:pt>
          <cx:pt idx="4960">6638.7492110322792</cx:pt>
          <cx:pt idx="4961">7101.4146183121975</cx:pt>
          <cx:pt idx="4962">7012.0114226856876</cx:pt>
          <cx:pt idx="4963">7972.7605753820244</cx:pt>
          <cx:pt idx="4964">6662.4636024010306</cx:pt>
          <cx:pt idx="4965">5690.7445782349459</cx:pt>
          <cx:pt idx="4966">7848.772169776008</cx:pt>
          <cx:pt idx="4967">8147.47759486431</cx:pt>
          <cx:pt idx="4968">6862.8126122488875</cx:pt>
          <cx:pt idx="4969">8705.5957486723801</cx:pt>
          <cx:pt idx="4970">6917.8925448728869</cx:pt>
          <cx:pt idx="4971">6842.6194660380297</cx:pt>
          <cx:pt idx="4972">7368.9335692805344</cx:pt>
          <cx:pt idx="4973">7708.8430414828399</cx:pt>
          <cx:pt idx="4974">7727.4953793080585</cx:pt>
          <cx:pt idx="4975">6066.9946619314369</cx:pt>
          <cx:pt idx="4976">6963.4941122099654</cx:pt>
          <cx:pt idx="4977">7200.3018289771817</cx:pt>
          <cx:pt idx="4978">7431.3630503499098</cx:pt>
          <cx:pt idx="4979">6257.8943251544606</cx:pt>
          <cx:pt idx="4980">7324.3186817097139</cx:pt>
          <cx:pt idx="4981">7511.0525570521322</cx:pt>
          <cx:pt idx="4982">5338.1720181041374</cx:pt>
          <cx:pt idx="4983">6985.7011793039928</cx:pt>
          <cx:pt idx="4984">7886.8821857283856</cx:pt>
          <cx:pt idx="4985">5981.9610182047618</cx:pt>
          <cx:pt idx="4986">6750.9940281266299</cx:pt>
          <cx:pt idx="4987">6959.1884485489882</cx:pt>
          <cx:pt idx="4988">7899.1744337768887</cx:pt>
          <cx:pt idx="4989">7603.015584837709</cx:pt>
          <cx:pt idx="4990">7319.8726297565545</cx:pt>
          <cx:pt idx="4991">5916.319775169165</cx:pt>
          <cx:pt idx="4992">8046.9778373492309</cx:pt>
          <cx:pt idx="4993">5760.3743356750392</cx:pt>
          <cx:pt idx="4994">6753.0624542676078</cx:pt>
          <cx:pt idx="4995">7940.1409956757907</cx:pt>
          <cx:pt idx="4996">6743.3816090933169</cx:pt>
          <cx:pt idx="4997">6320.2223936140808</cx:pt>
          <cx:pt idx="4998">4822.5230894276392</cx:pt>
          <cx:pt idx="4999">5685.4040815678582</cx:pt>
        </cx:lvl>
      </cx:numDim>
    </cx:data>
  </cx:chartData>
  <cx:chart>
    <cx:title pos="t" align="ctr" overlay="0">
      <cx:tx>
        <cx:txData>
          <cx:v>Inventory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Inventory</a:t>
          </a:r>
        </a:p>
      </cx:txPr>
    </cx:title>
    <cx:plotArea>
      <cx:plotAreaRegion>
        <cx:series layoutId="clusteredColumn" uniqueId="{AD43E4FD-3058-2642-8A8A-E9D5540497B4}">
          <cx:tx>
            <cx:txData>
              <cx:f>'Carlo Monte Simulation'!$D$1</cx:f>
              <cx:v>Inventory</cx:v>
            </cx:txData>
          </cx:tx>
          <cx:dataId val="0"/>
          <cx:layoutPr>
            <cx:binning intervalClosed="r"/>
          </cx:layoutPr>
        </cx:series>
      </cx:plotAreaRegion>
      <cx:axis id="0">
        <cx:catScaling gapWidth="0"/>
        <cx:tickLabels/>
        <cx:txPr>
          <a:bodyPr vertOverflow="overflow" horzOverflow="overflow" wrap="square" lIns="0" tIns="0" rIns="0" bIns="0"/>
          <a:lstStyle/>
          <a:p>
            <a:pPr algn="ctr" rtl="0">
              <a:defRPr sz="1200" b="0" i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/>
          </a:p>
        </cx:txPr>
      </cx:axis>
      <cx:axis id="1">
        <cx:valScaling/>
        <cx:majorGridlines/>
        <cx:tickLabels/>
        <cx:txPr>
          <a:bodyPr vertOverflow="overflow" horzOverflow="overflow" wrap="square" lIns="0" tIns="0" rIns="0" bIns="0"/>
          <a:lstStyle/>
          <a:p>
            <a:pPr algn="ctr" rtl="0">
              <a:defRPr sz="1200" b="0" i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/>
          </a:p>
        </cx:txPr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000">
  <a:srgbClr val="637CEF"/>
  <a:srgbClr val="E3008C"/>
  <a:srgbClr val="2AA0A4"/>
  <a:srgbClr val="9373C0"/>
  <a:srgbClr val="13A10E"/>
  <a:srgbClr val="3A96DD"/>
  <a:srgbClr val="CA5010"/>
  <a:srgbClr val="57811B"/>
  <a:srgbClr val="B146C2"/>
  <a:srgbClr val="AE8C00"/>
  <a:srgbClr val="AE8C00"/>
  <a:srgbClr val="637CEF"/>
  <a:srgbClr val="EE5FB7"/>
  <a:srgbClr val="008B94"/>
  <a:srgbClr val="D77440"/>
  <a:srgbClr val="BA58C9"/>
  <a:srgbClr val="3A96DD"/>
  <a:srgbClr val="E3008C"/>
  <a:srgbClr val="C36BD1"/>
  <a:srgbClr val="D06228"/>
  <a:srgbClr val="57811B"/>
</cs:colorStyle>
</file>

<file path=ppt/charts/style1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AC0F6C-AAEC-4BFD-ABFB-F24D49A2E47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A1E48765-6A32-4152-B2F4-AC8C159ECC6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Market Risk</a:t>
          </a:r>
          <a:endParaRPr lang="en-US"/>
        </a:p>
      </dgm:t>
    </dgm:pt>
    <dgm:pt modelId="{3AB60B33-61EC-449E-A7D4-CB44DEB4DB57}" type="parTrans" cxnId="{A28F2DD6-C21A-4547-956E-654A2616A536}">
      <dgm:prSet/>
      <dgm:spPr/>
      <dgm:t>
        <a:bodyPr/>
        <a:lstStyle/>
        <a:p>
          <a:endParaRPr lang="en-US"/>
        </a:p>
      </dgm:t>
    </dgm:pt>
    <dgm:pt modelId="{BB53D74B-742C-435F-8970-E8B10AA1ECAB}" type="sibTrans" cxnId="{A28F2DD6-C21A-4547-956E-654A2616A536}">
      <dgm:prSet/>
      <dgm:spPr/>
      <dgm:t>
        <a:bodyPr/>
        <a:lstStyle/>
        <a:p>
          <a:endParaRPr lang="en-US"/>
        </a:p>
      </dgm:t>
    </dgm:pt>
    <dgm:pt modelId="{8AE6B74B-1A04-418A-9176-7D7DED8E729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Operational Risk</a:t>
          </a:r>
          <a:endParaRPr lang="en-US"/>
        </a:p>
      </dgm:t>
    </dgm:pt>
    <dgm:pt modelId="{D513CE4F-48A4-4664-9307-2F89F45637EE}" type="parTrans" cxnId="{CBBF248A-230E-40C1-AC98-16B4F277D27A}">
      <dgm:prSet/>
      <dgm:spPr/>
      <dgm:t>
        <a:bodyPr/>
        <a:lstStyle/>
        <a:p>
          <a:endParaRPr lang="en-US"/>
        </a:p>
      </dgm:t>
    </dgm:pt>
    <dgm:pt modelId="{7E4BCBDC-2536-4043-95F7-31E09B3B674A}" type="sibTrans" cxnId="{CBBF248A-230E-40C1-AC98-16B4F277D27A}">
      <dgm:prSet/>
      <dgm:spPr/>
      <dgm:t>
        <a:bodyPr/>
        <a:lstStyle/>
        <a:p>
          <a:endParaRPr lang="en-US"/>
        </a:p>
      </dgm:t>
    </dgm:pt>
    <dgm:pt modelId="{C31DB874-8BC9-4643-A1E7-E7315A274F7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dirty="0"/>
            <a:t>Regulatory and Environmental Risk</a:t>
          </a:r>
          <a:endParaRPr lang="en-US" dirty="0"/>
        </a:p>
      </dgm:t>
    </dgm:pt>
    <dgm:pt modelId="{0956CD22-A840-4DCD-83AB-8A064D797751}" type="parTrans" cxnId="{91DBB11E-0BE6-4FBA-889F-51E1BFE71425}">
      <dgm:prSet/>
      <dgm:spPr/>
      <dgm:t>
        <a:bodyPr/>
        <a:lstStyle/>
        <a:p>
          <a:endParaRPr lang="en-US"/>
        </a:p>
      </dgm:t>
    </dgm:pt>
    <dgm:pt modelId="{72389345-9F87-4CC4-AF70-647C4C308167}" type="sibTrans" cxnId="{91DBB11E-0BE6-4FBA-889F-51E1BFE71425}">
      <dgm:prSet/>
      <dgm:spPr/>
      <dgm:t>
        <a:bodyPr/>
        <a:lstStyle/>
        <a:p>
          <a:endParaRPr lang="en-US"/>
        </a:p>
      </dgm:t>
    </dgm:pt>
    <dgm:pt modelId="{6DE26C09-2AFA-4BC6-A7BA-C22128BB1873}" type="pres">
      <dgm:prSet presAssocID="{4EAC0F6C-AAEC-4BFD-ABFB-F24D49A2E473}" presName="root" presStyleCnt="0">
        <dgm:presLayoutVars>
          <dgm:dir/>
          <dgm:resizeHandles val="exact"/>
        </dgm:presLayoutVars>
      </dgm:prSet>
      <dgm:spPr/>
    </dgm:pt>
    <dgm:pt modelId="{1A75B193-6218-4A06-A087-F20071D2E118}" type="pres">
      <dgm:prSet presAssocID="{A1E48765-6A32-4152-B2F4-AC8C159ECC62}" presName="compNode" presStyleCnt="0"/>
      <dgm:spPr/>
    </dgm:pt>
    <dgm:pt modelId="{9F4E913C-8111-4D31-9BE0-A93D96DEBC67}" type="pres">
      <dgm:prSet presAssocID="{A1E48765-6A32-4152-B2F4-AC8C159ECC62}" presName="iconBgRect" presStyleLbl="bgShp" presStyleIdx="0" presStyleCnt="3"/>
      <dgm:spPr/>
    </dgm:pt>
    <dgm:pt modelId="{AA19534F-BCF4-4250-9A4E-D139D2F4086C}" type="pres">
      <dgm:prSet presAssocID="{A1E48765-6A32-4152-B2F4-AC8C159ECC6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29C6971D-7B9E-43D2-80B1-26C28BCDCB3C}" type="pres">
      <dgm:prSet presAssocID="{A1E48765-6A32-4152-B2F4-AC8C159ECC62}" presName="spaceRect" presStyleCnt="0"/>
      <dgm:spPr/>
    </dgm:pt>
    <dgm:pt modelId="{1AF7EC3F-A7FA-4011-99A0-ACF30DE016C1}" type="pres">
      <dgm:prSet presAssocID="{A1E48765-6A32-4152-B2F4-AC8C159ECC62}" presName="textRect" presStyleLbl="revTx" presStyleIdx="0" presStyleCnt="3">
        <dgm:presLayoutVars>
          <dgm:chMax val="1"/>
          <dgm:chPref val="1"/>
        </dgm:presLayoutVars>
      </dgm:prSet>
      <dgm:spPr/>
    </dgm:pt>
    <dgm:pt modelId="{4F7577E6-4DDA-45D7-96B7-07B76CB84E77}" type="pres">
      <dgm:prSet presAssocID="{BB53D74B-742C-435F-8970-E8B10AA1ECAB}" presName="sibTrans" presStyleCnt="0"/>
      <dgm:spPr/>
    </dgm:pt>
    <dgm:pt modelId="{EAEDEE04-DA23-4612-B3E8-23696F15C85E}" type="pres">
      <dgm:prSet presAssocID="{8AE6B74B-1A04-418A-9176-7D7DED8E7298}" presName="compNode" presStyleCnt="0"/>
      <dgm:spPr/>
    </dgm:pt>
    <dgm:pt modelId="{CCA7B285-0B68-4228-84C7-4DC3A678EAC2}" type="pres">
      <dgm:prSet presAssocID="{8AE6B74B-1A04-418A-9176-7D7DED8E7298}" presName="iconBgRect" presStyleLbl="bgShp" presStyleIdx="1" presStyleCnt="3"/>
      <dgm:spPr/>
    </dgm:pt>
    <dgm:pt modelId="{6195CAAA-C5D9-45AA-B543-CB1975DD75AD}" type="pres">
      <dgm:prSet presAssocID="{8AE6B74B-1A04-418A-9176-7D7DED8E729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3311CB29-3F74-462E-A87E-80992AE36272}" type="pres">
      <dgm:prSet presAssocID="{8AE6B74B-1A04-418A-9176-7D7DED8E7298}" presName="spaceRect" presStyleCnt="0"/>
      <dgm:spPr/>
    </dgm:pt>
    <dgm:pt modelId="{7D013B64-A365-4F04-90C6-4679C96D55C7}" type="pres">
      <dgm:prSet presAssocID="{8AE6B74B-1A04-418A-9176-7D7DED8E7298}" presName="textRect" presStyleLbl="revTx" presStyleIdx="1" presStyleCnt="3">
        <dgm:presLayoutVars>
          <dgm:chMax val="1"/>
          <dgm:chPref val="1"/>
        </dgm:presLayoutVars>
      </dgm:prSet>
      <dgm:spPr/>
    </dgm:pt>
    <dgm:pt modelId="{3BDBC10E-140A-4CE5-8359-E14033A1C529}" type="pres">
      <dgm:prSet presAssocID="{7E4BCBDC-2536-4043-95F7-31E09B3B674A}" presName="sibTrans" presStyleCnt="0"/>
      <dgm:spPr/>
    </dgm:pt>
    <dgm:pt modelId="{1E15A421-E9F4-455B-8FB3-DA334773251F}" type="pres">
      <dgm:prSet presAssocID="{C31DB874-8BC9-4643-A1E7-E7315A274F72}" presName="compNode" presStyleCnt="0"/>
      <dgm:spPr/>
    </dgm:pt>
    <dgm:pt modelId="{2E6BCE44-5FDF-46CD-9895-DA83A0EB51DD}" type="pres">
      <dgm:prSet presAssocID="{C31DB874-8BC9-4643-A1E7-E7315A274F72}" presName="iconBgRect" presStyleLbl="bgShp" presStyleIdx="2" presStyleCnt="3"/>
      <dgm:spPr/>
    </dgm:pt>
    <dgm:pt modelId="{C6E1CCA3-FBB9-478A-B704-3B979196681A}" type="pres">
      <dgm:prSet presAssocID="{C31DB874-8BC9-4643-A1E7-E7315A274F7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51189F2B-1E38-430D-A626-E1339C4AC664}" type="pres">
      <dgm:prSet presAssocID="{C31DB874-8BC9-4643-A1E7-E7315A274F72}" presName="spaceRect" presStyleCnt="0"/>
      <dgm:spPr/>
    </dgm:pt>
    <dgm:pt modelId="{6FE55F90-A67A-4971-A3EA-9C910B795F7C}" type="pres">
      <dgm:prSet presAssocID="{C31DB874-8BC9-4643-A1E7-E7315A274F7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1DBB11E-0BE6-4FBA-889F-51E1BFE71425}" srcId="{4EAC0F6C-AAEC-4BFD-ABFB-F24D49A2E473}" destId="{C31DB874-8BC9-4643-A1E7-E7315A274F72}" srcOrd="2" destOrd="0" parTransId="{0956CD22-A840-4DCD-83AB-8A064D797751}" sibTransId="{72389345-9F87-4CC4-AF70-647C4C308167}"/>
    <dgm:cxn modelId="{D3DB5C56-92AA-49E0-9E18-AC01ADB82A7B}" type="presOf" srcId="{C31DB874-8BC9-4643-A1E7-E7315A274F72}" destId="{6FE55F90-A67A-4971-A3EA-9C910B795F7C}" srcOrd="0" destOrd="0" presId="urn:microsoft.com/office/officeart/2018/5/layout/IconCircleLabelList"/>
    <dgm:cxn modelId="{FD7C077E-5085-4D5F-B332-A8F73CD4D280}" type="presOf" srcId="{A1E48765-6A32-4152-B2F4-AC8C159ECC62}" destId="{1AF7EC3F-A7FA-4011-99A0-ACF30DE016C1}" srcOrd="0" destOrd="0" presId="urn:microsoft.com/office/officeart/2018/5/layout/IconCircleLabelList"/>
    <dgm:cxn modelId="{CBBF248A-230E-40C1-AC98-16B4F277D27A}" srcId="{4EAC0F6C-AAEC-4BFD-ABFB-F24D49A2E473}" destId="{8AE6B74B-1A04-418A-9176-7D7DED8E7298}" srcOrd="1" destOrd="0" parTransId="{D513CE4F-48A4-4664-9307-2F89F45637EE}" sibTransId="{7E4BCBDC-2536-4043-95F7-31E09B3B674A}"/>
    <dgm:cxn modelId="{EF36B8C9-20F4-41EC-AD49-E4EA2F6FC67F}" type="presOf" srcId="{8AE6B74B-1A04-418A-9176-7D7DED8E7298}" destId="{7D013B64-A365-4F04-90C6-4679C96D55C7}" srcOrd="0" destOrd="0" presId="urn:microsoft.com/office/officeart/2018/5/layout/IconCircleLabelList"/>
    <dgm:cxn modelId="{A28F2DD6-C21A-4547-956E-654A2616A536}" srcId="{4EAC0F6C-AAEC-4BFD-ABFB-F24D49A2E473}" destId="{A1E48765-6A32-4152-B2F4-AC8C159ECC62}" srcOrd="0" destOrd="0" parTransId="{3AB60B33-61EC-449E-A7D4-CB44DEB4DB57}" sibTransId="{BB53D74B-742C-435F-8970-E8B10AA1ECAB}"/>
    <dgm:cxn modelId="{F3CE77E0-6FFA-4DD3-8632-205AD9EC3BCF}" type="presOf" srcId="{4EAC0F6C-AAEC-4BFD-ABFB-F24D49A2E473}" destId="{6DE26C09-2AFA-4BC6-A7BA-C22128BB1873}" srcOrd="0" destOrd="0" presId="urn:microsoft.com/office/officeart/2018/5/layout/IconCircleLabelList"/>
    <dgm:cxn modelId="{D4B98FCD-C39A-4D16-AF95-BB352423C7CF}" type="presParOf" srcId="{6DE26C09-2AFA-4BC6-A7BA-C22128BB1873}" destId="{1A75B193-6218-4A06-A087-F20071D2E118}" srcOrd="0" destOrd="0" presId="urn:microsoft.com/office/officeart/2018/5/layout/IconCircleLabelList"/>
    <dgm:cxn modelId="{3C01EA9E-964C-4885-91B9-350449AC49F2}" type="presParOf" srcId="{1A75B193-6218-4A06-A087-F20071D2E118}" destId="{9F4E913C-8111-4D31-9BE0-A93D96DEBC67}" srcOrd="0" destOrd="0" presId="urn:microsoft.com/office/officeart/2018/5/layout/IconCircleLabelList"/>
    <dgm:cxn modelId="{066F7A02-D5C4-492D-93E1-51CA140A3039}" type="presParOf" srcId="{1A75B193-6218-4A06-A087-F20071D2E118}" destId="{AA19534F-BCF4-4250-9A4E-D139D2F4086C}" srcOrd="1" destOrd="0" presId="urn:microsoft.com/office/officeart/2018/5/layout/IconCircleLabelList"/>
    <dgm:cxn modelId="{7BBF522E-5DFC-43C9-AC50-E482C9AF6414}" type="presParOf" srcId="{1A75B193-6218-4A06-A087-F20071D2E118}" destId="{29C6971D-7B9E-43D2-80B1-26C28BCDCB3C}" srcOrd="2" destOrd="0" presId="urn:microsoft.com/office/officeart/2018/5/layout/IconCircleLabelList"/>
    <dgm:cxn modelId="{36618940-F0D8-42F4-8350-4C5BC64FA1B8}" type="presParOf" srcId="{1A75B193-6218-4A06-A087-F20071D2E118}" destId="{1AF7EC3F-A7FA-4011-99A0-ACF30DE016C1}" srcOrd="3" destOrd="0" presId="urn:microsoft.com/office/officeart/2018/5/layout/IconCircleLabelList"/>
    <dgm:cxn modelId="{044E65F0-6564-4884-B2B5-2390DAA926D2}" type="presParOf" srcId="{6DE26C09-2AFA-4BC6-A7BA-C22128BB1873}" destId="{4F7577E6-4DDA-45D7-96B7-07B76CB84E77}" srcOrd="1" destOrd="0" presId="urn:microsoft.com/office/officeart/2018/5/layout/IconCircleLabelList"/>
    <dgm:cxn modelId="{B4F4E0EE-0218-49AF-94FE-96840479543F}" type="presParOf" srcId="{6DE26C09-2AFA-4BC6-A7BA-C22128BB1873}" destId="{EAEDEE04-DA23-4612-B3E8-23696F15C85E}" srcOrd="2" destOrd="0" presId="urn:microsoft.com/office/officeart/2018/5/layout/IconCircleLabelList"/>
    <dgm:cxn modelId="{9C59B232-1F9B-4A28-9624-77A50731586A}" type="presParOf" srcId="{EAEDEE04-DA23-4612-B3E8-23696F15C85E}" destId="{CCA7B285-0B68-4228-84C7-4DC3A678EAC2}" srcOrd="0" destOrd="0" presId="urn:microsoft.com/office/officeart/2018/5/layout/IconCircleLabelList"/>
    <dgm:cxn modelId="{0120F1B7-E199-435E-8A4F-0130DB7C81BB}" type="presParOf" srcId="{EAEDEE04-DA23-4612-B3E8-23696F15C85E}" destId="{6195CAAA-C5D9-45AA-B543-CB1975DD75AD}" srcOrd="1" destOrd="0" presId="urn:microsoft.com/office/officeart/2018/5/layout/IconCircleLabelList"/>
    <dgm:cxn modelId="{C17EA9A3-337A-4BE6-860D-84C55E840886}" type="presParOf" srcId="{EAEDEE04-DA23-4612-B3E8-23696F15C85E}" destId="{3311CB29-3F74-462E-A87E-80992AE36272}" srcOrd="2" destOrd="0" presId="urn:microsoft.com/office/officeart/2018/5/layout/IconCircleLabelList"/>
    <dgm:cxn modelId="{C7B9F685-0AFB-408C-919A-B5F7DC658362}" type="presParOf" srcId="{EAEDEE04-DA23-4612-B3E8-23696F15C85E}" destId="{7D013B64-A365-4F04-90C6-4679C96D55C7}" srcOrd="3" destOrd="0" presId="urn:microsoft.com/office/officeart/2018/5/layout/IconCircleLabelList"/>
    <dgm:cxn modelId="{9E203E8E-68D9-48C6-B462-4A937B6DFB05}" type="presParOf" srcId="{6DE26C09-2AFA-4BC6-A7BA-C22128BB1873}" destId="{3BDBC10E-140A-4CE5-8359-E14033A1C529}" srcOrd="3" destOrd="0" presId="urn:microsoft.com/office/officeart/2018/5/layout/IconCircleLabelList"/>
    <dgm:cxn modelId="{BD0AF465-8D60-43E1-80DA-A96BADFC0C34}" type="presParOf" srcId="{6DE26C09-2AFA-4BC6-A7BA-C22128BB1873}" destId="{1E15A421-E9F4-455B-8FB3-DA334773251F}" srcOrd="4" destOrd="0" presId="urn:microsoft.com/office/officeart/2018/5/layout/IconCircleLabelList"/>
    <dgm:cxn modelId="{B0A176F9-787D-4493-BFD3-9AAE2B81F320}" type="presParOf" srcId="{1E15A421-E9F4-455B-8FB3-DA334773251F}" destId="{2E6BCE44-5FDF-46CD-9895-DA83A0EB51DD}" srcOrd="0" destOrd="0" presId="urn:microsoft.com/office/officeart/2018/5/layout/IconCircleLabelList"/>
    <dgm:cxn modelId="{40679079-E63D-46E1-8C3A-A0D7E7594880}" type="presParOf" srcId="{1E15A421-E9F4-455B-8FB3-DA334773251F}" destId="{C6E1CCA3-FBB9-478A-B704-3B979196681A}" srcOrd="1" destOrd="0" presId="urn:microsoft.com/office/officeart/2018/5/layout/IconCircleLabelList"/>
    <dgm:cxn modelId="{A6DA9A44-36A1-410E-A207-E3C199998F9F}" type="presParOf" srcId="{1E15A421-E9F4-455B-8FB3-DA334773251F}" destId="{51189F2B-1E38-430D-A626-E1339C4AC664}" srcOrd="2" destOrd="0" presId="urn:microsoft.com/office/officeart/2018/5/layout/IconCircleLabelList"/>
    <dgm:cxn modelId="{ECE3D3F5-8FA1-4B8C-B3B4-A17C7A1A5A7F}" type="presParOf" srcId="{1E15A421-E9F4-455B-8FB3-DA334773251F}" destId="{6FE55F90-A67A-4971-A3EA-9C910B795F7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BBB6547-2BA7-471B-9616-8F66666AF6C8}" type="doc">
      <dgm:prSet loTypeId="urn:microsoft.com/office/officeart/2016/7/layout/HorizontalActionList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A16752D-A959-4AE5-BA2A-9FA71F0E59BB}">
      <dgm:prSet/>
      <dgm:spPr/>
      <dgm:t>
        <a:bodyPr/>
        <a:lstStyle/>
        <a:p>
          <a:r>
            <a:rPr lang="en-US"/>
            <a:t>Expand</a:t>
          </a:r>
        </a:p>
      </dgm:t>
    </dgm:pt>
    <dgm:pt modelId="{108493A8-E10F-4979-AD49-DC4359648B62}" type="parTrans" cxnId="{EDDB31A4-350D-4622-A4EC-6CEB98FB4C33}">
      <dgm:prSet/>
      <dgm:spPr/>
      <dgm:t>
        <a:bodyPr/>
        <a:lstStyle/>
        <a:p>
          <a:endParaRPr lang="en-US"/>
        </a:p>
      </dgm:t>
    </dgm:pt>
    <dgm:pt modelId="{B045372A-97CA-458A-96F6-2DC3B476E109}" type="sibTrans" cxnId="{EDDB31A4-350D-4622-A4EC-6CEB98FB4C33}">
      <dgm:prSet/>
      <dgm:spPr/>
      <dgm:t>
        <a:bodyPr/>
        <a:lstStyle/>
        <a:p>
          <a:endParaRPr lang="en-US"/>
        </a:p>
      </dgm:t>
    </dgm:pt>
    <dgm:pt modelId="{EBC8FD03-1283-4A44-94C2-F72A10AC4B00}">
      <dgm:prSet/>
      <dgm:spPr/>
      <dgm:t>
        <a:bodyPr/>
        <a:lstStyle/>
        <a:p>
          <a:r>
            <a:rPr lang="en-US"/>
            <a:t>Expand renewable diesel capacity → higher internal offsets.</a:t>
          </a:r>
        </a:p>
      </dgm:t>
    </dgm:pt>
    <dgm:pt modelId="{C8ED6334-B64F-43AD-A2EA-B8645EEFBC8D}" type="parTrans" cxnId="{06F8F855-B46F-4E12-9DF6-A6E330332074}">
      <dgm:prSet/>
      <dgm:spPr/>
      <dgm:t>
        <a:bodyPr/>
        <a:lstStyle/>
        <a:p>
          <a:endParaRPr lang="en-US"/>
        </a:p>
      </dgm:t>
    </dgm:pt>
    <dgm:pt modelId="{D89F844A-9F9E-42A1-AE90-7061C73AEFE1}" type="sibTrans" cxnId="{06F8F855-B46F-4E12-9DF6-A6E330332074}">
      <dgm:prSet/>
      <dgm:spPr/>
      <dgm:t>
        <a:bodyPr/>
        <a:lstStyle/>
        <a:p>
          <a:endParaRPr lang="en-US"/>
        </a:p>
      </dgm:t>
    </dgm:pt>
    <dgm:pt modelId="{D7D08F46-4600-43E8-B6BD-03BD7E812486}">
      <dgm:prSet/>
      <dgm:spPr/>
      <dgm:t>
        <a:bodyPr/>
        <a:lstStyle/>
        <a:p>
          <a:r>
            <a:rPr lang="en-US"/>
            <a:t>Strengthen</a:t>
          </a:r>
        </a:p>
      </dgm:t>
    </dgm:pt>
    <dgm:pt modelId="{D1D1C6C6-1620-4F3E-AB2F-EE99BCE781DF}" type="parTrans" cxnId="{2B0584E7-E5D5-4993-87E1-0ED3DC18C714}">
      <dgm:prSet/>
      <dgm:spPr/>
      <dgm:t>
        <a:bodyPr/>
        <a:lstStyle/>
        <a:p>
          <a:endParaRPr lang="en-US"/>
        </a:p>
      </dgm:t>
    </dgm:pt>
    <dgm:pt modelId="{2CDB77DC-9E0E-4986-AF62-284C4E405A1C}" type="sibTrans" cxnId="{2B0584E7-E5D5-4993-87E1-0ED3DC18C714}">
      <dgm:prSet/>
      <dgm:spPr/>
      <dgm:t>
        <a:bodyPr/>
        <a:lstStyle/>
        <a:p>
          <a:endParaRPr lang="en-US"/>
        </a:p>
      </dgm:t>
    </dgm:pt>
    <dgm:pt modelId="{64CA0D29-ABBC-4278-B74D-A3FB916D6B6A}">
      <dgm:prSet/>
      <dgm:spPr/>
      <dgm:t>
        <a:bodyPr/>
        <a:lstStyle/>
        <a:p>
          <a:r>
            <a:rPr lang="en-US"/>
            <a:t>Strengthen pricing models to improve pass-through recovery.</a:t>
          </a:r>
        </a:p>
      </dgm:t>
    </dgm:pt>
    <dgm:pt modelId="{253A078F-2016-48CC-B860-389C21DCBACF}" type="parTrans" cxnId="{15251EBB-45E9-44BF-80F5-A328D048C950}">
      <dgm:prSet/>
      <dgm:spPr/>
      <dgm:t>
        <a:bodyPr/>
        <a:lstStyle/>
        <a:p>
          <a:endParaRPr lang="en-US"/>
        </a:p>
      </dgm:t>
    </dgm:pt>
    <dgm:pt modelId="{C710DD85-157C-4217-A9C9-CF1DA0BD821B}" type="sibTrans" cxnId="{15251EBB-45E9-44BF-80F5-A328D048C950}">
      <dgm:prSet/>
      <dgm:spPr/>
      <dgm:t>
        <a:bodyPr/>
        <a:lstStyle/>
        <a:p>
          <a:endParaRPr lang="en-US"/>
        </a:p>
      </dgm:t>
    </dgm:pt>
    <dgm:pt modelId="{2F60DC3D-882E-4850-A550-0B0478DE1D40}">
      <dgm:prSet/>
      <dgm:spPr/>
      <dgm:t>
        <a:bodyPr/>
        <a:lstStyle/>
        <a:p>
          <a:r>
            <a:rPr lang="en-US"/>
            <a:t>Maintain</a:t>
          </a:r>
        </a:p>
      </dgm:t>
    </dgm:pt>
    <dgm:pt modelId="{19CDF1C2-604A-451C-9595-D11FEA53B2B6}" type="parTrans" cxnId="{5D3CF30A-5EBD-4810-9CA8-2C1ABF6B690C}">
      <dgm:prSet/>
      <dgm:spPr/>
      <dgm:t>
        <a:bodyPr/>
        <a:lstStyle/>
        <a:p>
          <a:endParaRPr lang="en-US"/>
        </a:p>
      </dgm:t>
    </dgm:pt>
    <dgm:pt modelId="{283C9938-1056-4C2B-AB81-8572378BB641}" type="sibTrans" cxnId="{5D3CF30A-5EBD-4810-9CA8-2C1ABF6B690C}">
      <dgm:prSet/>
      <dgm:spPr/>
      <dgm:t>
        <a:bodyPr/>
        <a:lstStyle/>
        <a:p>
          <a:endParaRPr lang="en-US"/>
        </a:p>
      </dgm:t>
    </dgm:pt>
    <dgm:pt modelId="{F59FF520-87C3-492C-8346-9B4D11F11A53}">
      <dgm:prSet/>
      <dgm:spPr/>
      <dgm:t>
        <a:bodyPr/>
        <a:lstStyle/>
        <a:p>
          <a:r>
            <a:rPr lang="en-US"/>
            <a:t>Maintain a liquidity buffer to manage high-credit-price years.</a:t>
          </a:r>
        </a:p>
      </dgm:t>
    </dgm:pt>
    <dgm:pt modelId="{B7BE0ED1-F1A9-4D42-A042-F861B6E55481}" type="parTrans" cxnId="{5CD4987C-E390-4B43-B50A-2DEF9915BBA6}">
      <dgm:prSet/>
      <dgm:spPr/>
      <dgm:t>
        <a:bodyPr/>
        <a:lstStyle/>
        <a:p>
          <a:endParaRPr lang="en-US"/>
        </a:p>
      </dgm:t>
    </dgm:pt>
    <dgm:pt modelId="{508C9C33-93BA-4DAC-8888-C2880C6B41DD}" type="sibTrans" cxnId="{5CD4987C-E390-4B43-B50A-2DEF9915BBA6}">
      <dgm:prSet/>
      <dgm:spPr/>
      <dgm:t>
        <a:bodyPr/>
        <a:lstStyle/>
        <a:p>
          <a:endParaRPr lang="en-US"/>
        </a:p>
      </dgm:t>
    </dgm:pt>
    <dgm:pt modelId="{113E992C-AC35-4D61-A75B-B73A87F6A38D}">
      <dgm:prSet/>
      <dgm:spPr/>
      <dgm:t>
        <a:bodyPr/>
        <a:lstStyle/>
        <a:p>
          <a:r>
            <a:rPr lang="en-US"/>
            <a:t>Use</a:t>
          </a:r>
        </a:p>
      </dgm:t>
    </dgm:pt>
    <dgm:pt modelId="{ADF7F986-129A-4B94-A664-4425D66836A4}" type="parTrans" cxnId="{A3EB27A8-9E3C-4C6B-9A4B-5B261AF5164F}">
      <dgm:prSet/>
      <dgm:spPr/>
      <dgm:t>
        <a:bodyPr/>
        <a:lstStyle/>
        <a:p>
          <a:endParaRPr lang="en-US"/>
        </a:p>
      </dgm:t>
    </dgm:pt>
    <dgm:pt modelId="{C71A0A3F-E395-486F-9093-4B5FA9B8C1E6}" type="sibTrans" cxnId="{A3EB27A8-9E3C-4C6B-9A4B-5B261AF5164F}">
      <dgm:prSet/>
      <dgm:spPr/>
      <dgm:t>
        <a:bodyPr/>
        <a:lstStyle/>
        <a:p>
          <a:endParaRPr lang="en-US"/>
        </a:p>
      </dgm:t>
    </dgm:pt>
    <dgm:pt modelId="{6C30156B-1329-4B87-BD68-928162F6B759}">
      <dgm:prSet/>
      <dgm:spPr/>
      <dgm:t>
        <a:bodyPr/>
        <a:lstStyle/>
        <a:p>
          <a:r>
            <a:rPr lang="en-US"/>
            <a:t>Use Monte Carlo simulation in budgeting to plan for volatility.</a:t>
          </a:r>
        </a:p>
      </dgm:t>
    </dgm:pt>
    <dgm:pt modelId="{9A79CED4-DE3C-43B3-979A-47B0B2F0B27C}" type="parTrans" cxnId="{5A5065AA-A40A-45BF-9F54-1EFE118F2DF8}">
      <dgm:prSet/>
      <dgm:spPr/>
      <dgm:t>
        <a:bodyPr/>
        <a:lstStyle/>
        <a:p>
          <a:endParaRPr lang="en-US"/>
        </a:p>
      </dgm:t>
    </dgm:pt>
    <dgm:pt modelId="{2B16C2A9-6273-4130-B08E-AB7108E555EA}" type="sibTrans" cxnId="{5A5065AA-A40A-45BF-9F54-1EFE118F2DF8}">
      <dgm:prSet/>
      <dgm:spPr/>
      <dgm:t>
        <a:bodyPr/>
        <a:lstStyle/>
        <a:p>
          <a:endParaRPr lang="en-US"/>
        </a:p>
      </dgm:t>
    </dgm:pt>
    <dgm:pt modelId="{3BA7F7B1-44F4-4B08-8102-DCF6654FA49A}">
      <dgm:prSet/>
      <dgm:spPr/>
      <dgm:t>
        <a:bodyPr/>
        <a:lstStyle/>
        <a:p>
          <a:r>
            <a:rPr lang="en-US"/>
            <a:t>Establish</a:t>
          </a:r>
        </a:p>
      </dgm:t>
    </dgm:pt>
    <dgm:pt modelId="{CA4011DE-ECC1-4BF9-A709-3456DB390FCF}" type="parTrans" cxnId="{0ADB9ABE-7407-48A8-A2FA-526D72399859}">
      <dgm:prSet/>
      <dgm:spPr/>
      <dgm:t>
        <a:bodyPr/>
        <a:lstStyle/>
        <a:p>
          <a:endParaRPr lang="en-US"/>
        </a:p>
      </dgm:t>
    </dgm:pt>
    <dgm:pt modelId="{FB446DED-6671-4987-B781-10A1B9CF1BD9}" type="sibTrans" cxnId="{0ADB9ABE-7407-48A8-A2FA-526D72399859}">
      <dgm:prSet/>
      <dgm:spPr/>
      <dgm:t>
        <a:bodyPr/>
        <a:lstStyle/>
        <a:p>
          <a:endParaRPr lang="en-US"/>
        </a:p>
      </dgm:t>
    </dgm:pt>
    <dgm:pt modelId="{A046C78B-3946-4921-94F8-F5BAEC8F3490}">
      <dgm:prSet/>
      <dgm:spPr/>
      <dgm:t>
        <a:bodyPr/>
        <a:lstStyle/>
        <a:p>
          <a:r>
            <a:rPr lang="en-US"/>
            <a:t>For Liquidity: Establish a $6B Revolving Credit Facility to bridge the liquidity gap identified in the P5 scenario (dropping from $11.4B to $5.4B).</a:t>
          </a:r>
        </a:p>
      </dgm:t>
    </dgm:pt>
    <dgm:pt modelId="{AD3963FA-E7BC-435C-AB02-7721A4075BB6}" type="parTrans" cxnId="{F48F3C05-79A1-4174-8E68-4129299FF9A8}">
      <dgm:prSet/>
      <dgm:spPr/>
      <dgm:t>
        <a:bodyPr/>
        <a:lstStyle/>
        <a:p>
          <a:endParaRPr lang="en-US"/>
        </a:p>
      </dgm:t>
    </dgm:pt>
    <dgm:pt modelId="{F767A988-5D43-4056-A33B-1D56E654EFB9}" type="sibTrans" cxnId="{F48F3C05-79A1-4174-8E68-4129299FF9A8}">
      <dgm:prSet/>
      <dgm:spPr/>
      <dgm:t>
        <a:bodyPr/>
        <a:lstStyle/>
        <a:p>
          <a:endParaRPr lang="en-US"/>
        </a:p>
      </dgm:t>
    </dgm:pt>
    <dgm:pt modelId="{9399A114-03AE-4024-8C12-3596F37BD2D2}">
      <dgm:prSet/>
      <dgm:spPr/>
      <dgm:t>
        <a:bodyPr/>
        <a:lstStyle/>
        <a:p>
          <a:r>
            <a:rPr lang="en-US"/>
            <a:t>Prioritize</a:t>
          </a:r>
        </a:p>
      </dgm:t>
    </dgm:pt>
    <dgm:pt modelId="{6CAFF9B4-53FE-477F-99B5-FD790A247968}" type="parTrans" cxnId="{04C5D9AD-C122-4E24-8FC3-A4119D31F412}">
      <dgm:prSet/>
      <dgm:spPr/>
      <dgm:t>
        <a:bodyPr/>
        <a:lstStyle/>
        <a:p>
          <a:endParaRPr lang="en-US"/>
        </a:p>
      </dgm:t>
    </dgm:pt>
    <dgm:pt modelId="{8FB8C37F-1533-4895-B19D-5661D11931FE}" type="sibTrans" cxnId="{04C5D9AD-C122-4E24-8FC3-A4119D31F412}">
      <dgm:prSet/>
      <dgm:spPr/>
      <dgm:t>
        <a:bodyPr/>
        <a:lstStyle/>
        <a:p>
          <a:endParaRPr lang="en-US"/>
        </a:p>
      </dgm:t>
    </dgm:pt>
    <dgm:pt modelId="{C5A95368-F344-426E-96B5-90FC746F1BAF}">
      <dgm:prSet/>
      <dgm:spPr/>
      <dgm:t>
        <a:bodyPr/>
        <a:lstStyle/>
        <a:p>
          <a:r>
            <a:rPr lang="en-US"/>
            <a:t>For Volatility: Prioritize Predictive Maintenance CapEx. Reducing the Utilization Standard Deviation by just 1% (from 6.3% to 5.3%) creates a 4x stabilizing effect on earnings.</a:t>
          </a:r>
        </a:p>
      </dgm:t>
    </dgm:pt>
    <dgm:pt modelId="{BD1A8E2F-90F2-4695-ADA9-5D406CC475C5}" type="parTrans" cxnId="{67691EAF-8B8F-42AB-A569-70F5572CBCD8}">
      <dgm:prSet/>
      <dgm:spPr/>
      <dgm:t>
        <a:bodyPr/>
        <a:lstStyle/>
        <a:p>
          <a:endParaRPr lang="en-US"/>
        </a:p>
      </dgm:t>
    </dgm:pt>
    <dgm:pt modelId="{9258CD2C-9DD7-448D-98EA-BCEC97B8F761}" type="sibTrans" cxnId="{67691EAF-8B8F-42AB-A569-70F5572CBCD8}">
      <dgm:prSet/>
      <dgm:spPr/>
      <dgm:t>
        <a:bodyPr/>
        <a:lstStyle/>
        <a:p>
          <a:endParaRPr lang="en-US"/>
        </a:p>
      </dgm:t>
    </dgm:pt>
    <dgm:pt modelId="{68C75AF2-4738-4F14-805A-65EE13F68093}">
      <dgm:prSet/>
      <dgm:spPr/>
      <dgm:t>
        <a:bodyPr/>
        <a:lstStyle/>
        <a:p>
          <a:r>
            <a:rPr lang="en-US"/>
            <a:t>Decouple</a:t>
          </a:r>
        </a:p>
      </dgm:t>
    </dgm:pt>
    <dgm:pt modelId="{7E75D7D9-CF52-427B-B6A4-19FC7FDC8F74}" type="parTrans" cxnId="{A151F697-D6B7-4B10-A533-0B3D39EFA47F}">
      <dgm:prSet/>
      <dgm:spPr/>
      <dgm:t>
        <a:bodyPr/>
        <a:lstStyle/>
        <a:p>
          <a:endParaRPr lang="en-US"/>
        </a:p>
      </dgm:t>
    </dgm:pt>
    <dgm:pt modelId="{48E3066E-F1CB-4531-87A7-49DE6A989902}" type="sibTrans" cxnId="{A151F697-D6B7-4B10-A533-0B3D39EFA47F}">
      <dgm:prSet/>
      <dgm:spPr/>
      <dgm:t>
        <a:bodyPr/>
        <a:lstStyle/>
        <a:p>
          <a:endParaRPr lang="en-US"/>
        </a:p>
      </dgm:t>
    </dgm:pt>
    <dgm:pt modelId="{6292616D-B7B5-49DB-932D-DF8C736155CF}">
      <dgm:prSet/>
      <dgm:spPr/>
      <dgm:t>
        <a:bodyPr/>
        <a:lstStyle/>
        <a:p>
          <a:r>
            <a:rPr lang="en-US"/>
            <a:t>For Inventory: Decouple Safety Stock logic. The model proves Inventory creates independent risk during crises; we need a static buffer that ignores the Utilization signal during outages.</a:t>
          </a:r>
        </a:p>
      </dgm:t>
    </dgm:pt>
    <dgm:pt modelId="{AE649042-39D9-46C5-9267-B932BAED9D18}" type="parTrans" cxnId="{2EF76A9A-0F89-4FCF-AE61-D927EC7470A2}">
      <dgm:prSet/>
      <dgm:spPr/>
      <dgm:t>
        <a:bodyPr/>
        <a:lstStyle/>
        <a:p>
          <a:endParaRPr lang="en-US"/>
        </a:p>
      </dgm:t>
    </dgm:pt>
    <dgm:pt modelId="{DF4D6F15-0069-4E74-B749-C95944097CB7}" type="sibTrans" cxnId="{2EF76A9A-0F89-4FCF-AE61-D927EC7470A2}">
      <dgm:prSet/>
      <dgm:spPr/>
      <dgm:t>
        <a:bodyPr/>
        <a:lstStyle/>
        <a:p>
          <a:endParaRPr lang="en-US"/>
        </a:p>
      </dgm:t>
    </dgm:pt>
    <dgm:pt modelId="{5CAA98D8-9F05-4155-AAB2-DF3633DF2CE8}" type="pres">
      <dgm:prSet presAssocID="{7BBB6547-2BA7-471B-9616-8F66666AF6C8}" presName="Name0" presStyleCnt="0">
        <dgm:presLayoutVars>
          <dgm:dir/>
          <dgm:animLvl val="lvl"/>
          <dgm:resizeHandles val="exact"/>
        </dgm:presLayoutVars>
      </dgm:prSet>
      <dgm:spPr/>
    </dgm:pt>
    <dgm:pt modelId="{3956BDCC-B94A-414B-993C-46996EDE81C9}" type="pres">
      <dgm:prSet presAssocID="{2A16752D-A959-4AE5-BA2A-9FA71F0E59BB}" presName="composite" presStyleCnt="0"/>
      <dgm:spPr/>
    </dgm:pt>
    <dgm:pt modelId="{59E24A34-B7BC-4F90-8314-DECBCCBC250A}" type="pres">
      <dgm:prSet presAssocID="{2A16752D-A959-4AE5-BA2A-9FA71F0E59BB}" presName="parTx" presStyleLbl="alignNode1" presStyleIdx="0" presStyleCnt="7">
        <dgm:presLayoutVars>
          <dgm:chMax val="0"/>
          <dgm:chPref val="0"/>
        </dgm:presLayoutVars>
      </dgm:prSet>
      <dgm:spPr/>
    </dgm:pt>
    <dgm:pt modelId="{B45975BB-07E2-4F8B-81BC-763DF9985D6C}" type="pres">
      <dgm:prSet presAssocID="{2A16752D-A959-4AE5-BA2A-9FA71F0E59BB}" presName="desTx" presStyleLbl="alignAccFollowNode1" presStyleIdx="0" presStyleCnt="7">
        <dgm:presLayoutVars/>
      </dgm:prSet>
      <dgm:spPr/>
    </dgm:pt>
    <dgm:pt modelId="{A69E8215-E610-4319-9F4F-F66FC215D45C}" type="pres">
      <dgm:prSet presAssocID="{B045372A-97CA-458A-96F6-2DC3B476E109}" presName="space" presStyleCnt="0"/>
      <dgm:spPr/>
    </dgm:pt>
    <dgm:pt modelId="{8EEC0E75-160A-4F07-B6E5-69A5A132592B}" type="pres">
      <dgm:prSet presAssocID="{D7D08F46-4600-43E8-B6BD-03BD7E812486}" presName="composite" presStyleCnt="0"/>
      <dgm:spPr/>
    </dgm:pt>
    <dgm:pt modelId="{14FF1913-6769-409A-8D7B-D6B0B10C3B1A}" type="pres">
      <dgm:prSet presAssocID="{D7D08F46-4600-43E8-B6BD-03BD7E812486}" presName="parTx" presStyleLbl="alignNode1" presStyleIdx="1" presStyleCnt="7">
        <dgm:presLayoutVars>
          <dgm:chMax val="0"/>
          <dgm:chPref val="0"/>
        </dgm:presLayoutVars>
      </dgm:prSet>
      <dgm:spPr/>
    </dgm:pt>
    <dgm:pt modelId="{DAF2CE9B-8D40-47FE-B091-DBA1BE3A370D}" type="pres">
      <dgm:prSet presAssocID="{D7D08F46-4600-43E8-B6BD-03BD7E812486}" presName="desTx" presStyleLbl="alignAccFollowNode1" presStyleIdx="1" presStyleCnt="7">
        <dgm:presLayoutVars/>
      </dgm:prSet>
      <dgm:spPr/>
    </dgm:pt>
    <dgm:pt modelId="{177E7A0F-9F80-4FDD-B195-281A0EC0793D}" type="pres">
      <dgm:prSet presAssocID="{2CDB77DC-9E0E-4986-AF62-284C4E405A1C}" presName="space" presStyleCnt="0"/>
      <dgm:spPr/>
    </dgm:pt>
    <dgm:pt modelId="{5C27839E-3012-44A8-8F47-3F368B270D19}" type="pres">
      <dgm:prSet presAssocID="{2F60DC3D-882E-4850-A550-0B0478DE1D40}" presName="composite" presStyleCnt="0"/>
      <dgm:spPr/>
    </dgm:pt>
    <dgm:pt modelId="{F0131D54-A0FA-4D9E-AB95-505B5E01C428}" type="pres">
      <dgm:prSet presAssocID="{2F60DC3D-882E-4850-A550-0B0478DE1D40}" presName="parTx" presStyleLbl="alignNode1" presStyleIdx="2" presStyleCnt="7">
        <dgm:presLayoutVars>
          <dgm:chMax val="0"/>
          <dgm:chPref val="0"/>
        </dgm:presLayoutVars>
      </dgm:prSet>
      <dgm:spPr/>
    </dgm:pt>
    <dgm:pt modelId="{4D832387-F551-48D0-9580-B82EEF4E422E}" type="pres">
      <dgm:prSet presAssocID="{2F60DC3D-882E-4850-A550-0B0478DE1D40}" presName="desTx" presStyleLbl="alignAccFollowNode1" presStyleIdx="2" presStyleCnt="7">
        <dgm:presLayoutVars/>
      </dgm:prSet>
      <dgm:spPr/>
    </dgm:pt>
    <dgm:pt modelId="{00C11B9F-95D4-42E1-A302-1BC747E9831E}" type="pres">
      <dgm:prSet presAssocID="{283C9938-1056-4C2B-AB81-8572378BB641}" presName="space" presStyleCnt="0"/>
      <dgm:spPr/>
    </dgm:pt>
    <dgm:pt modelId="{303BAB1F-65E3-42F8-BEDC-7AC725892C0A}" type="pres">
      <dgm:prSet presAssocID="{113E992C-AC35-4D61-A75B-B73A87F6A38D}" presName="composite" presStyleCnt="0"/>
      <dgm:spPr/>
    </dgm:pt>
    <dgm:pt modelId="{697D91B2-E6BA-4698-A2D2-3F8019788EED}" type="pres">
      <dgm:prSet presAssocID="{113E992C-AC35-4D61-A75B-B73A87F6A38D}" presName="parTx" presStyleLbl="alignNode1" presStyleIdx="3" presStyleCnt="7">
        <dgm:presLayoutVars>
          <dgm:chMax val="0"/>
          <dgm:chPref val="0"/>
        </dgm:presLayoutVars>
      </dgm:prSet>
      <dgm:spPr/>
    </dgm:pt>
    <dgm:pt modelId="{795C90C2-BB9C-4BE8-8F49-B7E6CFD349FC}" type="pres">
      <dgm:prSet presAssocID="{113E992C-AC35-4D61-A75B-B73A87F6A38D}" presName="desTx" presStyleLbl="alignAccFollowNode1" presStyleIdx="3" presStyleCnt="7">
        <dgm:presLayoutVars/>
      </dgm:prSet>
      <dgm:spPr/>
    </dgm:pt>
    <dgm:pt modelId="{45299C4E-2C53-468C-BACD-5B27BB110217}" type="pres">
      <dgm:prSet presAssocID="{C71A0A3F-E395-486F-9093-4B5FA9B8C1E6}" presName="space" presStyleCnt="0"/>
      <dgm:spPr/>
    </dgm:pt>
    <dgm:pt modelId="{0D3F0D2B-D3F8-4425-B7E0-DF6B9904A8A1}" type="pres">
      <dgm:prSet presAssocID="{3BA7F7B1-44F4-4B08-8102-DCF6654FA49A}" presName="composite" presStyleCnt="0"/>
      <dgm:spPr/>
    </dgm:pt>
    <dgm:pt modelId="{ABCC71DD-4B34-4253-9EF6-CEC8546D479B}" type="pres">
      <dgm:prSet presAssocID="{3BA7F7B1-44F4-4B08-8102-DCF6654FA49A}" presName="parTx" presStyleLbl="alignNode1" presStyleIdx="4" presStyleCnt="7">
        <dgm:presLayoutVars>
          <dgm:chMax val="0"/>
          <dgm:chPref val="0"/>
        </dgm:presLayoutVars>
      </dgm:prSet>
      <dgm:spPr/>
    </dgm:pt>
    <dgm:pt modelId="{E8E59398-5382-4699-A7B8-5189507D6204}" type="pres">
      <dgm:prSet presAssocID="{3BA7F7B1-44F4-4B08-8102-DCF6654FA49A}" presName="desTx" presStyleLbl="alignAccFollowNode1" presStyleIdx="4" presStyleCnt="7">
        <dgm:presLayoutVars/>
      </dgm:prSet>
      <dgm:spPr/>
    </dgm:pt>
    <dgm:pt modelId="{455BD6F2-E92C-4C82-8466-345BF8D89A02}" type="pres">
      <dgm:prSet presAssocID="{FB446DED-6671-4987-B781-10A1B9CF1BD9}" presName="space" presStyleCnt="0"/>
      <dgm:spPr/>
    </dgm:pt>
    <dgm:pt modelId="{FAB06BA4-BD7E-4696-B931-0F97ECFA44B7}" type="pres">
      <dgm:prSet presAssocID="{9399A114-03AE-4024-8C12-3596F37BD2D2}" presName="composite" presStyleCnt="0"/>
      <dgm:spPr/>
    </dgm:pt>
    <dgm:pt modelId="{8AC9694E-8ED1-4F69-A78E-AA3E00AE2E5E}" type="pres">
      <dgm:prSet presAssocID="{9399A114-03AE-4024-8C12-3596F37BD2D2}" presName="parTx" presStyleLbl="alignNode1" presStyleIdx="5" presStyleCnt="7">
        <dgm:presLayoutVars>
          <dgm:chMax val="0"/>
          <dgm:chPref val="0"/>
        </dgm:presLayoutVars>
      </dgm:prSet>
      <dgm:spPr/>
    </dgm:pt>
    <dgm:pt modelId="{085A954A-C002-4172-9132-5EC82CC85747}" type="pres">
      <dgm:prSet presAssocID="{9399A114-03AE-4024-8C12-3596F37BD2D2}" presName="desTx" presStyleLbl="alignAccFollowNode1" presStyleIdx="5" presStyleCnt="7">
        <dgm:presLayoutVars/>
      </dgm:prSet>
      <dgm:spPr/>
    </dgm:pt>
    <dgm:pt modelId="{F9ED99AB-41D7-41C7-9425-70C2B24CA767}" type="pres">
      <dgm:prSet presAssocID="{8FB8C37F-1533-4895-B19D-5661D11931FE}" presName="space" presStyleCnt="0"/>
      <dgm:spPr/>
    </dgm:pt>
    <dgm:pt modelId="{0FF4DF72-9B01-48AF-99BF-FAB144A1A104}" type="pres">
      <dgm:prSet presAssocID="{68C75AF2-4738-4F14-805A-65EE13F68093}" presName="composite" presStyleCnt="0"/>
      <dgm:spPr/>
    </dgm:pt>
    <dgm:pt modelId="{7CF904D9-013B-4170-A29A-CA614186BD32}" type="pres">
      <dgm:prSet presAssocID="{68C75AF2-4738-4F14-805A-65EE13F68093}" presName="parTx" presStyleLbl="alignNode1" presStyleIdx="6" presStyleCnt="7">
        <dgm:presLayoutVars>
          <dgm:chMax val="0"/>
          <dgm:chPref val="0"/>
        </dgm:presLayoutVars>
      </dgm:prSet>
      <dgm:spPr/>
    </dgm:pt>
    <dgm:pt modelId="{A201055C-0CF5-4E21-BEC0-F3027F2D5E31}" type="pres">
      <dgm:prSet presAssocID="{68C75AF2-4738-4F14-805A-65EE13F68093}" presName="desTx" presStyleLbl="alignAccFollowNode1" presStyleIdx="6" presStyleCnt="7">
        <dgm:presLayoutVars/>
      </dgm:prSet>
      <dgm:spPr/>
    </dgm:pt>
  </dgm:ptLst>
  <dgm:cxnLst>
    <dgm:cxn modelId="{F48F3C05-79A1-4174-8E68-4129299FF9A8}" srcId="{3BA7F7B1-44F4-4B08-8102-DCF6654FA49A}" destId="{A046C78B-3946-4921-94F8-F5BAEC8F3490}" srcOrd="0" destOrd="0" parTransId="{AD3963FA-E7BC-435C-AB02-7721A4075BB6}" sibTransId="{F767A988-5D43-4056-A33B-1D56E654EFB9}"/>
    <dgm:cxn modelId="{5D3CF30A-5EBD-4810-9CA8-2C1ABF6B690C}" srcId="{7BBB6547-2BA7-471B-9616-8F66666AF6C8}" destId="{2F60DC3D-882E-4850-A550-0B0478DE1D40}" srcOrd="2" destOrd="0" parTransId="{19CDF1C2-604A-451C-9595-D11FEA53B2B6}" sibTransId="{283C9938-1056-4C2B-AB81-8572378BB641}"/>
    <dgm:cxn modelId="{FDD60D0C-0C81-47B2-99E6-46174C8A7B84}" type="presOf" srcId="{64CA0D29-ABBC-4278-B74D-A3FB916D6B6A}" destId="{DAF2CE9B-8D40-47FE-B091-DBA1BE3A370D}" srcOrd="0" destOrd="0" presId="urn:microsoft.com/office/officeart/2016/7/layout/HorizontalActionList"/>
    <dgm:cxn modelId="{692A661D-09F2-4C48-B4CF-93BD47804730}" type="presOf" srcId="{7BBB6547-2BA7-471B-9616-8F66666AF6C8}" destId="{5CAA98D8-9F05-4155-AAB2-DF3633DF2CE8}" srcOrd="0" destOrd="0" presId="urn:microsoft.com/office/officeart/2016/7/layout/HorizontalActionList"/>
    <dgm:cxn modelId="{54B7A628-5708-4E49-9A31-45C324059D7D}" type="presOf" srcId="{A046C78B-3946-4921-94F8-F5BAEC8F3490}" destId="{E8E59398-5382-4699-A7B8-5189507D6204}" srcOrd="0" destOrd="0" presId="urn:microsoft.com/office/officeart/2016/7/layout/HorizontalActionList"/>
    <dgm:cxn modelId="{B2D1182E-5E6C-4C8F-95A8-E931EF861533}" type="presOf" srcId="{C5A95368-F344-426E-96B5-90FC746F1BAF}" destId="{085A954A-C002-4172-9132-5EC82CC85747}" srcOrd="0" destOrd="0" presId="urn:microsoft.com/office/officeart/2016/7/layout/HorizontalActionList"/>
    <dgm:cxn modelId="{FBEEDA38-49A0-40E0-B4C2-4D1F77676BF4}" type="presOf" srcId="{EBC8FD03-1283-4A44-94C2-F72A10AC4B00}" destId="{B45975BB-07E2-4F8B-81BC-763DF9985D6C}" srcOrd="0" destOrd="0" presId="urn:microsoft.com/office/officeart/2016/7/layout/HorizontalActionList"/>
    <dgm:cxn modelId="{7F6E3A3A-76D8-49A4-B924-2737EDB8EBAE}" type="presOf" srcId="{6C30156B-1329-4B87-BD68-928162F6B759}" destId="{795C90C2-BB9C-4BE8-8F49-B7E6CFD349FC}" srcOrd="0" destOrd="0" presId="urn:microsoft.com/office/officeart/2016/7/layout/HorizontalActionList"/>
    <dgm:cxn modelId="{660C205B-8EA1-495B-8A1A-2EB4084F4DFC}" type="presOf" srcId="{68C75AF2-4738-4F14-805A-65EE13F68093}" destId="{7CF904D9-013B-4170-A29A-CA614186BD32}" srcOrd="0" destOrd="0" presId="urn:microsoft.com/office/officeart/2016/7/layout/HorizontalActionList"/>
    <dgm:cxn modelId="{BA9B5042-04FF-4776-B374-72DD33FEF0A3}" type="presOf" srcId="{2F60DC3D-882E-4850-A550-0B0478DE1D40}" destId="{F0131D54-A0FA-4D9E-AB95-505B5E01C428}" srcOrd="0" destOrd="0" presId="urn:microsoft.com/office/officeart/2016/7/layout/HorizontalActionList"/>
    <dgm:cxn modelId="{5F96DF50-ABE2-408B-8E6B-8F22D92D62CD}" type="presOf" srcId="{2A16752D-A959-4AE5-BA2A-9FA71F0E59BB}" destId="{59E24A34-B7BC-4F90-8314-DECBCCBC250A}" srcOrd="0" destOrd="0" presId="urn:microsoft.com/office/officeart/2016/7/layout/HorizontalActionList"/>
    <dgm:cxn modelId="{4D10F373-A873-4C59-B33F-9AACA24F539C}" type="presOf" srcId="{113E992C-AC35-4D61-A75B-B73A87F6A38D}" destId="{697D91B2-E6BA-4698-A2D2-3F8019788EED}" srcOrd="0" destOrd="0" presId="urn:microsoft.com/office/officeart/2016/7/layout/HorizontalActionList"/>
    <dgm:cxn modelId="{06F8F855-B46F-4E12-9DF6-A6E330332074}" srcId="{2A16752D-A959-4AE5-BA2A-9FA71F0E59BB}" destId="{EBC8FD03-1283-4A44-94C2-F72A10AC4B00}" srcOrd="0" destOrd="0" parTransId="{C8ED6334-B64F-43AD-A2EA-B8645EEFBC8D}" sibTransId="{D89F844A-9F9E-42A1-AE90-7061C73AEFE1}"/>
    <dgm:cxn modelId="{5CD4987C-E390-4B43-B50A-2DEF9915BBA6}" srcId="{2F60DC3D-882E-4850-A550-0B0478DE1D40}" destId="{F59FF520-87C3-492C-8346-9B4D11F11A53}" srcOrd="0" destOrd="0" parTransId="{B7BE0ED1-F1A9-4D42-A042-F861B6E55481}" sibTransId="{508C9C33-93BA-4DAC-8888-C2880C6B41DD}"/>
    <dgm:cxn modelId="{A151F697-D6B7-4B10-A533-0B3D39EFA47F}" srcId="{7BBB6547-2BA7-471B-9616-8F66666AF6C8}" destId="{68C75AF2-4738-4F14-805A-65EE13F68093}" srcOrd="6" destOrd="0" parTransId="{7E75D7D9-CF52-427B-B6A4-19FC7FDC8F74}" sibTransId="{48E3066E-F1CB-4531-87A7-49DE6A989902}"/>
    <dgm:cxn modelId="{2EF76A9A-0F89-4FCF-AE61-D927EC7470A2}" srcId="{68C75AF2-4738-4F14-805A-65EE13F68093}" destId="{6292616D-B7B5-49DB-932D-DF8C736155CF}" srcOrd="0" destOrd="0" parTransId="{AE649042-39D9-46C5-9267-B932BAED9D18}" sibTransId="{DF4D6F15-0069-4E74-B749-C95944097CB7}"/>
    <dgm:cxn modelId="{EDDB31A4-350D-4622-A4EC-6CEB98FB4C33}" srcId="{7BBB6547-2BA7-471B-9616-8F66666AF6C8}" destId="{2A16752D-A959-4AE5-BA2A-9FA71F0E59BB}" srcOrd="0" destOrd="0" parTransId="{108493A8-E10F-4979-AD49-DC4359648B62}" sibTransId="{B045372A-97CA-458A-96F6-2DC3B476E109}"/>
    <dgm:cxn modelId="{5ED73EA6-9513-487D-B393-889D1AC54202}" type="presOf" srcId="{3BA7F7B1-44F4-4B08-8102-DCF6654FA49A}" destId="{ABCC71DD-4B34-4253-9EF6-CEC8546D479B}" srcOrd="0" destOrd="0" presId="urn:microsoft.com/office/officeart/2016/7/layout/HorizontalActionList"/>
    <dgm:cxn modelId="{A3EB27A8-9E3C-4C6B-9A4B-5B261AF5164F}" srcId="{7BBB6547-2BA7-471B-9616-8F66666AF6C8}" destId="{113E992C-AC35-4D61-A75B-B73A87F6A38D}" srcOrd="3" destOrd="0" parTransId="{ADF7F986-129A-4B94-A664-4425D66836A4}" sibTransId="{C71A0A3F-E395-486F-9093-4B5FA9B8C1E6}"/>
    <dgm:cxn modelId="{5A5065AA-A40A-45BF-9F54-1EFE118F2DF8}" srcId="{113E992C-AC35-4D61-A75B-B73A87F6A38D}" destId="{6C30156B-1329-4B87-BD68-928162F6B759}" srcOrd="0" destOrd="0" parTransId="{9A79CED4-DE3C-43B3-979A-47B0B2F0B27C}" sibTransId="{2B16C2A9-6273-4130-B08E-AB7108E555EA}"/>
    <dgm:cxn modelId="{6CE9B5AA-5761-4C01-B429-C6DC9D6514F8}" type="presOf" srcId="{6292616D-B7B5-49DB-932D-DF8C736155CF}" destId="{A201055C-0CF5-4E21-BEC0-F3027F2D5E31}" srcOrd="0" destOrd="0" presId="urn:microsoft.com/office/officeart/2016/7/layout/HorizontalActionList"/>
    <dgm:cxn modelId="{04C5D9AD-C122-4E24-8FC3-A4119D31F412}" srcId="{7BBB6547-2BA7-471B-9616-8F66666AF6C8}" destId="{9399A114-03AE-4024-8C12-3596F37BD2D2}" srcOrd="5" destOrd="0" parTransId="{6CAFF9B4-53FE-477F-99B5-FD790A247968}" sibTransId="{8FB8C37F-1533-4895-B19D-5661D11931FE}"/>
    <dgm:cxn modelId="{67691EAF-8B8F-42AB-A569-70F5572CBCD8}" srcId="{9399A114-03AE-4024-8C12-3596F37BD2D2}" destId="{C5A95368-F344-426E-96B5-90FC746F1BAF}" srcOrd="0" destOrd="0" parTransId="{BD1A8E2F-90F2-4695-ADA9-5D406CC475C5}" sibTransId="{9258CD2C-9DD7-448D-98EA-BCEC97B8F761}"/>
    <dgm:cxn modelId="{45AF0CB6-3592-4F97-AFB9-1FD5AE908173}" type="presOf" srcId="{F59FF520-87C3-492C-8346-9B4D11F11A53}" destId="{4D832387-F551-48D0-9580-B82EEF4E422E}" srcOrd="0" destOrd="0" presId="urn:microsoft.com/office/officeart/2016/7/layout/HorizontalActionList"/>
    <dgm:cxn modelId="{15251EBB-45E9-44BF-80F5-A328D048C950}" srcId="{D7D08F46-4600-43E8-B6BD-03BD7E812486}" destId="{64CA0D29-ABBC-4278-B74D-A3FB916D6B6A}" srcOrd="0" destOrd="0" parTransId="{253A078F-2016-48CC-B860-389C21DCBACF}" sibTransId="{C710DD85-157C-4217-A9C9-CF1DA0BD821B}"/>
    <dgm:cxn modelId="{0ADB9ABE-7407-48A8-A2FA-526D72399859}" srcId="{7BBB6547-2BA7-471B-9616-8F66666AF6C8}" destId="{3BA7F7B1-44F4-4B08-8102-DCF6654FA49A}" srcOrd="4" destOrd="0" parTransId="{CA4011DE-ECC1-4BF9-A709-3456DB390FCF}" sibTransId="{FB446DED-6671-4987-B781-10A1B9CF1BD9}"/>
    <dgm:cxn modelId="{ED021CD0-2CA8-49AD-8DFA-E78A2C1F9193}" type="presOf" srcId="{D7D08F46-4600-43E8-B6BD-03BD7E812486}" destId="{14FF1913-6769-409A-8D7B-D6B0B10C3B1A}" srcOrd="0" destOrd="0" presId="urn:microsoft.com/office/officeart/2016/7/layout/HorizontalActionList"/>
    <dgm:cxn modelId="{2B0584E7-E5D5-4993-87E1-0ED3DC18C714}" srcId="{7BBB6547-2BA7-471B-9616-8F66666AF6C8}" destId="{D7D08F46-4600-43E8-B6BD-03BD7E812486}" srcOrd="1" destOrd="0" parTransId="{D1D1C6C6-1620-4F3E-AB2F-EE99BCE781DF}" sibTransId="{2CDB77DC-9E0E-4986-AF62-284C4E405A1C}"/>
    <dgm:cxn modelId="{8F99FBF2-8F86-4997-BB2B-1F07242F622C}" type="presOf" srcId="{9399A114-03AE-4024-8C12-3596F37BD2D2}" destId="{8AC9694E-8ED1-4F69-A78E-AA3E00AE2E5E}" srcOrd="0" destOrd="0" presId="urn:microsoft.com/office/officeart/2016/7/layout/HorizontalActionList"/>
    <dgm:cxn modelId="{717D93E0-2E29-4C7A-830D-D25CC9730618}" type="presParOf" srcId="{5CAA98D8-9F05-4155-AAB2-DF3633DF2CE8}" destId="{3956BDCC-B94A-414B-993C-46996EDE81C9}" srcOrd="0" destOrd="0" presId="urn:microsoft.com/office/officeart/2016/7/layout/HorizontalActionList"/>
    <dgm:cxn modelId="{897BA673-12FE-45DF-865A-5AA995863D80}" type="presParOf" srcId="{3956BDCC-B94A-414B-993C-46996EDE81C9}" destId="{59E24A34-B7BC-4F90-8314-DECBCCBC250A}" srcOrd="0" destOrd="0" presId="urn:microsoft.com/office/officeart/2016/7/layout/HorizontalActionList"/>
    <dgm:cxn modelId="{E56E502E-3B91-4481-8FDE-61D9BE027F5D}" type="presParOf" srcId="{3956BDCC-B94A-414B-993C-46996EDE81C9}" destId="{B45975BB-07E2-4F8B-81BC-763DF9985D6C}" srcOrd="1" destOrd="0" presId="urn:microsoft.com/office/officeart/2016/7/layout/HorizontalActionList"/>
    <dgm:cxn modelId="{518ED115-1497-43E0-B005-9262E0E4B23B}" type="presParOf" srcId="{5CAA98D8-9F05-4155-AAB2-DF3633DF2CE8}" destId="{A69E8215-E610-4319-9F4F-F66FC215D45C}" srcOrd="1" destOrd="0" presId="urn:microsoft.com/office/officeart/2016/7/layout/HorizontalActionList"/>
    <dgm:cxn modelId="{F96D1CEC-3E53-4155-BF4B-03B373FCD6AC}" type="presParOf" srcId="{5CAA98D8-9F05-4155-AAB2-DF3633DF2CE8}" destId="{8EEC0E75-160A-4F07-B6E5-69A5A132592B}" srcOrd="2" destOrd="0" presId="urn:microsoft.com/office/officeart/2016/7/layout/HorizontalActionList"/>
    <dgm:cxn modelId="{5D9A4FA9-4361-4C1D-94CF-63F0BFF25460}" type="presParOf" srcId="{8EEC0E75-160A-4F07-B6E5-69A5A132592B}" destId="{14FF1913-6769-409A-8D7B-D6B0B10C3B1A}" srcOrd="0" destOrd="0" presId="urn:microsoft.com/office/officeart/2016/7/layout/HorizontalActionList"/>
    <dgm:cxn modelId="{459A5E8B-F84C-4296-9055-EC343A9A54D5}" type="presParOf" srcId="{8EEC0E75-160A-4F07-B6E5-69A5A132592B}" destId="{DAF2CE9B-8D40-47FE-B091-DBA1BE3A370D}" srcOrd="1" destOrd="0" presId="urn:microsoft.com/office/officeart/2016/7/layout/HorizontalActionList"/>
    <dgm:cxn modelId="{60734FC5-877E-4526-B86F-A9E229801A28}" type="presParOf" srcId="{5CAA98D8-9F05-4155-AAB2-DF3633DF2CE8}" destId="{177E7A0F-9F80-4FDD-B195-281A0EC0793D}" srcOrd="3" destOrd="0" presId="urn:microsoft.com/office/officeart/2016/7/layout/HorizontalActionList"/>
    <dgm:cxn modelId="{65B0815A-D4CC-482F-AA26-BB1765FDAFC1}" type="presParOf" srcId="{5CAA98D8-9F05-4155-AAB2-DF3633DF2CE8}" destId="{5C27839E-3012-44A8-8F47-3F368B270D19}" srcOrd="4" destOrd="0" presId="urn:microsoft.com/office/officeart/2016/7/layout/HorizontalActionList"/>
    <dgm:cxn modelId="{711B4DF5-5816-45F8-B331-E33961CD1AE1}" type="presParOf" srcId="{5C27839E-3012-44A8-8F47-3F368B270D19}" destId="{F0131D54-A0FA-4D9E-AB95-505B5E01C428}" srcOrd="0" destOrd="0" presId="urn:microsoft.com/office/officeart/2016/7/layout/HorizontalActionList"/>
    <dgm:cxn modelId="{6D1CB86A-4DF1-4945-A776-41DF70A6C3C5}" type="presParOf" srcId="{5C27839E-3012-44A8-8F47-3F368B270D19}" destId="{4D832387-F551-48D0-9580-B82EEF4E422E}" srcOrd="1" destOrd="0" presId="urn:microsoft.com/office/officeart/2016/7/layout/HorizontalActionList"/>
    <dgm:cxn modelId="{06C92ED2-CD7B-414A-B0D4-5A222A39478A}" type="presParOf" srcId="{5CAA98D8-9F05-4155-AAB2-DF3633DF2CE8}" destId="{00C11B9F-95D4-42E1-A302-1BC747E9831E}" srcOrd="5" destOrd="0" presId="urn:microsoft.com/office/officeart/2016/7/layout/HorizontalActionList"/>
    <dgm:cxn modelId="{E4F498C9-8F12-4B4D-B56A-73EC5EFF8C59}" type="presParOf" srcId="{5CAA98D8-9F05-4155-AAB2-DF3633DF2CE8}" destId="{303BAB1F-65E3-42F8-BEDC-7AC725892C0A}" srcOrd="6" destOrd="0" presId="urn:microsoft.com/office/officeart/2016/7/layout/HorizontalActionList"/>
    <dgm:cxn modelId="{453AA2FC-7727-4A87-9266-AC43869B0600}" type="presParOf" srcId="{303BAB1F-65E3-42F8-BEDC-7AC725892C0A}" destId="{697D91B2-E6BA-4698-A2D2-3F8019788EED}" srcOrd="0" destOrd="0" presId="urn:microsoft.com/office/officeart/2016/7/layout/HorizontalActionList"/>
    <dgm:cxn modelId="{DD365A3D-E8D3-4D1F-B2CB-AC53D30258B9}" type="presParOf" srcId="{303BAB1F-65E3-42F8-BEDC-7AC725892C0A}" destId="{795C90C2-BB9C-4BE8-8F49-B7E6CFD349FC}" srcOrd="1" destOrd="0" presId="urn:microsoft.com/office/officeart/2016/7/layout/HorizontalActionList"/>
    <dgm:cxn modelId="{7EBC0DD0-C1D9-4A3C-A307-E02271E57243}" type="presParOf" srcId="{5CAA98D8-9F05-4155-AAB2-DF3633DF2CE8}" destId="{45299C4E-2C53-468C-BACD-5B27BB110217}" srcOrd="7" destOrd="0" presId="urn:microsoft.com/office/officeart/2016/7/layout/HorizontalActionList"/>
    <dgm:cxn modelId="{ABAA905C-8BD0-4878-9DDB-E9134FFC0FF1}" type="presParOf" srcId="{5CAA98D8-9F05-4155-AAB2-DF3633DF2CE8}" destId="{0D3F0D2B-D3F8-4425-B7E0-DF6B9904A8A1}" srcOrd="8" destOrd="0" presId="urn:microsoft.com/office/officeart/2016/7/layout/HorizontalActionList"/>
    <dgm:cxn modelId="{77BFA592-4B1B-4280-BCBD-23F3B15E3F66}" type="presParOf" srcId="{0D3F0D2B-D3F8-4425-B7E0-DF6B9904A8A1}" destId="{ABCC71DD-4B34-4253-9EF6-CEC8546D479B}" srcOrd="0" destOrd="0" presId="urn:microsoft.com/office/officeart/2016/7/layout/HorizontalActionList"/>
    <dgm:cxn modelId="{7BC1F07E-1C7B-4050-9E61-FA07FEBD176A}" type="presParOf" srcId="{0D3F0D2B-D3F8-4425-B7E0-DF6B9904A8A1}" destId="{E8E59398-5382-4699-A7B8-5189507D6204}" srcOrd="1" destOrd="0" presId="urn:microsoft.com/office/officeart/2016/7/layout/HorizontalActionList"/>
    <dgm:cxn modelId="{FF4D5823-9C63-4243-BFB5-F234234BB029}" type="presParOf" srcId="{5CAA98D8-9F05-4155-AAB2-DF3633DF2CE8}" destId="{455BD6F2-E92C-4C82-8466-345BF8D89A02}" srcOrd="9" destOrd="0" presId="urn:microsoft.com/office/officeart/2016/7/layout/HorizontalActionList"/>
    <dgm:cxn modelId="{6CCE5689-D3B2-4DAA-95C9-C9FF24650D6C}" type="presParOf" srcId="{5CAA98D8-9F05-4155-AAB2-DF3633DF2CE8}" destId="{FAB06BA4-BD7E-4696-B931-0F97ECFA44B7}" srcOrd="10" destOrd="0" presId="urn:microsoft.com/office/officeart/2016/7/layout/HorizontalActionList"/>
    <dgm:cxn modelId="{4661E92B-4F45-494E-A4D9-2C44D3C736E1}" type="presParOf" srcId="{FAB06BA4-BD7E-4696-B931-0F97ECFA44B7}" destId="{8AC9694E-8ED1-4F69-A78E-AA3E00AE2E5E}" srcOrd="0" destOrd="0" presId="urn:microsoft.com/office/officeart/2016/7/layout/HorizontalActionList"/>
    <dgm:cxn modelId="{80A51E6B-B4C1-438B-9A90-D45485AB8BD4}" type="presParOf" srcId="{FAB06BA4-BD7E-4696-B931-0F97ECFA44B7}" destId="{085A954A-C002-4172-9132-5EC82CC85747}" srcOrd="1" destOrd="0" presId="urn:microsoft.com/office/officeart/2016/7/layout/HorizontalActionList"/>
    <dgm:cxn modelId="{3DB95020-5C59-4AA0-AFE2-C2C51E02889E}" type="presParOf" srcId="{5CAA98D8-9F05-4155-AAB2-DF3633DF2CE8}" destId="{F9ED99AB-41D7-41C7-9425-70C2B24CA767}" srcOrd="11" destOrd="0" presId="urn:microsoft.com/office/officeart/2016/7/layout/HorizontalActionList"/>
    <dgm:cxn modelId="{263A3941-6122-4FE5-8D10-0066474483B8}" type="presParOf" srcId="{5CAA98D8-9F05-4155-AAB2-DF3633DF2CE8}" destId="{0FF4DF72-9B01-48AF-99BF-FAB144A1A104}" srcOrd="12" destOrd="0" presId="urn:microsoft.com/office/officeart/2016/7/layout/HorizontalActionList"/>
    <dgm:cxn modelId="{51673B4C-F920-4431-8AEE-3A41723FB512}" type="presParOf" srcId="{0FF4DF72-9B01-48AF-99BF-FAB144A1A104}" destId="{7CF904D9-013B-4170-A29A-CA614186BD32}" srcOrd="0" destOrd="0" presId="urn:microsoft.com/office/officeart/2016/7/layout/HorizontalActionList"/>
    <dgm:cxn modelId="{97AFB00A-4912-41FC-993E-F3BB5244A96D}" type="presParOf" srcId="{0FF4DF72-9B01-48AF-99BF-FAB144A1A104}" destId="{A201055C-0CF5-4E21-BEC0-F3027F2D5E31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4E913C-8111-4D31-9BE0-A93D96DEBC67}">
      <dsp:nvSpPr>
        <dsp:cNvPr id="0" name=""/>
        <dsp:cNvSpPr/>
      </dsp:nvSpPr>
      <dsp:spPr>
        <a:xfrm>
          <a:off x="718664" y="453902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19534F-BCF4-4250-9A4E-D139D2F4086C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F7EC3F-A7FA-4011-99A0-ACF30DE016C1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b="1" kern="1200"/>
            <a:t>Market Risk</a:t>
          </a:r>
          <a:endParaRPr lang="en-US" sz="2300" kern="1200"/>
        </a:p>
      </dsp:txBody>
      <dsp:txXfrm>
        <a:off x="93445" y="3018902"/>
        <a:ext cx="3206250" cy="720000"/>
      </dsp:txXfrm>
    </dsp:sp>
    <dsp:sp modelId="{CCA7B285-0B68-4228-84C7-4DC3A678EAC2}">
      <dsp:nvSpPr>
        <dsp:cNvPr id="0" name=""/>
        <dsp:cNvSpPr/>
      </dsp:nvSpPr>
      <dsp:spPr>
        <a:xfrm>
          <a:off x="4486008" y="453902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95CAAA-C5D9-45AA-B543-CB1975DD75AD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013B64-A365-4F04-90C6-4679C96D55C7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b="1" kern="1200"/>
            <a:t>Operational Risk</a:t>
          </a:r>
          <a:endParaRPr lang="en-US" sz="2300" kern="1200"/>
        </a:p>
      </dsp:txBody>
      <dsp:txXfrm>
        <a:off x="3860789" y="3018902"/>
        <a:ext cx="3206250" cy="720000"/>
      </dsp:txXfrm>
    </dsp:sp>
    <dsp:sp modelId="{2E6BCE44-5FDF-46CD-9895-DA83A0EB51DD}">
      <dsp:nvSpPr>
        <dsp:cNvPr id="0" name=""/>
        <dsp:cNvSpPr/>
      </dsp:nvSpPr>
      <dsp:spPr>
        <a:xfrm>
          <a:off x="8253352" y="453902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E1CCA3-FBB9-478A-B704-3B979196681A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E55F90-A67A-4971-A3EA-9C910B795F7C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b="1" kern="1200" dirty="0"/>
            <a:t>Regulatory and Environmental Risk</a:t>
          </a:r>
          <a:endParaRPr lang="en-US" sz="2300" kern="1200" dirty="0"/>
        </a:p>
      </dsp:txBody>
      <dsp:txXfrm>
        <a:off x="7628133" y="3018902"/>
        <a:ext cx="3206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E24A34-B7BC-4F90-8314-DECBCCBC250A}">
      <dsp:nvSpPr>
        <dsp:cNvPr id="0" name=""/>
        <dsp:cNvSpPr/>
      </dsp:nvSpPr>
      <dsp:spPr>
        <a:xfrm>
          <a:off x="11024" y="801880"/>
          <a:ext cx="1406688" cy="42200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1160" tIns="111160" rIns="111160" bIns="1111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Expand</a:t>
          </a:r>
        </a:p>
      </dsp:txBody>
      <dsp:txXfrm>
        <a:off x="11024" y="801880"/>
        <a:ext cx="1406688" cy="422006"/>
      </dsp:txXfrm>
    </dsp:sp>
    <dsp:sp modelId="{B45975BB-07E2-4F8B-81BC-763DF9985D6C}">
      <dsp:nvSpPr>
        <dsp:cNvPr id="0" name=""/>
        <dsp:cNvSpPr/>
      </dsp:nvSpPr>
      <dsp:spPr>
        <a:xfrm>
          <a:off x="11024" y="1223887"/>
          <a:ext cx="1406688" cy="232557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950" tIns="138950" rIns="138950" bIns="13895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Expand renewable diesel capacity → higher internal offsets.</a:t>
          </a:r>
        </a:p>
      </dsp:txBody>
      <dsp:txXfrm>
        <a:off x="11024" y="1223887"/>
        <a:ext cx="1406688" cy="2325570"/>
      </dsp:txXfrm>
    </dsp:sp>
    <dsp:sp modelId="{14FF1913-6769-409A-8D7B-D6B0B10C3B1A}">
      <dsp:nvSpPr>
        <dsp:cNvPr id="0" name=""/>
        <dsp:cNvSpPr/>
      </dsp:nvSpPr>
      <dsp:spPr>
        <a:xfrm>
          <a:off x="1525501" y="801880"/>
          <a:ext cx="1406688" cy="422006"/>
        </a:xfrm>
        <a:prstGeom prst="rect">
          <a:avLst/>
        </a:prstGeom>
        <a:solidFill>
          <a:schemeClr val="accent2">
            <a:hueOff val="1073936"/>
            <a:satOff val="-3082"/>
            <a:lumOff val="-4935"/>
            <a:alphaOff val="0"/>
          </a:schemeClr>
        </a:solidFill>
        <a:ln w="19050" cap="flat" cmpd="sng" algn="ctr">
          <a:solidFill>
            <a:schemeClr val="accent2">
              <a:hueOff val="1073936"/>
              <a:satOff val="-3082"/>
              <a:lumOff val="-493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1160" tIns="111160" rIns="111160" bIns="1111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Strengthen</a:t>
          </a:r>
        </a:p>
      </dsp:txBody>
      <dsp:txXfrm>
        <a:off x="1525501" y="801880"/>
        <a:ext cx="1406688" cy="422006"/>
      </dsp:txXfrm>
    </dsp:sp>
    <dsp:sp modelId="{DAF2CE9B-8D40-47FE-B091-DBA1BE3A370D}">
      <dsp:nvSpPr>
        <dsp:cNvPr id="0" name=""/>
        <dsp:cNvSpPr/>
      </dsp:nvSpPr>
      <dsp:spPr>
        <a:xfrm>
          <a:off x="1525501" y="1223887"/>
          <a:ext cx="1406688" cy="2325570"/>
        </a:xfrm>
        <a:prstGeom prst="rect">
          <a:avLst/>
        </a:prstGeom>
        <a:solidFill>
          <a:schemeClr val="accent2">
            <a:tint val="40000"/>
            <a:alpha val="90000"/>
            <a:hueOff val="1122453"/>
            <a:satOff val="-10372"/>
            <a:lumOff val="-1169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1122453"/>
              <a:satOff val="-10372"/>
              <a:lumOff val="-11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950" tIns="138950" rIns="138950" bIns="13895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Strengthen pricing models to improve pass-through recovery.</a:t>
          </a:r>
        </a:p>
      </dsp:txBody>
      <dsp:txXfrm>
        <a:off x="1525501" y="1223887"/>
        <a:ext cx="1406688" cy="2325570"/>
      </dsp:txXfrm>
    </dsp:sp>
    <dsp:sp modelId="{F0131D54-A0FA-4D9E-AB95-505B5E01C428}">
      <dsp:nvSpPr>
        <dsp:cNvPr id="0" name=""/>
        <dsp:cNvSpPr/>
      </dsp:nvSpPr>
      <dsp:spPr>
        <a:xfrm>
          <a:off x="3039978" y="801880"/>
          <a:ext cx="1406688" cy="422006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1160" tIns="111160" rIns="111160" bIns="1111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Maintain</a:t>
          </a:r>
        </a:p>
      </dsp:txBody>
      <dsp:txXfrm>
        <a:off x="3039978" y="801880"/>
        <a:ext cx="1406688" cy="422006"/>
      </dsp:txXfrm>
    </dsp:sp>
    <dsp:sp modelId="{4D832387-F551-48D0-9580-B82EEF4E422E}">
      <dsp:nvSpPr>
        <dsp:cNvPr id="0" name=""/>
        <dsp:cNvSpPr/>
      </dsp:nvSpPr>
      <dsp:spPr>
        <a:xfrm>
          <a:off x="3039978" y="1223887"/>
          <a:ext cx="1406688" cy="2325570"/>
        </a:xfrm>
        <a:prstGeom prst="rect">
          <a:avLst/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950" tIns="138950" rIns="138950" bIns="13895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Maintain a liquidity buffer to manage high-credit-price years.</a:t>
          </a:r>
        </a:p>
      </dsp:txBody>
      <dsp:txXfrm>
        <a:off x="3039978" y="1223887"/>
        <a:ext cx="1406688" cy="2325570"/>
      </dsp:txXfrm>
    </dsp:sp>
    <dsp:sp modelId="{697D91B2-E6BA-4698-A2D2-3F8019788EED}">
      <dsp:nvSpPr>
        <dsp:cNvPr id="0" name=""/>
        <dsp:cNvSpPr/>
      </dsp:nvSpPr>
      <dsp:spPr>
        <a:xfrm>
          <a:off x="4554455" y="801880"/>
          <a:ext cx="1406688" cy="422006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1160" tIns="111160" rIns="111160" bIns="1111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Use</a:t>
          </a:r>
        </a:p>
      </dsp:txBody>
      <dsp:txXfrm>
        <a:off x="4554455" y="801880"/>
        <a:ext cx="1406688" cy="422006"/>
      </dsp:txXfrm>
    </dsp:sp>
    <dsp:sp modelId="{795C90C2-BB9C-4BE8-8F49-B7E6CFD349FC}">
      <dsp:nvSpPr>
        <dsp:cNvPr id="0" name=""/>
        <dsp:cNvSpPr/>
      </dsp:nvSpPr>
      <dsp:spPr>
        <a:xfrm>
          <a:off x="4554455" y="1223887"/>
          <a:ext cx="1406688" cy="2325570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950" tIns="138950" rIns="138950" bIns="13895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Use Monte Carlo simulation in budgeting to plan for volatility.</a:t>
          </a:r>
        </a:p>
      </dsp:txBody>
      <dsp:txXfrm>
        <a:off x="4554455" y="1223887"/>
        <a:ext cx="1406688" cy="2325570"/>
      </dsp:txXfrm>
    </dsp:sp>
    <dsp:sp modelId="{ABCC71DD-4B34-4253-9EF6-CEC8546D479B}">
      <dsp:nvSpPr>
        <dsp:cNvPr id="0" name=""/>
        <dsp:cNvSpPr/>
      </dsp:nvSpPr>
      <dsp:spPr>
        <a:xfrm>
          <a:off x="6068933" y="801880"/>
          <a:ext cx="1406688" cy="422006"/>
        </a:xfrm>
        <a:prstGeom prst="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1160" tIns="111160" rIns="111160" bIns="1111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Establish</a:t>
          </a:r>
        </a:p>
      </dsp:txBody>
      <dsp:txXfrm>
        <a:off x="6068933" y="801880"/>
        <a:ext cx="1406688" cy="422006"/>
      </dsp:txXfrm>
    </dsp:sp>
    <dsp:sp modelId="{E8E59398-5382-4699-A7B8-5189507D6204}">
      <dsp:nvSpPr>
        <dsp:cNvPr id="0" name=""/>
        <dsp:cNvSpPr/>
      </dsp:nvSpPr>
      <dsp:spPr>
        <a:xfrm>
          <a:off x="6068933" y="1223887"/>
          <a:ext cx="1406688" cy="2325570"/>
        </a:xfrm>
        <a:prstGeom prst="rect">
          <a:avLst/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950" tIns="138950" rIns="138950" bIns="13895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For Liquidity: Establish a $6B Revolving Credit Facility to bridge the liquidity gap identified in the P5 scenario (dropping from $11.4B to $5.4B).</a:t>
          </a:r>
        </a:p>
      </dsp:txBody>
      <dsp:txXfrm>
        <a:off x="6068933" y="1223887"/>
        <a:ext cx="1406688" cy="2325570"/>
      </dsp:txXfrm>
    </dsp:sp>
    <dsp:sp modelId="{8AC9694E-8ED1-4F69-A78E-AA3E00AE2E5E}">
      <dsp:nvSpPr>
        <dsp:cNvPr id="0" name=""/>
        <dsp:cNvSpPr/>
      </dsp:nvSpPr>
      <dsp:spPr>
        <a:xfrm>
          <a:off x="7583410" y="801880"/>
          <a:ext cx="1406688" cy="422006"/>
        </a:xfrm>
        <a:prstGeom prst="rect">
          <a:avLst/>
        </a:prstGeom>
        <a:solidFill>
          <a:schemeClr val="accent2">
            <a:hueOff val="5369678"/>
            <a:satOff val="-15411"/>
            <a:lumOff val="-24674"/>
            <a:alphaOff val="0"/>
          </a:schemeClr>
        </a:solidFill>
        <a:ln w="19050" cap="flat" cmpd="sng" algn="ctr">
          <a:solidFill>
            <a:schemeClr val="accent2">
              <a:hueOff val="5369678"/>
              <a:satOff val="-15411"/>
              <a:lumOff val="-2467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1160" tIns="111160" rIns="111160" bIns="1111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Prioritize</a:t>
          </a:r>
        </a:p>
      </dsp:txBody>
      <dsp:txXfrm>
        <a:off x="7583410" y="801880"/>
        <a:ext cx="1406688" cy="422006"/>
      </dsp:txXfrm>
    </dsp:sp>
    <dsp:sp modelId="{085A954A-C002-4172-9132-5EC82CC85747}">
      <dsp:nvSpPr>
        <dsp:cNvPr id="0" name=""/>
        <dsp:cNvSpPr/>
      </dsp:nvSpPr>
      <dsp:spPr>
        <a:xfrm>
          <a:off x="7583410" y="1223887"/>
          <a:ext cx="1406688" cy="2325570"/>
        </a:xfrm>
        <a:prstGeom prst="rect">
          <a:avLst/>
        </a:prstGeom>
        <a:solidFill>
          <a:schemeClr val="accent2">
            <a:tint val="40000"/>
            <a:alpha val="90000"/>
            <a:hueOff val="5612265"/>
            <a:satOff val="-51860"/>
            <a:lumOff val="-5846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5612265"/>
              <a:satOff val="-51860"/>
              <a:lumOff val="-584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950" tIns="138950" rIns="138950" bIns="13895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For Volatility: Prioritize Predictive Maintenance CapEx. Reducing the Utilization Standard Deviation by just 1% (from 6.3% to 5.3%) creates a 4x stabilizing effect on earnings.</a:t>
          </a:r>
        </a:p>
      </dsp:txBody>
      <dsp:txXfrm>
        <a:off x="7583410" y="1223887"/>
        <a:ext cx="1406688" cy="2325570"/>
      </dsp:txXfrm>
    </dsp:sp>
    <dsp:sp modelId="{7CF904D9-013B-4170-A29A-CA614186BD32}">
      <dsp:nvSpPr>
        <dsp:cNvPr id="0" name=""/>
        <dsp:cNvSpPr/>
      </dsp:nvSpPr>
      <dsp:spPr>
        <a:xfrm>
          <a:off x="9097887" y="801880"/>
          <a:ext cx="1406688" cy="422006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1160" tIns="111160" rIns="111160" bIns="1111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Decouple</a:t>
          </a:r>
        </a:p>
      </dsp:txBody>
      <dsp:txXfrm>
        <a:off x="9097887" y="801880"/>
        <a:ext cx="1406688" cy="422006"/>
      </dsp:txXfrm>
    </dsp:sp>
    <dsp:sp modelId="{A201055C-0CF5-4E21-BEC0-F3027F2D5E31}">
      <dsp:nvSpPr>
        <dsp:cNvPr id="0" name=""/>
        <dsp:cNvSpPr/>
      </dsp:nvSpPr>
      <dsp:spPr>
        <a:xfrm>
          <a:off x="9097887" y="1223887"/>
          <a:ext cx="1406688" cy="2325570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950" tIns="138950" rIns="138950" bIns="13895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For Inventory: Decouple Safety Stock logic. The model proves Inventory creates independent risk during crises; we need a static buffer that ignores the Utilization signal during outages.</a:t>
          </a:r>
        </a:p>
      </dsp:txBody>
      <dsp:txXfrm>
        <a:off x="9097887" y="1223887"/>
        <a:ext cx="1406688" cy="23255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4D7CFC-AFB9-B19B-FDF8-F8D36082613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4FEBAB-84DC-70E1-2600-34CA57B4FD3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17C05-BFEA-439D-81E7-5188B105740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26117E-3A4C-F65D-F218-E46BA99B69A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2-19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E00703-772A-A671-3DAE-CF791DB66FB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38FE7-561C-47F0-A24E-75A4787CDD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28899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9BFCB1-F7F6-4C9D-B092-EE10A7838C1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2-19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0DF196-F0A9-445F-9ADF-C68DA0133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8359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006FA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6FA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endParaRPr spc="11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63E2C8-B455-4D72-8FBB-FC8E0A7570E9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>
                <a:solidFill>
                  <a:srgbClr val="006FAB"/>
                </a:solidFill>
              </a:rPr>
              <a:t>‹#›</a:t>
            </a:fld>
            <a:endParaRPr spc="-50">
              <a:solidFill>
                <a:srgbClr val="006FAB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006FA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6FA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endParaRPr spc="11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1FAC6-4C6B-4F54-B936-CC62E1569554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>
                <a:solidFill>
                  <a:srgbClr val="006FAB"/>
                </a:solidFill>
              </a:rPr>
              <a:t>‹#›</a:t>
            </a:fld>
            <a:endParaRPr spc="-50">
              <a:solidFill>
                <a:srgbClr val="006FAB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44100" y="6440423"/>
            <a:ext cx="1447800" cy="25603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455164" y="1429511"/>
            <a:ext cx="9737725" cy="15875"/>
          </a:xfrm>
          <a:custGeom>
            <a:avLst/>
            <a:gdLst/>
            <a:ahLst/>
            <a:cxnLst/>
            <a:rect l="l" t="t" r="r" b="b"/>
            <a:pathLst>
              <a:path w="9737725" h="15875">
                <a:moveTo>
                  <a:pt x="0" y="15366"/>
                </a:moveTo>
                <a:lnTo>
                  <a:pt x="9737598" y="0"/>
                </a:lnTo>
              </a:path>
            </a:pathLst>
          </a:custGeom>
          <a:ln w="6096">
            <a:solidFill>
              <a:srgbClr val="FFC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6FA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endParaRPr spc="11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FD9EA-311D-477A-94BE-2C75A39DD9F3}" type="datetime1">
              <a:rPr lang="en-US" smtClean="0"/>
              <a:t>12/3/2025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>
                <a:solidFill>
                  <a:srgbClr val="006FAB"/>
                </a:solidFill>
              </a:rPr>
              <a:t>‹#›</a:t>
            </a:fld>
            <a:endParaRPr spc="-50">
              <a:solidFill>
                <a:srgbClr val="006FAB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44100" y="6440423"/>
            <a:ext cx="1447800" cy="25603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6FA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endParaRPr spc="11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BB674-91B2-4809-B730-F9D4F7C1A964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>
                <a:solidFill>
                  <a:srgbClr val="006FAB"/>
                </a:solidFill>
              </a:rPr>
              <a:t>‹#›</a:t>
            </a:fld>
            <a:endParaRPr spc="-50">
              <a:solidFill>
                <a:srgbClr val="006FAB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6FA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endParaRPr spc="11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1C261-A913-44FA-AB28-DEBBEE22A6D4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>
                <a:solidFill>
                  <a:srgbClr val="006FAB"/>
                </a:solidFill>
              </a:rPr>
              <a:t>‹#›</a:t>
            </a:fld>
            <a:endParaRPr spc="-50">
              <a:solidFill>
                <a:srgbClr val="006FAB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86DCA-D856-CC83-98D9-2EB03ED2D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B9538C-7EA9-3A67-2725-2A707F9C2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FE715-EBE1-2D84-3E3A-5CA8345F4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A4040-4D19-4C10-8529-E1626AC4521B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336F0-6247-CB5F-C4F1-BFE20F9B9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36DF9-303B-AE3A-9497-EB02CF991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7150-95CD-457F-8555-B13D96D2C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20434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8611-EA53-107F-5EEF-209BF6FEE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B521C-DD0E-83D4-932F-90C3733E9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4DEF3-56D3-1F65-B8CB-E4FEE1FD9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A4040-4D19-4C10-8529-E1626AC4521B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9742-7864-930F-C7A7-C4735B662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0DD13-CAEB-9D34-61E4-6BB1F09BC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7150-95CD-457F-8555-B13D96D2C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992797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ED9B0-0A32-B41B-9058-63B9219AE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6D137-32EA-F7D0-BCE2-CE433477B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907C2-C242-1B34-CAB4-8882D88CA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A4040-4D19-4C10-8529-E1626AC4521B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F7143-0F85-18CD-4F79-B2691F5C3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8305A-E6A4-4BDE-ACB9-0A3DCDE99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7150-95CD-457F-8555-B13D96D2C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69938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F2371-8EF7-690E-2E2A-725CB1663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7ADE0-7801-DB2F-BCA5-CBB1B0D3EF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361606-222C-3FAF-5349-6C9A733B19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52F668-5ADF-3A5B-0DD4-2BB1E3DD4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A4040-4D19-4C10-8529-E1626AC4521B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DD678A-FDDE-D5A2-2A02-0375A99E5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8BCEEE-FF61-BAA0-6A7D-F4B2CCD64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7150-95CD-457F-8555-B13D96D2C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4531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204B3-C857-27A8-4CA4-78B7B2809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EB9AF-B435-7DD2-35BE-1212D906B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4B94F9-3080-D8C6-C78D-3812244E8B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8CC866-6C59-F4A7-50BA-D74094F8F8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85F577-9D54-5669-2CDB-24B3925003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EA799D-3CF7-FF3D-7CEF-8C4231713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A4040-4D19-4C10-8529-E1626AC4521B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747179-F315-2201-0BAB-45F2D09DB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1AE033-E532-462C-571B-43D1937E8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7150-95CD-457F-8555-B13D96D2C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94970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503D9-47CF-F387-BB65-D2B6629F8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1A92C3-EB66-06B5-4C75-0CDCB87B1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A4040-4D19-4C10-8529-E1626AC4521B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EE2E6C-CD2A-197D-23F7-F8C053003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2C663A-12B0-0769-B12A-53400F7D7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7150-95CD-457F-8555-B13D96D2C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48876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A344D8-2DA2-6101-F719-9ABD471D1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A4040-4D19-4C10-8529-E1626AC4521B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4E10FA-2BAA-DA8A-7723-D0965CDC1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EE65B7-ED83-BAFD-CA36-0982450A8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7150-95CD-457F-8555-B13D96D2C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60637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222B-0DA5-240C-1574-BBBBA2C0C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FFE55-FF3C-A1E2-8305-ED37926EA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7F91C2-9D74-9704-78E0-BFABD504AE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20DAB4-0459-0A87-2830-FEF864720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A4040-4D19-4C10-8529-E1626AC4521B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3AD8D5-3E1D-7564-2394-984FF3BC3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E8B689-E5BA-DD52-18C2-9458D47CF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7150-95CD-457F-8555-B13D96D2C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461909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BC011-ECC5-B06B-8BC7-71D28BC23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5EF696-373A-F2E1-471B-2C83719554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7399B4-6771-E649-B43D-B5C5D04C68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F7AC39-C417-B6C2-FCB4-2EE240D89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A4040-4D19-4C10-8529-E1626AC4521B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F651D8-7AFC-48CC-B6EB-8A5276EE6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73ECE3-42A4-84D3-4B8D-ECF0A0126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7150-95CD-457F-8555-B13D96D2C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23466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58DAC-FED7-E534-5289-CAB6135F9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7254F6-5C06-164E-1101-8EC48D1166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1BF07-600F-DB93-434E-E1321CAC2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A4040-4D19-4C10-8529-E1626AC4521B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5E055-E0AF-F2A2-826D-5B94A9C0A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EE20B-DEB7-CE9B-6B09-8EBBDCF3F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7150-95CD-457F-8555-B13D96D2C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855532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AA2810-4E83-31FE-5A83-F8B1297E28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D32556-EF57-1FA3-5730-B6DAEB56A8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E3751-7679-C096-4C9C-E52812419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A4040-4D19-4C10-8529-E1626AC4521B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C7052-C825-A433-1089-3BA179223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64D72-E52F-2530-8C18-E1917B2F9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7150-95CD-457F-8555-B13D96D2C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02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944099" y="6440423"/>
            <a:ext cx="1447800" cy="25603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9819131" y="0"/>
            <a:ext cx="2372995" cy="6858000"/>
          </a:xfrm>
          <a:custGeom>
            <a:avLst/>
            <a:gdLst/>
            <a:ahLst/>
            <a:cxnLst/>
            <a:rect l="l" t="t" r="r" b="b"/>
            <a:pathLst>
              <a:path w="2372995" h="6858000">
                <a:moveTo>
                  <a:pt x="2372868" y="0"/>
                </a:moveTo>
                <a:lnTo>
                  <a:pt x="0" y="0"/>
                </a:lnTo>
                <a:lnTo>
                  <a:pt x="0" y="6858000"/>
                </a:lnTo>
                <a:lnTo>
                  <a:pt x="2372868" y="6858000"/>
                </a:lnTo>
                <a:lnTo>
                  <a:pt x="237286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1423416"/>
            <a:ext cx="1693545" cy="58419"/>
          </a:xfrm>
          <a:custGeom>
            <a:avLst/>
            <a:gdLst/>
            <a:ahLst/>
            <a:cxnLst/>
            <a:rect l="l" t="t" r="r" b="b"/>
            <a:pathLst>
              <a:path w="1693545" h="58419">
                <a:moveTo>
                  <a:pt x="1693418" y="0"/>
                </a:moveTo>
                <a:lnTo>
                  <a:pt x="0" y="0"/>
                </a:lnTo>
                <a:lnTo>
                  <a:pt x="0" y="57911"/>
                </a:lnTo>
                <a:lnTo>
                  <a:pt x="1693418" y="57911"/>
                </a:lnTo>
                <a:lnTo>
                  <a:pt x="1693418" y="0"/>
                </a:lnTo>
                <a:close/>
              </a:path>
            </a:pathLst>
          </a:custGeom>
          <a:solidFill>
            <a:srgbClr val="FFC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804416" y="1452372"/>
            <a:ext cx="546100" cy="0"/>
          </a:xfrm>
          <a:custGeom>
            <a:avLst/>
            <a:gdLst/>
            <a:ahLst/>
            <a:cxnLst/>
            <a:rect l="l" t="t" r="r" b="b"/>
            <a:pathLst>
              <a:path w="546100">
                <a:moveTo>
                  <a:pt x="0" y="0"/>
                </a:moveTo>
                <a:lnTo>
                  <a:pt x="545719" y="0"/>
                </a:lnTo>
              </a:path>
            </a:pathLst>
          </a:custGeom>
          <a:ln w="57912">
            <a:solidFill>
              <a:srgbClr val="FFC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455164" y="1429511"/>
            <a:ext cx="9737725" cy="15875"/>
          </a:xfrm>
          <a:custGeom>
            <a:avLst/>
            <a:gdLst/>
            <a:ahLst/>
            <a:cxnLst/>
            <a:rect l="l" t="t" r="r" b="b"/>
            <a:pathLst>
              <a:path w="9737725" h="15875">
                <a:moveTo>
                  <a:pt x="0" y="15366"/>
                </a:moveTo>
                <a:lnTo>
                  <a:pt x="9737598" y="0"/>
                </a:lnTo>
              </a:path>
            </a:pathLst>
          </a:custGeom>
          <a:ln w="6096">
            <a:solidFill>
              <a:srgbClr val="006F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155935" y="1825751"/>
            <a:ext cx="134112" cy="134112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355580" y="1825751"/>
            <a:ext cx="134112" cy="134112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562843" y="1825751"/>
            <a:ext cx="134111" cy="134112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770107" y="1825751"/>
            <a:ext cx="134112" cy="134112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944100" y="6440423"/>
            <a:ext cx="1447800" cy="256032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63880" y="108204"/>
            <a:ext cx="134112" cy="134112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65759" y="108204"/>
            <a:ext cx="134111" cy="134112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72668" y="108204"/>
            <a:ext cx="134112" cy="134112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79932" y="108204"/>
            <a:ext cx="134112" cy="13411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0621" y="297891"/>
            <a:ext cx="9112885" cy="9754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2366" y="1768227"/>
            <a:ext cx="11285855" cy="3677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006FA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2366" y="6505981"/>
            <a:ext cx="5728970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006FA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endParaRPr spc="11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CE9F8B-4079-4D7E-81F9-0DABE7CAB27B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543410" y="6514286"/>
            <a:ext cx="294132" cy="1793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>
                <a:solidFill>
                  <a:srgbClr val="006FAB"/>
                </a:solidFill>
              </a:rPr>
              <a:t>‹#›</a:t>
            </a:fld>
            <a:endParaRPr spc="-50">
              <a:solidFill>
                <a:srgbClr val="006FAB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71060E-F8BB-CE4A-1659-E6E516C81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62EBB-EFB5-AA14-AC65-F5B720120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8B49F-F814-C963-232F-9BA11939CF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EA4040-4D19-4C10-8529-E1626AC4521B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E8E11-C8E0-BFFA-B9B4-03A655EFB1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3145-2FF9-43F5-3338-C0EDF6865E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607150-95CD-457F-8555-B13D96D2C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891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7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28.png"/><Relationship Id="rId5" Type="http://schemas.openxmlformats.org/officeDocument/2006/relationships/image" Target="../media/image8.png"/><Relationship Id="rId10" Type="http://schemas.openxmlformats.org/officeDocument/2006/relationships/image" Target="../media/image27.png"/><Relationship Id="rId4" Type="http://schemas.openxmlformats.org/officeDocument/2006/relationships/image" Target="../media/image6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7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1.pn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33.png"/><Relationship Id="rId5" Type="http://schemas.openxmlformats.org/officeDocument/2006/relationships/image" Target="../media/image8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7.png"/><Relationship Id="rId7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14/relationships/chartEx" Target="../charts/chartEx1.xm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9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6.png"/><Relationship Id="rId7" Type="http://schemas.openxmlformats.org/officeDocument/2006/relationships/image" Target="../media/image6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www.valero.com/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4E37431-20F0-4DD6-84A9-ED2B64494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50DBE7-9364-19C6-16FD-E6DC0983D2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042" y="891652"/>
            <a:ext cx="4412021" cy="3030724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VALERO ENERGY CORPORATION</a:t>
            </a:r>
            <a:br>
              <a:rPr lang="en-US" sz="4000">
                <a:solidFill>
                  <a:srgbClr val="FFFFFF"/>
                </a:solidFill>
              </a:rPr>
            </a:br>
            <a:r>
              <a:rPr lang="en-US" sz="4000">
                <a:solidFill>
                  <a:srgbClr val="FFFFFF"/>
                </a:solidFill>
              </a:rPr>
              <a:t>NYSE: VLO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FDFCFF-070B-B6EA-C7B6-30D834B934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5791" y="4061471"/>
            <a:ext cx="4126272" cy="2304479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algn="r"/>
            <a:r>
              <a:rPr lang="en-US" sz="3600">
                <a:solidFill>
                  <a:srgbClr val="FFFFFF"/>
                </a:solidFill>
              </a:rPr>
              <a:t>RISK MANAGEMENT STRATEGY</a:t>
            </a:r>
            <a:endParaRPr lang="en-US" sz="3600"/>
          </a:p>
          <a:p>
            <a:pPr algn="r"/>
            <a:endParaRPr lang="en-US" sz="2300">
              <a:solidFill>
                <a:srgbClr val="FFFFFF"/>
              </a:solidFill>
            </a:endParaRPr>
          </a:p>
          <a:p>
            <a:pPr algn="r"/>
            <a:r>
              <a:rPr lang="en-US" sz="2300">
                <a:solidFill>
                  <a:srgbClr val="FFFFFF"/>
                </a:solidFill>
              </a:rPr>
              <a:t>Group 2</a:t>
            </a:r>
          </a:p>
          <a:p>
            <a:pPr algn="r"/>
            <a:r>
              <a:rPr lang="en-US" sz="2300">
                <a:solidFill>
                  <a:srgbClr val="FFFFFF"/>
                </a:solidFill>
              </a:rPr>
              <a:t>Arvind Kumar Gill</a:t>
            </a:r>
          </a:p>
          <a:p>
            <a:pPr algn="r"/>
            <a:r>
              <a:rPr lang="en-US">
                <a:solidFill>
                  <a:srgbClr val="FFFFFF"/>
                </a:solidFill>
              </a:rPr>
              <a:t>Krishna Chaitanya Uppalapati</a:t>
            </a:r>
            <a:endParaRPr lang="en-US">
              <a:solidFill>
                <a:srgbClr val="000000"/>
              </a:solidFill>
            </a:endParaRPr>
          </a:p>
          <a:p>
            <a:pPr algn="r"/>
            <a:r>
              <a:rPr lang="en-US" sz="2200">
                <a:solidFill>
                  <a:srgbClr val="FFFFFF"/>
                </a:solidFill>
              </a:rPr>
              <a:t>Ramita Akella</a:t>
            </a:r>
            <a:endParaRPr lang="en-US" sz="2200">
              <a:solidFill>
                <a:srgbClr val="000000"/>
              </a:solidFill>
            </a:endParaRPr>
          </a:p>
          <a:p>
            <a:pPr algn="r"/>
            <a:r>
              <a:rPr lang="en-US" sz="2300">
                <a:solidFill>
                  <a:srgbClr val="FFFFFF"/>
                </a:solidFill>
              </a:rPr>
              <a:t>Sridhar Sneha</a:t>
            </a:r>
          </a:p>
          <a:p>
            <a:pPr algn="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5" name="Picture 4" descr="A blue and yellow logo&#10;&#10;AI-generated content may be incorrect.">
            <a:extLst>
              <a:ext uri="{FF2B5EF4-FFF2-40B4-BE49-F238E27FC236}">
                <a16:creationId xmlns:a16="http://schemas.microsoft.com/office/drawing/2014/main" id="{F837D70C-70B6-9F71-0E70-48764D4168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16274"/>
            <a:ext cx="5608320" cy="4181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004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B3EA57-C601-C2E1-FDEA-AAFFC7EF1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latin typeface="Arial"/>
                <a:cs typeface="Arial"/>
              </a:rPr>
              <a:t>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9AA0E14-8717-C4F0-8907-1E5BE4467D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10259" y="649480"/>
            <a:ext cx="6555347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Headquarters: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lang="en-US" altLang="en-US" sz="1600" dirty="0">
                <a:latin typeface="Arial"/>
                <a:ea typeface="+mn-lt"/>
                <a:cs typeface="Arial"/>
              </a:rPr>
              <a:t>One Valero Way, San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/>
                <a:ea typeface="+mn-lt"/>
                <a:cs typeface="Arial"/>
              </a:rPr>
              <a:t> </a:t>
            </a:r>
            <a:r>
              <a:rPr lang="en-US" altLang="en-US" sz="1600" dirty="0">
                <a:latin typeface="Arial"/>
                <a:ea typeface="+mn-lt"/>
                <a:cs typeface="Arial"/>
              </a:rPr>
              <a:t>Antonio</a:t>
            </a:r>
            <a:endParaRPr lang="en-US" sz="1600" dirty="0">
              <a:latin typeface="Arial"/>
              <a:ea typeface="+mn-lt"/>
              <a:cs typeface="Arial"/>
            </a:endParaRPr>
          </a:p>
          <a:p>
            <a:pPr marL="285750" indent="-285750">
              <a:spcBef>
                <a:spcPct val="0"/>
              </a:spcBef>
              <a:spcAft>
                <a:spcPts val="600"/>
              </a:spcAft>
            </a:pPr>
            <a:r>
              <a:rPr lang="en-US" altLang="en-US" sz="1600" b="1" dirty="0">
                <a:latin typeface="Arial"/>
                <a:ea typeface="+mn-lt"/>
                <a:cs typeface="Arial"/>
              </a:rPr>
              <a:t>Profile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lang="en-US" sz="1600" dirty="0">
                <a:latin typeface="Arial"/>
                <a:ea typeface="+mn-lt"/>
                <a:cs typeface="+mn-lt"/>
              </a:rPr>
              <a:t>Fortune 500 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effectLst/>
                <a:latin typeface="Arial"/>
                <a:ea typeface="+mn-lt"/>
                <a:cs typeface="+mn-lt"/>
              </a:rPr>
              <a:t>Energy </a:t>
            </a:r>
            <a:r>
              <a:rPr lang="en-US" sz="1600" dirty="0">
                <a:latin typeface="Arial"/>
                <a:ea typeface="+mn-lt"/>
                <a:cs typeface="+mn-lt"/>
              </a:rPr>
              <a:t>Manufacturer 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effectLst/>
                <a:latin typeface="Arial"/>
                <a:ea typeface="+mn-lt"/>
                <a:cs typeface="+mn-lt"/>
              </a:rPr>
              <a:t>– Petroleum Refining &amp; Renewable Fuels</a:t>
            </a:r>
            <a:endParaRPr lang="en-US" sz="1600" dirty="0">
              <a:latin typeface="Arial"/>
              <a:ea typeface="+mn-lt"/>
              <a:cs typeface="Arial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Global Presence: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 Operations across the U.S., Canada, U.K., Ireland, and Latin America</a:t>
            </a:r>
            <a:endParaRPr lang="en-US" altLang="en-US" sz="1600" b="0" i="0" u="none" strike="noStrike" cap="none" normalizeH="0" baseline="0">
              <a:ln>
                <a:noFill/>
              </a:ln>
              <a:effectLst/>
              <a:latin typeface="Arial"/>
              <a:cs typeface="Arial"/>
            </a:endParaRPr>
          </a:p>
          <a:p>
            <a:pPr marL="0" indent="0"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1600" dirty="0">
              <a:latin typeface="Arial"/>
              <a:cs typeface="Arial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1600" b="1" dirty="0">
                <a:latin typeface="Arial"/>
                <a:cs typeface="Arial"/>
              </a:rPr>
              <a:t>Asset Portfolio:</a:t>
            </a:r>
            <a:endParaRPr lang="en-US" altLang="en-US" sz="1600" b="1" dirty="0">
              <a:latin typeface="Arial"/>
              <a:cs typeface="Arial"/>
            </a:endParaRPr>
          </a:p>
          <a:p>
            <a:r>
              <a:rPr lang="en-US" altLang="en-US" sz="1600" b="1" dirty="0">
                <a:latin typeface="Arial"/>
                <a:cs typeface="Arial"/>
              </a:rPr>
              <a:t>Refining: </a:t>
            </a:r>
            <a:r>
              <a:rPr lang="en-US" sz="1600" dirty="0">
                <a:latin typeface="Arial"/>
                <a:ea typeface="+mn-lt"/>
                <a:cs typeface="+mn-lt"/>
              </a:rPr>
              <a:t>15 Refineries 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effectLst/>
                <a:latin typeface="Arial"/>
                <a:ea typeface="+mn-lt"/>
                <a:cs typeface="+mn-lt"/>
              </a:rPr>
              <a:t>with </a:t>
            </a:r>
            <a:r>
              <a:rPr lang="en-US" sz="1600" dirty="0">
                <a:latin typeface="Arial"/>
                <a:ea typeface="+mn-lt"/>
                <a:cs typeface="+mn-lt"/>
              </a:rPr>
              <a:t>approx. </a:t>
            </a:r>
            <a:r>
              <a:rPr lang="en-US" sz="1600" b="1" dirty="0">
                <a:latin typeface="Arial"/>
                <a:ea typeface="+mn-lt"/>
                <a:cs typeface="+mn-lt"/>
              </a:rPr>
              <a:t>3.2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effectLst/>
                <a:latin typeface="Arial"/>
                <a:ea typeface="+mn-lt"/>
                <a:cs typeface="+mn-lt"/>
              </a:rPr>
              <a:t> million barrels per day</a:t>
            </a:r>
            <a:r>
              <a:rPr lang="en-US" sz="1600" dirty="0">
                <a:latin typeface="Arial"/>
                <a:ea typeface="+mn-lt"/>
                <a:cs typeface="+mn-lt"/>
              </a:rPr>
              <a:t> throughput</a:t>
            </a:r>
            <a:endParaRPr lang="en-US" altLang="en-US" sz="1600" dirty="0">
              <a:latin typeface="Arial"/>
              <a:cs typeface="Arial"/>
            </a:endParaRPr>
          </a:p>
          <a:p>
            <a:pPr eaLnBrk="0" fontAlgn="base" hangingPunct="0"/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Renewable Diesel: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lang="en-US" sz="1600" dirty="0">
                <a:latin typeface="Arial"/>
                <a:cs typeface="Arial"/>
              </a:rPr>
              <a:t>World’s</a:t>
            </a:r>
            <a:r>
              <a:rPr lang="en-US" sz="1600" dirty="0">
                <a:latin typeface="Arial"/>
                <a:ea typeface="+mn-lt"/>
                <a:cs typeface="+mn-lt"/>
              </a:rPr>
              <a:t> 2nd largest producer (approx. </a:t>
            </a:r>
            <a:r>
              <a:rPr lang="en-US" sz="1600" b="1" dirty="0">
                <a:latin typeface="Arial"/>
                <a:ea typeface="+mn-lt"/>
                <a:cs typeface="+mn-lt"/>
              </a:rPr>
              <a:t>1.2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effectLst/>
                <a:latin typeface="Arial"/>
                <a:ea typeface="+mn-lt"/>
                <a:cs typeface="+mn-lt"/>
              </a:rPr>
              <a:t> billion gallons</a:t>
            </a:r>
            <a:r>
              <a:rPr lang="en-US" sz="1600" b="1" dirty="0">
                <a:latin typeface="Arial"/>
                <a:ea typeface="+mn-lt"/>
                <a:cs typeface="+mn-lt"/>
              </a:rPr>
              <a:t>/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effectLst/>
                <a:latin typeface="Arial"/>
                <a:ea typeface="+mn-lt"/>
                <a:cs typeface="+mn-lt"/>
              </a:rPr>
              <a:t>year</a:t>
            </a:r>
            <a:r>
              <a:rPr lang="en-US" sz="1600" dirty="0">
                <a:latin typeface="Arial"/>
                <a:ea typeface="+mn-lt"/>
                <a:cs typeface="+mn-lt"/>
              </a:rPr>
              <a:t>) via DGD Joint Venture</a:t>
            </a:r>
          </a:p>
          <a:p>
            <a:r>
              <a:rPr lang="en-US" altLang="en-US" sz="1600" b="1" dirty="0">
                <a:latin typeface="Arial"/>
                <a:ea typeface="+mn-lt"/>
                <a:cs typeface="Arial"/>
              </a:rPr>
              <a:t>Ethanol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lang="en-US" altLang="en-US" sz="1600" dirty="0">
                <a:latin typeface="Arial"/>
                <a:cs typeface="Arial"/>
              </a:rPr>
              <a:t>1</a:t>
            </a:r>
            <a:r>
              <a:rPr lang="en-US" sz="1600" dirty="0">
                <a:latin typeface="Arial"/>
                <a:cs typeface="Arial"/>
              </a:rPr>
              <a:t>2 </a:t>
            </a:r>
            <a:r>
              <a:rPr kumimoji="0" lang="en-US" sz="160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plants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with </a:t>
            </a:r>
            <a:r>
              <a:rPr lang="en-US" sz="1600" b="1" dirty="0">
                <a:latin typeface="Arial"/>
                <a:cs typeface="Arial"/>
              </a:rPr>
              <a:t>1.7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billion gallons</a:t>
            </a:r>
            <a:r>
              <a:rPr lang="en-US" sz="1600" b="1" dirty="0">
                <a:latin typeface="Arial"/>
                <a:cs typeface="Arial"/>
              </a:rPr>
              <a:t>/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year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capacity</a:t>
            </a:r>
            <a:br>
              <a:rPr lang="en-US" sz="1600" dirty="0">
                <a:latin typeface="Arial"/>
                <a:cs typeface="Arial"/>
              </a:rPr>
            </a:br>
            <a:endParaRPr lang="en-US" sz="1600" dirty="0">
              <a:latin typeface="Arial"/>
              <a:cs typeface="Arial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sz="1600" dirty="0">
              <a:latin typeface="Arial" panose="020B0604020202020204" pitchFamily="34" charset="0"/>
              <a:cs typeface="Arial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1600" b="1" dirty="0">
                <a:latin typeface="Arial"/>
                <a:cs typeface="Arial"/>
              </a:rPr>
              <a:t>Strategic Focus:</a:t>
            </a:r>
            <a:endParaRPr lang="en-US" altLang="en-US" sz="1600" dirty="0">
              <a:latin typeface="Arial"/>
              <a:cs typeface="Arial"/>
            </a:endParaRPr>
          </a:p>
          <a:p>
            <a:pPr marL="0" lvl="0" inden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1600" dirty="0">
                <a:latin typeface="Arial"/>
                <a:cs typeface="Arial"/>
              </a:rPr>
              <a:t>Delivering reliable, affordable, and cleaner energy through operational excellence and low-carbon innovation.</a:t>
            </a:r>
            <a:endParaRPr lang="en-US" altLang="en-US" sz="1600" b="0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DB7C8D-F594-2252-7840-9A51FE2B5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7150-95CD-457F-8555-B13D96D2CBB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912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2694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>
                <a:solidFill>
                  <a:srgbClr val="000000"/>
                </a:solidFill>
                <a:latin typeface="Arial"/>
              </a:rPr>
              <a:t>Crude</a:t>
            </a:r>
            <a:r>
              <a:rPr lang="en-US" spc="-25">
                <a:solidFill>
                  <a:srgbClr val="000000"/>
                </a:solidFill>
                <a:latin typeface="Arial"/>
              </a:rPr>
              <a:t> O</a:t>
            </a:r>
            <a:r>
              <a:rPr lang="en-US">
                <a:solidFill>
                  <a:srgbClr val="000000"/>
                </a:solidFill>
                <a:latin typeface="Arial"/>
              </a:rPr>
              <a:t>il</a:t>
            </a:r>
            <a:r>
              <a:rPr lang="en-US" spc="-20">
                <a:solidFill>
                  <a:srgbClr val="000000"/>
                </a:solidFill>
                <a:latin typeface="Arial"/>
              </a:rPr>
              <a:t> C</a:t>
            </a:r>
            <a:r>
              <a:rPr lang="en-US" spc="-10">
                <a:solidFill>
                  <a:srgbClr val="000000"/>
                </a:solidFill>
                <a:latin typeface="Arial"/>
              </a:rPr>
              <a:t>haracteristics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82606" y="2084577"/>
            <a:ext cx="1560195" cy="307467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40"/>
              </a:spcBef>
            </a:pPr>
            <a:r>
              <a:rPr sz="2000" b="1" spc="-25">
                <a:solidFill>
                  <a:srgbClr val="006FC0"/>
                </a:solidFill>
                <a:latin typeface="Calibri"/>
                <a:cs typeface="Calibri"/>
              </a:rPr>
              <a:t>Heavy,</a:t>
            </a:r>
            <a:r>
              <a:rPr sz="2000" b="1" spc="-6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spc="-20">
                <a:solidFill>
                  <a:srgbClr val="006FC0"/>
                </a:solidFill>
                <a:latin typeface="Calibri"/>
                <a:cs typeface="Calibri"/>
              </a:rPr>
              <a:t>sour</a:t>
            </a:r>
            <a:r>
              <a:rPr sz="2000" spc="-20">
                <a:solidFill>
                  <a:srgbClr val="006FC0"/>
                </a:solidFill>
                <a:latin typeface="Calibri"/>
                <a:cs typeface="Calibri"/>
              </a:rPr>
              <a:t>, </a:t>
            </a:r>
            <a:r>
              <a:rPr sz="2000" b="1">
                <a:solidFill>
                  <a:srgbClr val="006FC0"/>
                </a:solidFill>
                <a:latin typeface="Calibri"/>
                <a:cs typeface="Calibri"/>
              </a:rPr>
              <a:t>high</a:t>
            </a:r>
            <a:r>
              <a:rPr sz="2000" b="1" spc="-1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spc="-20">
                <a:solidFill>
                  <a:srgbClr val="006FC0"/>
                </a:solidFill>
                <a:latin typeface="Calibri"/>
                <a:cs typeface="Calibri"/>
              </a:rPr>
              <a:t>acid </a:t>
            </a:r>
            <a:r>
              <a:rPr sz="2000" b="1">
                <a:solidFill>
                  <a:srgbClr val="006FC0"/>
                </a:solidFill>
                <a:latin typeface="Calibri"/>
                <a:cs typeface="Calibri"/>
              </a:rPr>
              <a:t>crude</a:t>
            </a:r>
            <a:r>
              <a:rPr sz="2000" b="1" spc="-3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>
                <a:solidFill>
                  <a:srgbClr val="006FC0"/>
                </a:solidFill>
                <a:latin typeface="Calibri"/>
                <a:cs typeface="Calibri"/>
              </a:rPr>
              <a:t>oils</a:t>
            </a:r>
            <a:r>
              <a:rPr sz="2000" b="1" spc="-2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spc="-25">
                <a:solidFill>
                  <a:srgbClr val="404040"/>
                </a:solidFill>
                <a:latin typeface="Calibri"/>
                <a:cs typeface="Calibri"/>
              </a:rPr>
              <a:t>are </a:t>
            </a:r>
            <a:r>
              <a:rPr sz="2000">
                <a:solidFill>
                  <a:srgbClr val="404040"/>
                </a:solidFill>
                <a:latin typeface="Calibri"/>
                <a:cs typeface="Calibri"/>
              </a:rPr>
              <a:t>more</a:t>
            </a:r>
            <a:r>
              <a:rPr sz="20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>
                <a:solidFill>
                  <a:srgbClr val="404040"/>
                </a:solidFill>
                <a:latin typeface="Calibri"/>
                <a:cs typeface="Calibri"/>
              </a:rPr>
              <a:t>difficult </a:t>
            </a:r>
            <a:r>
              <a:rPr sz="20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404040"/>
                </a:solidFill>
                <a:latin typeface="Calibri"/>
                <a:cs typeface="Calibri"/>
              </a:rPr>
              <a:t>process,</a:t>
            </a:r>
            <a:r>
              <a:rPr sz="20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>
                <a:solidFill>
                  <a:srgbClr val="404040"/>
                </a:solidFill>
                <a:latin typeface="Calibri"/>
                <a:cs typeface="Calibri"/>
              </a:rPr>
              <a:t>but </a:t>
            </a:r>
            <a:r>
              <a:rPr sz="2000" b="1">
                <a:solidFill>
                  <a:srgbClr val="006FC0"/>
                </a:solidFill>
                <a:latin typeface="Calibri"/>
                <a:cs typeface="Calibri"/>
              </a:rPr>
              <a:t>trade</a:t>
            </a:r>
            <a:r>
              <a:rPr sz="2000" b="1" spc="-7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>
                <a:solidFill>
                  <a:srgbClr val="006FC0"/>
                </a:solidFill>
                <a:latin typeface="Calibri"/>
                <a:cs typeface="Calibri"/>
              </a:rPr>
              <a:t>at</a:t>
            </a:r>
            <a:r>
              <a:rPr sz="2000" b="1" spc="-7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spc="-50">
                <a:solidFill>
                  <a:srgbClr val="006FC0"/>
                </a:solidFill>
                <a:latin typeface="Calibri"/>
                <a:cs typeface="Calibri"/>
              </a:rPr>
              <a:t>a </a:t>
            </a:r>
            <a:r>
              <a:rPr sz="2000" b="1" spc="-10">
                <a:solidFill>
                  <a:srgbClr val="006FC0"/>
                </a:solidFill>
                <a:latin typeface="Calibri"/>
                <a:cs typeface="Calibri"/>
              </a:rPr>
              <a:t>discount </a:t>
            </a:r>
            <a:r>
              <a:rPr sz="2000">
                <a:solidFill>
                  <a:srgbClr val="404040"/>
                </a:solidFill>
                <a:latin typeface="Calibri"/>
                <a:cs typeface="Calibri"/>
              </a:rPr>
              <a:t>relative</a:t>
            </a:r>
            <a:r>
              <a:rPr sz="20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>
                <a:solidFill>
                  <a:srgbClr val="404040"/>
                </a:solidFill>
                <a:latin typeface="Calibri"/>
                <a:cs typeface="Calibri"/>
              </a:rPr>
              <a:t>to </a:t>
            </a:r>
            <a:r>
              <a:rPr sz="2000">
                <a:solidFill>
                  <a:srgbClr val="404040"/>
                </a:solidFill>
                <a:latin typeface="Calibri"/>
                <a:cs typeface="Calibri"/>
              </a:rPr>
              <a:t>light,</a:t>
            </a:r>
            <a:r>
              <a:rPr sz="20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>
                <a:solidFill>
                  <a:srgbClr val="404040"/>
                </a:solidFill>
                <a:latin typeface="Calibri"/>
                <a:cs typeface="Calibri"/>
              </a:rPr>
              <a:t>sweet, </a:t>
            </a:r>
            <a:r>
              <a:rPr sz="2000">
                <a:solidFill>
                  <a:srgbClr val="404040"/>
                </a:solidFill>
                <a:latin typeface="Calibri"/>
                <a:cs typeface="Calibri"/>
              </a:rPr>
              <a:t>low</a:t>
            </a:r>
            <a:r>
              <a:rPr sz="20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>
                <a:solidFill>
                  <a:srgbClr val="404040"/>
                </a:solidFill>
                <a:latin typeface="Calibri"/>
                <a:cs typeface="Calibri"/>
              </a:rPr>
              <a:t>acid </a:t>
            </a:r>
            <a:r>
              <a:rPr sz="2000">
                <a:solidFill>
                  <a:srgbClr val="404040"/>
                </a:solidFill>
                <a:latin typeface="Calibri"/>
                <a:cs typeface="Calibri"/>
              </a:rPr>
              <a:t>crudes</a:t>
            </a:r>
            <a:r>
              <a:rPr sz="20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>
                <a:solidFill>
                  <a:srgbClr val="404040"/>
                </a:solidFill>
                <a:latin typeface="Calibri"/>
                <a:cs typeface="Calibri"/>
              </a:rPr>
              <a:t>oils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60591" y="1655064"/>
            <a:ext cx="2947416" cy="327355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42366" y="1768227"/>
            <a:ext cx="5773420" cy="4074833"/>
          </a:xfrm>
          <a:prstGeom prst="rect">
            <a:avLst/>
          </a:prstGeom>
        </p:spPr>
        <p:txBody>
          <a:bodyPr vert="horz" wrap="square" lIns="0" tIns="60325" rIns="0" bIns="0" rtlCol="0" anchor="t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75"/>
              </a:spcBef>
              <a:buClr>
                <a:srgbClr val="005884"/>
              </a:buClr>
              <a:buFont typeface="Arial"/>
              <a:buChar char="•"/>
              <a:tabLst>
                <a:tab pos="240665" algn="l"/>
              </a:tabLst>
            </a:pP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Crude</a:t>
            </a:r>
            <a:r>
              <a:rPr sz="1600" spc="-35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oils</a:t>
            </a:r>
            <a:r>
              <a:rPr sz="1600" spc="-35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are</a:t>
            </a:r>
            <a:r>
              <a:rPr sz="1600" spc="-45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blends</a:t>
            </a:r>
            <a:r>
              <a:rPr sz="1600" spc="-35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of</a:t>
            </a:r>
            <a:r>
              <a:rPr sz="1600" spc="-50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 spc="-10">
                <a:solidFill>
                  <a:srgbClr val="404040"/>
                </a:solidFill>
                <a:latin typeface="Arial"/>
                <a:cs typeface="Calibri"/>
              </a:rPr>
              <a:t>hydrocarbon</a:t>
            </a:r>
            <a:r>
              <a:rPr sz="1600" spc="-40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 spc="-10">
                <a:solidFill>
                  <a:srgbClr val="404040"/>
                </a:solidFill>
                <a:latin typeface="Arial"/>
                <a:cs typeface="Calibri"/>
              </a:rPr>
              <a:t>molecules</a:t>
            </a:r>
            <a:endParaRPr sz="1600">
              <a:latin typeface="Arial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335"/>
              </a:spcBef>
              <a:buClr>
                <a:srgbClr val="005884"/>
              </a:buClr>
              <a:buSzPct val="75000"/>
              <a:buFont typeface="Courier New"/>
              <a:buChar char="o"/>
              <a:tabLst>
                <a:tab pos="697865" algn="l"/>
              </a:tabLst>
            </a:pP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Classified</a:t>
            </a:r>
            <a:r>
              <a:rPr sz="1600" spc="-65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and</a:t>
            </a:r>
            <a:r>
              <a:rPr sz="1600" spc="-25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priced</a:t>
            </a:r>
            <a:r>
              <a:rPr sz="1600" spc="-20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by</a:t>
            </a:r>
            <a:r>
              <a:rPr sz="1600" spc="-30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 spc="-20">
                <a:solidFill>
                  <a:srgbClr val="404040"/>
                </a:solidFill>
                <a:latin typeface="Arial"/>
                <a:cs typeface="Calibri"/>
              </a:rPr>
              <a:t>density,</a:t>
            </a:r>
            <a:r>
              <a:rPr sz="1600" spc="-30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sulfur</a:t>
            </a:r>
            <a:r>
              <a:rPr sz="1600" spc="-25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 spc="-10">
                <a:solidFill>
                  <a:srgbClr val="404040"/>
                </a:solidFill>
                <a:latin typeface="Arial"/>
                <a:cs typeface="Calibri"/>
              </a:rPr>
              <a:t>content</a:t>
            </a:r>
            <a:r>
              <a:rPr sz="1600" spc="-25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and</a:t>
            </a:r>
            <a:r>
              <a:rPr sz="1600" spc="-40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 spc="-10">
                <a:solidFill>
                  <a:srgbClr val="404040"/>
                </a:solidFill>
                <a:latin typeface="Arial"/>
                <a:cs typeface="Calibri"/>
              </a:rPr>
              <a:t>acidity</a:t>
            </a:r>
            <a:endParaRPr sz="1600">
              <a:latin typeface="Arial"/>
              <a:cs typeface="Calibri"/>
            </a:endParaRPr>
          </a:p>
          <a:p>
            <a:pPr marL="241300" marR="1346835" indent="-228600">
              <a:lnSpc>
                <a:spcPts val="1939"/>
              </a:lnSpc>
              <a:spcBef>
                <a:spcPts val="1010"/>
              </a:spcBef>
              <a:buClr>
                <a:srgbClr val="005884"/>
              </a:buClr>
              <a:buFont typeface="Arial"/>
              <a:buChar char="•"/>
              <a:tabLst>
                <a:tab pos="241300" algn="l"/>
              </a:tabLst>
            </a:pPr>
            <a:r>
              <a:rPr sz="1600" b="1">
                <a:solidFill>
                  <a:srgbClr val="404040"/>
                </a:solidFill>
                <a:latin typeface="Arial"/>
                <a:cs typeface="Calibri"/>
              </a:rPr>
              <a:t>Density</a:t>
            </a:r>
            <a:r>
              <a:rPr sz="1600" b="1" spc="-70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is</a:t>
            </a:r>
            <a:r>
              <a:rPr sz="1600" spc="-40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commonly</a:t>
            </a:r>
            <a:r>
              <a:rPr sz="1600" spc="-30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measured</a:t>
            </a:r>
            <a:r>
              <a:rPr sz="1600" spc="-40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in</a:t>
            </a:r>
            <a:r>
              <a:rPr sz="1600" spc="-35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API</a:t>
            </a:r>
            <a:r>
              <a:rPr sz="1600" spc="-50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 spc="-10">
                <a:solidFill>
                  <a:srgbClr val="404040"/>
                </a:solidFill>
                <a:latin typeface="Arial"/>
                <a:cs typeface="Calibri"/>
              </a:rPr>
              <a:t>gravity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(relative</a:t>
            </a:r>
            <a:r>
              <a:rPr sz="1600" spc="-30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density</a:t>
            </a:r>
            <a:r>
              <a:rPr sz="1600" spc="-45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of</a:t>
            </a:r>
            <a:r>
              <a:rPr sz="1600" spc="-45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crude</a:t>
            </a:r>
            <a:r>
              <a:rPr sz="1600" spc="-20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oil</a:t>
            </a:r>
            <a:r>
              <a:rPr sz="1600" spc="-40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to</a:t>
            </a:r>
            <a:r>
              <a:rPr sz="1600" spc="-45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 spc="-10">
                <a:solidFill>
                  <a:srgbClr val="404040"/>
                </a:solidFill>
                <a:latin typeface="Arial"/>
                <a:cs typeface="Calibri"/>
              </a:rPr>
              <a:t>water)</a:t>
            </a:r>
            <a:endParaRPr sz="1600">
              <a:latin typeface="Arial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309"/>
              </a:spcBef>
              <a:buClr>
                <a:srgbClr val="005884"/>
              </a:buClr>
              <a:buSzPct val="75000"/>
              <a:buFont typeface="Courier New"/>
              <a:buChar char="o"/>
              <a:tabLst>
                <a:tab pos="697865" algn="l"/>
              </a:tabLst>
            </a:pP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API</a:t>
            </a:r>
            <a:r>
              <a:rPr sz="1600" spc="-30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&gt;</a:t>
            </a:r>
            <a:r>
              <a:rPr sz="1600" spc="-20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10:</a:t>
            </a:r>
            <a:r>
              <a:rPr sz="1600" spc="-10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 spc="-20">
                <a:solidFill>
                  <a:srgbClr val="404040"/>
                </a:solidFill>
                <a:latin typeface="Arial"/>
                <a:cs typeface="Calibri"/>
              </a:rPr>
              <a:t>lighter,</a:t>
            </a:r>
            <a:r>
              <a:rPr sz="1600" spc="-40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floats</a:t>
            </a:r>
            <a:r>
              <a:rPr sz="1600" spc="-35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on</a:t>
            </a:r>
            <a:r>
              <a:rPr sz="1600" spc="-15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 spc="-20">
                <a:solidFill>
                  <a:srgbClr val="404040"/>
                </a:solidFill>
                <a:latin typeface="Arial"/>
                <a:cs typeface="Calibri"/>
              </a:rPr>
              <a:t>water</a:t>
            </a:r>
            <a:endParaRPr sz="1600">
              <a:latin typeface="Arial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300"/>
              </a:spcBef>
              <a:buClr>
                <a:srgbClr val="005884"/>
              </a:buClr>
              <a:buSzPct val="75000"/>
              <a:buFont typeface="Courier New"/>
              <a:buChar char="o"/>
              <a:tabLst>
                <a:tab pos="697865" algn="l"/>
              </a:tabLst>
            </a:pP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API</a:t>
            </a:r>
            <a:r>
              <a:rPr sz="1600" spc="-25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&lt;</a:t>
            </a:r>
            <a:r>
              <a:rPr sz="1600" spc="-10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10:</a:t>
            </a:r>
            <a:r>
              <a:rPr sz="1600" spc="-5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 spc="-25">
                <a:solidFill>
                  <a:srgbClr val="404040"/>
                </a:solidFill>
                <a:latin typeface="Arial"/>
                <a:cs typeface="Calibri"/>
              </a:rPr>
              <a:t>heavier,</a:t>
            </a:r>
            <a:r>
              <a:rPr sz="1600" spc="-10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sinks</a:t>
            </a:r>
            <a:r>
              <a:rPr sz="1600" spc="-20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in</a:t>
            </a:r>
            <a:r>
              <a:rPr sz="1600" spc="-25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 spc="-20">
                <a:solidFill>
                  <a:srgbClr val="404040"/>
                </a:solidFill>
                <a:latin typeface="Arial"/>
                <a:cs typeface="Calibri"/>
              </a:rPr>
              <a:t>water</a:t>
            </a:r>
            <a:endParaRPr sz="1600">
              <a:latin typeface="Arial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70"/>
              </a:spcBef>
              <a:buClr>
                <a:srgbClr val="005884"/>
              </a:buClr>
              <a:buFont typeface="Arial"/>
              <a:buChar char="•"/>
              <a:tabLst>
                <a:tab pos="240665" algn="l"/>
              </a:tabLst>
            </a:pPr>
            <a:r>
              <a:rPr sz="1600" b="1">
                <a:solidFill>
                  <a:srgbClr val="404040"/>
                </a:solidFill>
                <a:latin typeface="Arial"/>
                <a:cs typeface="Calibri"/>
              </a:rPr>
              <a:t>Sulfur</a:t>
            </a:r>
            <a:r>
              <a:rPr sz="1600" b="1" spc="-60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 spc="-10">
                <a:solidFill>
                  <a:srgbClr val="404040"/>
                </a:solidFill>
                <a:latin typeface="Arial"/>
                <a:cs typeface="Calibri"/>
              </a:rPr>
              <a:t>content</a:t>
            </a:r>
            <a:r>
              <a:rPr sz="1600" spc="-40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is</a:t>
            </a:r>
            <a:r>
              <a:rPr sz="1600" spc="-50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measured</a:t>
            </a:r>
            <a:r>
              <a:rPr sz="1600" spc="-50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in</a:t>
            </a:r>
            <a:r>
              <a:rPr sz="1600" spc="-35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weight</a:t>
            </a:r>
            <a:r>
              <a:rPr sz="1600" spc="-50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 spc="-10">
                <a:solidFill>
                  <a:srgbClr val="404040"/>
                </a:solidFill>
                <a:latin typeface="Arial"/>
                <a:cs typeface="Calibri"/>
              </a:rPr>
              <a:t>percent</a:t>
            </a:r>
            <a:endParaRPr sz="1600">
              <a:latin typeface="Arial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320"/>
              </a:spcBef>
              <a:buClr>
                <a:srgbClr val="005884"/>
              </a:buClr>
              <a:buSzPct val="75000"/>
              <a:buFont typeface="Courier New"/>
              <a:buChar char="o"/>
              <a:tabLst>
                <a:tab pos="697865" algn="l"/>
              </a:tabLst>
            </a:pP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Less</a:t>
            </a:r>
            <a:r>
              <a:rPr sz="1600" spc="-25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than</a:t>
            </a:r>
            <a:r>
              <a:rPr sz="1600" spc="-40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0.7%</a:t>
            </a:r>
            <a:r>
              <a:rPr sz="1600" spc="-5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sulfur</a:t>
            </a:r>
            <a:r>
              <a:rPr sz="1600" spc="-35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 spc="-10">
                <a:solidFill>
                  <a:srgbClr val="404040"/>
                </a:solidFill>
                <a:latin typeface="Arial"/>
                <a:cs typeface="Calibri"/>
              </a:rPr>
              <a:t>content</a:t>
            </a:r>
            <a:r>
              <a:rPr sz="1600" spc="-25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=</a:t>
            </a:r>
            <a:r>
              <a:rPr sz="1600" spc="-20">
                <a:solidFill>
                  <a:srgbClr val="404040"/>
                </a:solidFill>
                <a:latin typeface="Arial"/>
                <a:cs typeface="Calibri"/>
              </a:rPr>
              <a:t> sweet</a:t>
            </a:r>
            <a:endParaRPr sz="1600">
              <a:latin typeface="Arial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315"/>
              </a:spcBef>
              <a:buClr>
                <a:srgbClr val="005884"/>
              </a:buClr>
              <a:buSzPct val="75000"/>
              <a:buFont typeface="Courier New"/>
              <a:buChar char="o"/>
              <a:tabLst>
                <a:tab pos="697865" algn="l"/>
              </a:tabLst>
            </a:pP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Greater</a:t>
            </a:r>
            <a:r>
              <a:rPr sz="1600" spc="-15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than</a:t>
            </a:r>
            <a:r>
              <a:rPr sz="1600" spc="-50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0.7%</a:t>
            </a:r>
            <a:r>
              <a:rPr sz="1600" spc="-35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sulfur</a:t>
            </a:r>
            <a:r>
              <a:rPr sz="1600" spc="-40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 spc="-10">
                <a:solidFill>
                  <a:srgbClr val="404040"/>
                </a:solidFill>
                <a:latin typeface="Arial"/>
                <a:cs typeface="Calibri"/>
              </a:rPr>
              <a:t>content</a:t>
            </a:r>
            <a:r>
              <a:rPr sz="1600" spc="-35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=</a:t>
            </a:r>
            <a:r>
              <a:rPr sz="1600" spc="-35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 spc="-20">
                <a:solidFill>
                  <a:srgbClr val="404040"/>
                </a:solidFill>
                <a:latin typeface="Arial"/>
                <a:cs typeface="Calibri"/>
              </a:rPr>
              <a:t>sour</a:t>
            </a:r>
            <a:endParaRPr sz="1600">
              <a:latin typeface="Arial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70"/>
              </a:spcBef>
              <a:buClr>
                <a:srgbClr val="005884"/>
              </a:buClr>
              <a:buFont typeface="Arial"/>
              <a:buChar char="•"/>
              <a:tabLst>
                <a:tab pos="240665" algn="l"/>
              </a:tabLst>
            </a:pPr>
            <a:r>
              <a:rPr sz="1600" b="1">
                <a:solidFill>
                  <a:srgbClr val="404040"/>
                </a:solidFill>
                <a:latin typeface="Arial"/>
                <a:cs typeface="Calibri"/>
              </a:rPr>
              <a:t>Acidity</a:t>
            </a:r>
            <a:r>
              <a:rPr sz="1600" b="1" spc="-55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is</a:t>
            </a:r>
            <a:r>
              <a:rPr sz="1600" spc="-25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 spc="-10">
                <a:solidFill>
                  <a:srgbClr val="404040"/>
                </a:solidFill>
                <a:latin typeface="Arial"/>
                <a:cs typeface="Calibri"/>
              </a:rPr>
              <a:t>measured</a:t>
            </a:r>
            <a:r>
              <a:rPr sz="1600" spc="-35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by</a:t>
            </a:r>
            <a:r>
              <a:rPr sz="1600" spc="-20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 spc="-25">
                <a:solidFill>
                  <a:srgbClr val="404040"/>
                </a:solidFill>
                <a:latin typeface="Arial"/>
                <a:cs typeface="Calibri"/>
              </a:rPr>
              <a:t>Total</a:t>
            </a:r>
            <a:r>
              <a:rPr sz="1600" spc="-20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Acid</a:t>
            </a:r>
            <a:r>
              <a:rPr sz="1600" spc="-35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Number</a:t>
            </a:r>
            <a:r>
              <a:rPr sz="1600" spc="-20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 spc="-10">
                <a:solidFill>
                  <a:srgbClr val="404040"/>
                </a:solidFill>
                <a:latin typeface="Arial"/>
                <a:cs typeface="Calibri"/>
              </a:rPr>
              <a:t>(TAN)</a:t>
            </a:r>
            <a:endParaRPr sz="1600">
              <a:latin typeface="Arial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320"/>
              </a:spcBef>
              <a:buClr>
                <a:srgbClr val="005884"/>
              </a:buClr>
              <a:buSzPct val="75000"/>
              <a:buFont typeface="Courier New"/>
              <a:buChar char="o"/>
              <a:tabLst>
                <a:tab pos="697865" algn="l"/>
              </a:tabLst>
            </a:pP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High</a:t>
            </a:r>
            <a:r>
              <a:rPr sz="1600" spc="-45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acid</a:t>
            </a:r>
            <a:r>
              <a:rPr sz="1600" spc="-50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crudes</a:t>
            </a:r>
            <a:r>
              <a:rPr sz="1600" spc="-20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are</a:t>
            </a:r>
            <a:r>
              <a:rPr sz="1600" spc="-30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those</a:t>
            </a:r>
            <a:r>
              <a:rPr sz="1600" spc="-20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with</a:t>
            </a:r>
            <a:r>
              <a:rPr sz="1600" spc="-50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 spc="-35">
                <a:solidFill>
                  <a:srgbClr val="404040"/>
                </a:solidFill>
                <a:latin typeface="Arial"/>
                <a:cs typeface="Calibri"/>
              </a:rPr>
              <a:t>TAN</a:t>
            </a:r>
            <a:r>
              <a:rPr sz="1600" spc="-40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greater</a:t>
            </a:r>
            <a:r>
              <a:rPr sz="1600" spc="-25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than</a:t>
            </a:r>
            <a:r>
              <a:rPr sz="1600" spc="-50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 spc="-25">
                <a:solidFill>
                  <a:srgbClr val="404040"/>
                </a:solidFill>
                <a:latin typeface="Arial"/>
                <a:cs typeface="Calibri"/>
              </a:rPr>
              <a:t>0.7</a:t>
            </a:r>
            <a:endParaRPr sz="1600">
              <a:latin typeface="Arial"/>
              <a:cs typeface="Calibri"/>
            </a:endParaRPr>
          </a:p>
          <a:p>
            <a:pPr marL="697865" marR="5080" lvl="1" indent="-228600">
              <a:lnSpc>
                <a:spcPts val="1730"/>
              </a:lnSpc>
              <a:spcBef>
                <a:spcPts val="530"/>
              </a:spcBef>
              <a:buClr>
                <a:srgbClr val="005884"/>
              </a:buClr>
              <a:buSzPct val="75000"/>
              <a:buFont typeface="Courier New"/>
              <a:buChar char="o"/>
              <a:tabLst>
                <a:tab pos="697865" algn="l"/>
              </a:tabLst>
            </a:pP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Acidic</a:t>
            </a:r>
            <a:r>
              <a:rPr sz="1600" spc="-65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crudes</a:t>
            </a:r>
            <a:r>
              <a:rPr sz="1600" spc="-25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are</a:t>
            </a:r>
            <a:r>
              <a:rPr sz="1600" spc="-40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 spc="-10">
                <a:solidFill>
                  <a:srgbClr val="404040"/>
                </a:solidFill>
                <a:latin typeface="Arial"/>
                <a:cs typeface="Calibri"/>
              </a:rPr>
              <a:t>corrosive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to</a:t>
            </a:r>
            <a:r>
              <a:rPr sz="1600" spc="-45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refinery</a:t>
            </a:r>
            <a:r>
              <a:rPr sz="1600" spc="-25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equipment</a:t>
            </a:r>
            <a:r>
              <a:rPr sz="1600" spc="-55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and</a:t>
            </a:r>
            <a:r>
              <a:rPr sz="1600" spc="-50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 spc="-10">
                <a:solidFill>
                  <a:srgbClr val="404040"/>
                </a:solidFill>
                <a:latin typeface="Arial"/>
                <a:cs typeface="Calibri"/>
              </a:rPr>
              <a:t>require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greater</a:t>
            </a:r>
            <a:r>
              <a:rPr sz="1600" spc="-55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 spc="-10">
                <a:solidFill>
                  <a:srgbClr val="404040"/>
                </a:solidFill>
                <a:latin typeface="Arial"/>
                <a:cs typeface="Calibri"/>
              </a:rPr>
              <a:t>investment</a:t>
            </a:r>
            <a:r>
              <a:rPr sz="1600" spc="-75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to</a:t>
            </a:r>
            <a:r>
              <a:rPr sz="1600" spc="-55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process</a:t>
            </a:r>
            <a:r>
              <a:rPr sz="1600" spc="-45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>
                <a:solidFill>
                  <a:srgbClr val="404040"/>
                </a:solidFill>
                <a:latin typeface="Arial"/>
                <a:cs typeface="Calibri"/>
              </a:rPr>
              <a:t>significant</a:t>
            </a:r>
            <a:r>
              <a:rPr sz="1600" spc="-95">
                <a:solidFill>
                  <a:srgbClr val="404040"/>
                </a:solidFill>
                <a:latin typeface="Arial"/>
                <a:cs typeface="Calibri"/>
              </a:rPr>
              <a:t> </a:t>
            </a:r>
            <a:r>
              <a:rPr sz="1600" spc="-10">
                <a:solidFill>
                  <a:srgbClr val="404040"/>
                </a:solidFill>
                <a:latin typeface="Arial"/>
                <a:cs typeface="Calibri"/>
              </a:rPr>
              <a:t>volumes</a:t>
            </a:r>
            <a:endParaRPr sz="1600">
              <a:latin typeface="Arial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>
                <a:solidFill>
                  <a:srgbClr val="006FAB"/>
                </a:solidFill>
              </a:rPr>
              <a:t>3</a:t>
            </a:fld>
            <a:endParaRPr spc="-50">
              <a:solidFill>
                <a:srgbClr val="006FAB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2694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>
                <a:solidFill>
                  <a:srgbClr val="000000"/>
                </a:solidFill>
                <a:latin typeface="Arial"/>
              </a:rPr>
              <a:t>Crude</a:t>
            </a:r>
            <a:r>
              <a:rPr lang="en-US" spc="-35">
                <a:solidFill>
                  <a:srgbClr val="000000"/>
                </a:solidFill>
                <a:latin typeface="Arial"/>
              </a:rPr>
              <a:t> O</a:t>
            </a:r>
            <a:r>
              <a:rPr lang="en-US">
                <a:solidFill>
                  <a:srgbClr val="000000"/>
                </a:solidFill>
                <a:latin typeface="Arial"/>
              </a:rPr>
              <a:t>il</a:t>
            </a:r>
            <a:r>
              <a:rPr lang="en-US" spc="-25">
                <a:solidFill>
                  <a:srgbClr val="000000"/>
                </a:solidFill>
                <a:latin typeface="Arial"/>
              </a:rPr>
              <a:t> R</a:t>
            </a:r>
            <a:r>
              <a:rPr lang="en-US">
                <a:solidFill>
                  <a:srgbClr val="000000"/>
                </a:solidFill>
                <a:latin typeface="Arial"/>
              </a:rPr>
              <a:t>eserves</a:t>
            </a:r>
            <a:r>
              <a:rPr lang="en-US" spc="-25">
                <a:solidFill>
                  <a:srgbClr val="000000"/>
                </a:solidFill>
                <a:latin typeface="Arial"/>
              </a:rPr>
              <a:t> </a:t>
            </a:r>
            <a:r>
              <a:rPr lang="en-US">
                <a:solidFill>
                  <a:srgbClr val="000000"/>
                </a:solidFill>
                <a:latin typeface="Arial"/>
              </a:rPr>
              <a:t>and</a:t>
            </a:r>
            <a:r>
              <a:rPr lang="en-US" spc="-45">
                <a:solidFill>
                  <a:srgbClr val="000000"/>
                </a:solidFill>
                <a:latin typeface="Arial"/>
              </a:rPr>
              <a:t> Q</a:t>
            </a:r>
            <a:r>
              <a:rPr lang="en-US" spc="-10">
                <a:solidFill>
                  <a:srgbClr val="000000"/>
                </a:solidFill>
                <a:latin typeface="Arial"/>
              </a:rPr>
              <a:t>uality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82606" y="2084577"/>
            <a:ext cx="1567180" cy="115443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40"/>
              </a:spcBef>
            </a:pPr>
            <a:r>
              <a:rPr sz="2000">
                <a:solidFill>
                  <a:srgbClr val="585858"/>
                </a:solidFill>
                <a:latin typeface="Calibri"/>
                <a:cs typeface="Calibri"/>
              </a:rPr>
              <a:t>Majority</a:t>
            </a:r>
            <a:r>
              <a:rPr sz="2000" spc="-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000" spc="-25">
                <a:solidFill>
                  <a:srgbClr val="585858"/>
                </a:solidFill>
                <a:latin typeface="Calibri"/>
                <a:cs typeface="Calibri"/>
              </a:rPr>
              <a:t>of </a:t>
            </a:r>
            <a:r>
              <a:rPr sz="2000" spc="-10">
                <a:solidFill>
                  <a:srgbClr val="585858"/>
                </a:solidFill>
                <a:latin typeface="Calibri"/>
                <a:cs typeface="Calibri"/>
              </a:rPr>
              <a:t>global</a:t>
            </a:r>
            <a:r>
              <a:rPr sz="2000" spc="50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000" spc="-10">
                <a:solidFill>
                  <a:srgbClr val="585858"/>
                </a:solidFill>
                <a:latin typeface="Calibri"/>
                <a:cs typeface="Calibri"/>
              </a:rPr>
              <a:t>reserves</a:t>
            </a:r>
            <a:r>
              <a:rPr sz="20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000" spc="-25">
                <a:solidFill>
                  <a:srgbClr val="585858"/>
                </a:solidFill>
                <a:latin typeface="Calibri"/>
                <a:cs typeface="Calibri"/>
              </a:rPr>
              <a:t>are </a:t>
            </a:r>
            <a:r>
              <a:rPr sz="2000" b="1">
                <a:solidFill>
                  <a:srgbClr val="006FAB"/>
                </a:solidFill>
                <a:latin typeface="Calibri"/>
                <a:cs typeface="Calibri"/>
              </a:rPr>
              <a:t>sour</a:t>
            </a:r>
            <a:r>
              <a:rPr sz="2000" b="1" spc="-20">
                <a:solidFill>
                  <a:srgbClr val="006FAB"/>
                </a:solidFill>
                <a:latin typeface="Calibri"/>
                <a:cs typeface="Calibri"/>
              </a:rPr>
              <a:t> </a:t>
            </a:r>
            <a:r>
              <a:rPr sz="2000" b="1">
                <a:solidFill>
                  <a:srgbClr val="006FAB"/>
                </a:solidFill>
                <a:latin typeface="Calibri"/>
                <a:cs typeface="Calibri"/>
              </a:rPr>
              <a:t>crude</a:t>
            </a:r>
            <a:r>
              <a:rPr sz="2000" b="1" spc="-20">
                <a:solidFill>
                  <a:srgbClr val="006FAB"/>
                </a:solidFill>
                <a:latin typeface="Calibri"/>
                <a:cs typeface="Calibri"/>
              </a:rPr>
              <a:t> oils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82606" y="4112133"/>
            <a:ext cx="1532890" cy="170307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40"/>
              </a:spcBef>
            </a:pPr>
            <a:r>
              <a:rPr sz="2000" b="1">
                <a:solidFill>
                  <a:srgbClr val="006FAB"/>
                </a:solidFill>
                <a:latin typeface="Calibri"/>
                <a:cs typeface="Calibri"/>
              </a:rPr>
              <a:t>WTI</a:t>
            </a:r>
            <a:r>
              <a:rPr sz="2000" b="1" spc="-25">
                <a:solidFill>
                  <a:srgbClr val="006FAB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585858"/>
                </a:solidFill>
                <a:latin typeface="Calibri"/>
                <a:cs typeface="Calibri"/>
              </a:rPr>
              <a:t>and</a:t>
            </a:r>
            <a:r>
              <a:rPr sz="20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000" b="1" spc="-20">
                <a:solidFill>
                  <a:srgbClr val="006FAB"/>
                </a:solidFill>
                <a:latin typeface="Calibri"/>
                <a:cs typeface="Calibri"/>
              </a:rPr>
              <a:t>Brent </a:t>
            </a:r>
            <a:r>
              <a:rPr sz="2000">
                <a:solidFill>
                  <a:srgbClr val="585858"/>
                </a:solidFill>
                <a:latin typeface="Calibri"/>
                <a:cs typeface="Calibri"/>
              </a:rPr>
              <a:t>are</a:t>
            </a:r>
            <a:r>
              <a:rPr sz="2000" spc="-6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000" spc="-25">
                <a:solidFill>
                  <a:srgbClr val="585858"/>
                </a:solidFill>
                <a:latin typeface="Calibri"/>
                <a:cs typeface="Calibri"/>
              </a:rPr>
              <a:t>the </a:t>
            </a:r>
            <a:r>
              <a:rPr sz="2000">
                <a:solidFill>
                  <a:srgbClr val="585858"/>
                </a:solidFill>
                <a:latin typeface="Calibri"/>
                <a:cs typeface="Calibri"/>
              </a:rPr>
              <a:t>primary</a:t>
            </a:r>
            <a:r>
              <a:rPr sz="2000" spc="-5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000" spc="-20">
                <a:solidFill>
                  <a:srgbClr val="585858"/>
                </a:solidFill>
                <a:latin typeface="Calibri"/>
                <a:cs typeface="Calibri"/>
              </a:rPr>
              <a:t>light </a:t>
            </a:r>
            <a:r>
              <a:rPr sz="2000">
                <a:solidFill>
                  <a:srgbClr val="585858"/>
                </a:solidFill>
                <a:latin typeface="Calibri"/>
                <a:cs typeface="Calibri"/>
              </a:rPr>
              <a:t>sweet</a:t>
            </a:r>
            <a:r>
              <a:rPr sz="2000" spc="-8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000" spc="-20">
                <a:solidFill>
                  <a:srgbClr val="585858"/>
                </a:solidFill>
                <a:latin typeface="Calibri"/>
                <a:cs typeface="Calibri"/>
              </a:rPr>
              <a:t>crude </a:t>
            </a:r>
            <a:r>
              <a:rPr sz="2000">
                <a:solidFill>
                  <a:srgbClr val="585858"/>
                </a:solidFill>
                <a:latin typeface="Calibri"/>
                <a:cs typeface="Calibri"/>
              </a:rPr>
              <a:t>oil</a:t>
            </a:r>
            <a:r>
              <a:rPr sz="20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000" b="1" spc="-10">
                <a:solidFill>
                  <a:srgbClr val="006FAB"/>
                </a:solidFill>
                <a:latin typeface="Calibri"/>
                <a:cs typeface="Calibri"/>
              </a:rPr>
              <a:t>pricing benchmarks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12105" y="2344673"/>
            <a:ext cx="119380" cy="3037840"/>
          </a:xfrm>
          <a:custGeom>
            <a:avLst/>
            <a:gdLst/>
            <a:ahLst/>
            <a:cxnLst/>
            <a:rect l="l" t="t" r="r" b="b"/>
            <a:pathLst>
              <a:path w="119379" h="3037840">
                <a:moveTo>
                  <a:pt x="38004" y="2923159"/>
                </a:moveTo>
                <a:lnTo>
                  <a:pt x="0" y="2923159"/>
                </a:lnTo>
                <a:lnTo>
                  <a:pt x="56896" y="3037332"/>
                </a:lnTo>
                <a:lnTo>
                  <a:pt x="104680" y="2942082"/>
                </a:lnTo>
                <a:lnTo>
                  <a:pt x="37973" y="2942082"/>
                </a:lnTo>
                <a:lnTo>
                  <a:pt x="38004" y="2923159"/>
                </a:lnTo>
                <a:close/>
              </a:path>
              <a:path w="119379" h="3037840">
                <a:moveTo>
                  <a:pt x="80772" y="95250"/>
                </a:moveTo>
                <a:lnTo>
                  <a:pt x="42672" y="95250"/>
                </a:lnTo>
                <a:lnTo>
                  <a:pt x="38004" y="2923159"/>
                </a:lnTo>
                <a:lnTo>
                  <a:pt x="37973" y="2942082"/>
                </a:lnTo>
                <a:lnTo>
                  <a:pt x="76073" y="2942082"/>
                </a:lnTo>
                <a:lnTo>
                  <a:pt x="80740" y="114426"/>
                </a:lnTo>
                <a:lnTo>
                  <a:pt x="80772" y="95250"/>
                </a:lnTo>
                <a:close/>
              </a:path>
              <a:path w="119379" h="3037840">
                <a:moveTo>
                  <a:pt x="114173" y="2923159"/>
                </a:moveTo>
                <a:lnTo>
                  <a:pt x="76104" y="2923159"/>
                </a:lnTo>
                <a:lnTo>
                  <a:pt x="76073" y="2942082"/>
                </a:lnTo>
                <a:lnTo>
                  <a:pt x="104680" y="2942082"/>
                </a:lnTo>
                <a:lnTo>
                  <a:pt x="114173" y="2923159"/>
                </a:lnTo>
                <a:close/>
              </a:path>
              <a:path w="119379" h="3037840">
                <a:moveTo>
                  <a:pt x="61849" y="0"/>
                </a:moveTo>
                <a:lnTo>
                  <a:pt x="4444" y="114426"/>
                </a:lnTo>
                <a:lnTo>
                  <a:pt x="42640" y="114426"/>
                </a:lnTo>
                <a:lnTo>
                  <a:pt x="42672" y="95250"/>
                </a:lnTo>
                <a:lnTo>
                  <a:pt x="109315" y="95250"/>
                </a:lnTo>
                <a:lnTo>
                  <a:pt x="61849" y="0"/>
                </a:lnTo>
                <a:close/>
              </a:path>
              <a:path w="119379" h="3037840">
                <a:moveTo>
                  <a:pt x="109315" y="95250"/>
                </a:moveTo>
                <a:lnTo>
                  <a:pt x="80772" y="95250"/>
                </a:lnTo>
                <a:lnTo>
                  <a:pt x="80740" y="114426"/>
                </a:lnTo>
                <a:lnTo>
                  <a:pt x="118872" y="114426"/>
                </a:lnTo>
                <a:lnTo>
                  <a:pt x="109315" y="95250"/>
                </a:lnTo>
                <a:close/>
              </a:path>
            </a:pathLst>
          </a:custGeom>
          <a:solidFill>
            <a:srgbClr val="0058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818126" y="2091690"/>
            <a:ext cx="3155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>
                <a:solidFill>
                  <a:srgbClr val="005884"/>
                </a:solidFill>
                <a:latin typeface="Calibri"/>
                <a:cs typeface="Calibri"/>
              </a:rPr>
              <a:t>Sour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74438" y="5339588"/>
            <a:ext cx="4121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>
                <a:solidFill>
                  <a:srgbClr val="005884"/>
                </a:solidFill>
                <a:latin typeface="Calibri"/>
                <a:cs typeface="Calibri"/>
              </a:rPr>
              <a:t>Sweet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682234" y="5940552"/>
            <a:ext cx="3403600" cy="114300"/>
          </a:xfrm>
          <a:custGeom>
            <a:avLst/>
            <a:gdLst/>
            <a:ahLst/>
            <a:cxnLst/>
            <a:rect l="l" t="t" r="r" b="b"/>
            <a:pathLst>
              <a:path w="34036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3403600" h="114300">
                <a:moveTo>
                  <a:pt x="3289172" y="0"/>
                </a:moveTo>
                <a:lnTo>
                  <a:pt x="3289172" y="114300"/>
                </a:lnTo>
                <a:lnTo>
                  <a:pt x="3365372" y="76200"/>
                </a:lnTo>
                <a:lnTo>
                  <a:pt x="3308222" y="76200"/>
                </a:lnTo>
                <a:lnTo>
                  <a:pt x="3308222" y="38100"/>
                </a:lnTo>
                <a:lnTo>
                  <a:pt x="3365372" y="38100"/>
                </a:lnTo>
                <a:lnTo>
                  <a:pt x="3289172" y="0"/>
                </a:lnTo>
                <a:close/>
              </a:path>
              <a:path w="340360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3403600" h="114300">
                <a:moveTo>
                  <a:pt x="3289172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3289172" y="76200"/>
                </a:lnTo>
                <a:lnTo>
                  <a:pt x="3289172" y="38100"/>
                </a:lnTo>
                <a:close/>
              </a:path>
              <a:path w="3403600" h="114300">
                <a:moveTo>
                  <a:pt x="3365372" y="38100"/>
                </a:moveTo>
                <a:lnTo>
                  <a:pt x="3308222" y="38100"/>
                </a:lnTo>
                <a:lnTo>
                  <a:pt x="3308222" y="76200"/>
                </a:lnTo>
                <a:lnTo>
                  <a:pt x="3365372" y="76200"/>
                </a:lnTo>
                <a:lnTo>
                  <a:pt x="3403472" y="57150"/>
                </a:lnTo>
                <a:lnTo>
                  <a:pt x="3365372" y="38100"/>
                </a:lnTo>
                <a:close/>
              </a:path>
            </a:pathLst>
          </a:custGeom>
          <a:solidFill>
            <a:srgbClr val="0058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188965" y="5883046"/>
            <a:ext cx="41655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>
                <a:solidFill>
                  <a:srgbClr val="005884"/>
                </a:solidFill>
                <a:latin typeface="Calibri"/>
                <a:cs typeface="Calibri"/>
              </a:rPr>
              <a:t>Heavy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95358" y="5883046"/>
            <a:ext cx="33274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>
                <a:solidFill>
                  <a:srgbClr val="005884"/>
                </a:solidFill>
                <a:latin typeface="Calibri"/>
                <a:cs typeface="Calibri"/>
              </a:rPr>
              <a:t>Light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97907" y="3334373"/>
            <a:ext cx="177800" cy="7423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b="1" spc="-10">
                <a:solidFill>
                  <a:srgbClr val="404040"/>
                </a:solidFill>
                <a:latin typeface="Calibri"/>
                <a:cs typeface="Calibri"/>
              </a:rPr>
              <a:t>Sulfur,</a:t>
            </a:r>
            <a:r>
              <a:rPr sz="1200" b="1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b="1" spc="-25">
                <a:solidFill>
                  <a:srgbClr val="404040"/>
                </a:solidFill>
                <a:latin typeface="Calibri"/>
                <a:cs typeface="Calibri"/>
              </a:rPr>
              <a:t>wt%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030820" y="2635537"/>
            <a:ext cx="2773680" cy="2556510"/>
            <a:chOff x="1030820" y="2635537"/>
            <a:chExt cx="2773680" cy="2556510"/>
          </a:xfrm>
        </p:grpSpPr>
        <p:sp>
          <p:nvSpPr>
            <p:cNvPr id="13" name="object 13"/>
            <p:cNvSpPr/>
            <p:nvPr/>
          </p:nvSpPr>
          <p:spPr>
            <a:xfrm>
              <a:off x="1030820" y="2653157"/>
              <a:ext cx="1268730" cy="2529205"/>
            </a:xfrm>
            <a:custGeom>
              <a:avLst/>
              <a:gdLst/>
              <a:ahLst/>
              <a:cxnLst/>
              <a:rect l="l" t="t" r="r" b="b"/>
              <a:pathLst>
                <a:path w="1268730" h="2529204">
                  <a:moveTo>
                    <a:pt x="1127671" y="0"/>
                  </a:moveTo>
                  <a:lnTo>
                    <a:pt x="1079811" y="6259"/>
                  </a:lnTo>
                  <a:lnTo>
                    <a:pt x="1032569" y="14250"/>
                  </a:lnTo>
                  <a:lnTo>
                    <a:pt x="985976" y="23938"/>
                  </a:lnTo>
                  <a:lnTo>
                    <a:pt x="940063" y="35289"/>
                  </a:lnTo>
                  <a:lnTo>
                    <a:pt x="894860" y="48269"/>
                  </a:lnTo>
                  <a:lnTo>
                    <a:pt x="850398" y="62843"/>
                  </a:lnTo>
                  <a:lnTo>
                    <a:pt x="806708" y="78977"/>
                  </a:lnTo>
                  <a:lnTo>
                    <a:pt x="763822" y="96635"/>
                  </a:lnTo>
                  <a:lnTo>
                    <a:pt x="721769" y="115784"/>
                  </a:lnTo>
                  <a:lnTo>
                    <a:pt x="680581" y="136390"/>
                  </a:lnTo>
                  <a:lnTo>
                    <a:pt x="640288" y="158416"/>
                  </a:lnTo>
                  <a:lnTo>
                    <a:pt x="600922" y="181830"/>
                  </a:lnTo>
                  <a:lnTo>
                    <a:pt x="562513" y="206597"/>
                  </a:lnTo>
                  <a:lnTo>
                    <a:pt x="525092" y="232681"/>
                  </a:lnTo>
                  <a:lnTo>
                    <a:pt x="488690" y="260050"/>
                  </a:lnTo>
                  <a:lnTo>
                    <a:pt x="453338" y="288667"/>
                  </a:lnTo>
                  <a:lnTo>
                    <a:pt x="419066" y="318500"/>
                  </a:lnTo>
                  <a:lnTo>
                    <a:pt x="385906" y="349512"/>
                  </a:lnTo>
                  <a:lnTo>
                    <a:pt x="353888" y="381671"/>
                  </a:lnTo>
                  <a:lnTo>
                    <a:pt x="323043" y="414940"/>
                  </a:lnTo>
                  <a:lnTo>
                    <a:pt x="293402" y="449287"/>
                  </a:lnTo>
                  <a:lnTo>
                    <a:pt x="264996" y="484675"/>
                  </a:lnTo>
                  <a:lnTo>
                    <a:pt x="237855" y="521072"/>
                  </a:lnTo>
                  <a:lnTo>
                    <a:pt x="212011" y="558442"/>
                  </a:lnTo>
                  <a:lnTo>
                    <a:pt x="187495" y="596751"/>
                  </a:lnTo>
                  <a:lnTo>
                    <a:pt x="164336" y="635964"/>
                  </a:lnTo>
                  <a:lnTo>
                    <a:pt x="142567" y="676047"/>
                  </a:lnTo>
                  <a:lnTo>
                    <a:pt x="122217" y="716966"/>
                  </a:lnTo>
                  <a:lnTo>
                    <a:pt x="103318" y="758685"/>
                  </a:lnTo>
                  <a:lnTo>
                    <a:pt x="85901" y="801171"/>
                  </a:lnTo>
                  <a:lnTo>
                    <a:pt x="69996" y="844389"/>
                  </a:lnTo>
                  <a:lnTo>
                    <a:pt x="55635" y="888305"/>
                  </a:lnTo>
                  <a:lnTo>
                    <a:pt x="42847" y="932883"/>
                  </a:lnTo>
                  <a:lnTo>
                    <a:pt x="31664" y="978090"/>
                  </a:lnTo>
                  <a:lnTo>
                    <a:pt x="22117" y="1023891"/>
                  </a:lnTo>
                  <a:lnTo>
                    <a:pt x="14237" y="1070252"/>
                  </a:lnTo>
                  <a:lnTo>
                    <a:pt x="8055" y="1117138"/>
                  </a:lnTo>
                  <a:lnTo>
                    <a:pt x="3600" y="1164515"/>
                  </a:lnTo>
                  <a:lnTo>
                    <a:pt x="905" y="1212347"/>
                  </a:lnTo>
                  <a:lnTo>
                    <a:pt x="0" y="1260601"/>
                  </a:lnTo>
                  <a:lnTo>
                    <a:pt x="915" y="1309255"/>
                  </a:lnTo>
                  <a:lnTo>
                    <a:pt x="3641" y="1357445"/>
                  </a:lnTo>
                  <a:lnTo>
                    <a:pt x="8144" y="1405139"/>
                  </a:lnTo>
                  <a:lnTo>
                    <a:pt x="14391" y="1452303"/>
                  </a:lnTo>
                  <a:lnTo>
                    <a:pt x="22349" y="1498906"/>
                  </a:lnTo>
                  <a:lnTo>
                    <a:pt x="31986" y="1544914"/>
                  </a:lnTo>
                  <a:lnTo>
                    <a:pt x="43268" y="1590294"/>
                  </a:lnTo>
                  <a:lnTo>
                    <a:pt x="56163" y="1635013"/>
                  </a:lnTo>
                  <a:lnTo>
                    <a:pt x="70638" y="1679039"/>
                  </a:lnTo>
                  <a:lnTo>
                    <a:pt x="86660" y="1722339"/>
                  </a:lnTo>
                  <a:lnTo>
                    <a:pt x="104197" y="1764880"/>
                  </a:lnTo>
                  <a:lnTo>
                    <a:pt x="123215" y="1806629"/>
                  </a:lnTo>
                  <a:lnTo>
                    <a:pt x="143681" y="1847554"/>
                  </a:lnTo>
                  <a:lnTo>
                    <a:pt x="165564" y="1887621"/>
                  </a:lnTo>
                  <a:lnTo>
                    <a:pt x="188829" y="1926797"/>
                  </a:lnTo>
                  <a:lnTo>
                    <a:pt x="213444" y="1965051"/>
                  </a:lnTo>
                  <a:lnTo>
                    <a:pt x="239377" y="2002348"/>
                  </a:lnTo>
                  <a:lnTo>
                    <a:pt x="266594" y="2038657"/>
                  </a:lnTo>
                  <a:lnTo>
                    <a:pt x="295062" y="2073944"/>
                  </a:lnTo>
                  <a:lnTo>
                    <a:pt x="324749" y="2108176"/>
                  </a:lnTo>
                  <a:lnTo>
                    <a:pt x="355623" y="2141321"/>
                  </a:lnTo>
                  <a:lnTo>
                    <a:pt x="387649" y="2173346"/>
                  </a:lnTo>
                  <a:lnTo>
                    <a:pt x="420795" y="2204218"/>
                  </a:lnTo>
                  <a:lnTo>
                    <a:pt x="455029" y="2233903"/>
                  </a:lnTo>
                  <a:lnTo>
                    <a:pt x="490317" y="2262371"/>
                  </a:lnTo>
                  <a:lnTo>
                    <a:pt x="526627" y="2289586"/>
                  </a:lnTo>
                  <a:lnTo>
                    <a:pt x="563925" y="2315518"/>
                  </a:lnTo>
                  <a:lnTo>
                    <a:pt x="602180" y="2340132"/>
                  </a:lnTo>
                  <a:lnTo>
                    <a:pt x="641358" y="2363396"/>
                  </a:lnTo>
                  <a:lnTo>
                    <a:pt x="681426" y="2385277"/>
                  </a:lnTo>
                  <a:lnTo>
                    <a:pt x="722351" y="2405742"/>
                  </a:lnTo>
                  <a:lnTo>
                    <a:pt x="764102" y="2424759"/>
                  </a:lnTo>
                  <a:lnTo>
                    <a:pt x="806644" y="2442295"/>
                  </a:lnTo>
                  <a:lnTo>
                    <a:pt x="849945" y="2458316"/>
                  </a:lnTo>
                  <a:lnTo>
                    <a:pt x="893972" y="2472790"/>
                  </a:lnTo>
                  <a:lnTo>
                    <a:pt x="938692" y="2485685"/>
                  </a:lnTo>
                  <a:lnTo>
                    <a:pt x="984073" y="2496966"/>
                  </a:lnTo>
                  <a:lnTo>
                    <a:pt x="1030081" y="2506603"/>
                  </a:lnTo>
                  <a:lnTo>
                    <a:pt x="1076684" y="2514560"/>
                  </a:lnTo>
                  <a:lnTo>
                    <a:pt x="1123849" y="2520807"/>
                  </a:lnTo>
                  <a:lnTo>
                    <a:pt x="1171543" y="2525309"/>
                  </a:lnTo>
                  <a:lnTo>
                    <a:pt x="1219733" y="2528035"/>
                  </a:lnTo>
                  <a:lnTo>
                    <a:pt x="1268387" y="2528950"/>
                  </a:lnTo>
                  <a:lnTo>
                    <a:pt x="1268387" y="1260601"/>
                  </a:lnTo>
                  <a:lnTo>
                    <a:pt x="1127671" y="0"/>
                  </a:lnTo>
                  <a:close/>
                </a:path>
              </a:pathLst>
            </a:custGeom>
            <a:solidFill>
              <a:srgbClr val="245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158491" y="2645443"/>
              <a:ext cx="567055" cy="1268730"/>
            </a:xfrm>
            <a:custGeom>
              <a:avLst/>
              <a:gdLst/>
              <a:ahLst/>
              <a:cxnLst/>
              <a:rect l="l" t="t" r="r" b="b"/>
              <a:pathLst>
                <a:path w="567055" h="1268729">
                  <a:moveTo>
                    <a:pt x="156807" y="0"/>
                  </a:moveTo>
                  <a:lnTo>
                    <a:pt x="104533" y="410"/>
                  </a:lnTo>
                  <a:lnTo>
                    <a:pt x="52242" y="2979"/>
                  </a:lnTo>
                  <a:lnTo>
                    <a:pt x="0" y="7713"/>
                  </a:lnTo>
                  <a:lnTo>
                    <a:pt x="140715" y="1268315"/>
                  </a:lnTo>
                  <a:lnTo>
                    <a:pt x="566546" y="73499"/>
                  </a:lnTo>
                  <a:lnTo>
                    <a:pt x="516760" y="56916"/>
                  </a:lnTo>
                  <a:lnTo>
                    <a:pt x="466434" y="42430"/>
                  </a:lnTo>
                  <a:lnTo>
                    <a:pt x="415634" y="30051"/>
                  </a:lnTo>
                  <a:lnTo>
                    <a:pt x="364425" y="19785"/>
                  </a:lnTo>
                  <a:lnTo>
                    <a:pt x="312872" y="11639"/>
                  </a:lnTo>
                  <a:lnTo>
                    <a:pt x="261042" y="5621"/>
                  </a:lnTo>
                  <a:lnTo>
                    <a:pt x="208998" y="1739"/>
                  </a:lnTo>
                  <a:lnTo>
                    <a:pt x="156807" y="0"/>
                  </a:lnTo>
                  <a:close/>
                </a:path>
              </a:pathLst>
            </a:custGeom>
            <a:solidFill>
              <a:srgbClr val="4FD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158491" y="2645443"/>
              <a:ext cx="567055" cy="1268730"/>
            </a:xfrm>
            <a:custGeom>
              <a:avLst/>
              <a:gdLst/>
              <a:ahLst/>
              <a:cxnLst/>
              <a:rect l="l" t="t" r="r" b="b"/>
              <a:pathLst>
                <a:path w="567055" h="1268729">
                  <a:moveTo>
                    <a:pt x="0" y="7713"/>
                  </a:moveTo>
                  <a:lnTo>
                    <a:pt x="52242" y="2979"/>
                  </a:lnTo>
                  <a:lnTo>
                    <a:pt x="104533" y="410"/>
                  </a:lnTo>
                  <a:lnTo>
                    <a:pt x="156807" y="0"/>
                  </a:lnTo>
                  <a:lnTo>
                    <a:pt x="208998" y="1739"/>
                  </a:lnTo>
                  <a:lnTo>
                    <a:pt x="261042" y="5621"/>
                  </a:lnTo>
                  <a:lnTo>
                    <a:pt x="312872" y="11639"/>
                  </a:lnTo>
                  <a:lnTo>
                    <a:pt x="364425" y="19785"/>
                  </a:lnTo>
                  <a:lnTo>
                    <a:pt x="415634" y="30051"/>
                  </a:lnTo>
                  <a:lnTo>
                    <a:pt x="466434" y="42430"/>
                  </a:lnTo>
                  <a:lnTo>
                    <a:pt x="516760" y="56916"/>
                  </a:lnTo>
                  <a:lnTo>
                    <a:pt x="566546" y="73499"/>
                  </a:lnTo>
                  <a:lnTo>
                    <a:pt x="140715" y="1268315"/>
                  </a:lnTo>
                  <a:lnTo>
                    <a:pt x="0" y="7713"/>
                  </a:lnTo>
                  <a:close/>
                </a:path>
              </a:pathLst>
            </a:custGeom>
            <a:ln w="198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299208" y="2718943"/>
              <a:ext cx="615315" cy="1195070"/>
            </a:xfrm>
            <a:custGeom>
              <a:avLst/>
              <a:gdLst/>
              <a:ahLst/>
              <a:cxnLst/>
              <a:rect l="l" t="t" r="r" b="b"/>
              <a:pathLst>
                <a:path w="615314" h="1195070">
                  <a:moveTo>
                    <a:pt x="425831" y="0"/>
                  </a:moveTo>
                  <a:lnTo>
                    <a:pt x="0" y="1194816"/>
                  </a:lnTo>
                  <a:lnTo>
                    <a:pt x="614807" y="85344"/>
                  </a:lnTo>
                  <a:lnTo>
                    <a:pt x="568884" y="61132"/>
                  </a:lnTo>
                  <a:lnTo>
                    <a:pt x="522033" y="38814"/>
                  </a:lnTo>
                  <a:lnTo>
                    <a:pt x="474325" y="18424"/>
                  </a:lnTo>
                  <a:lnTo>
                    <a:pt x="425831" y="0"/>
                  </a:lnTo>
                  <a:close/>
                </a:path>
              </a:pathLst>
            </a:custGeom>
            <a:solidFill>
              <a:srgbClr val="80B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299208" y="2718943"/>
              <a:ext cx="615315" cy="1195070"/>
            </a:xfrm>
            <a:custGeom>
              <a:avLst/>
              <a:gdLst/>
              <a:ahLst/>
              <a:cxnLst/>
              <a:rect l="l" t="t" r="r" b="b"/>
              <a:pathLst>
                <a:path w="615314" h="1195070">
                  <a:moveTo>
                    <a:pt x="425831" y="0"/>
                  </a:moveTo>
                  <a:lnTo>
                    <a:pt x="474325" y="18424"/>
                  </a:lnTo>
                  <a:lnTo>
                    <a:pt x="522033" y="38814"/>
                  </a:lnTo>
                  <a:lnTo>
                    <a:pt x="568884" y="61132"/>
                  </a:lnTo>
                  <a:lnTo>
                    <a:pt x="614807" y="85344"/>
                  </a:lnTo>
                  <a:lnTo>
                    <a:pt x="0" y="1194816"/>
                  </a:lnTo>
                  <a:lnTo>
                    <a:pt x="425831" y="0"/>
                  </a:lnTo>
                  <a:close/>
                </a:path>
              </a:pathLst>
            </a:custGeom>
            <a:ln w="198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299208" y="2804287"/>
              <a:ext cx="1139190" cy="1109980"/>
            </a:xfrm>
            <a:custGeom>
              <a:avLst/>
              <a:gdLst/>
              <a:ahLst/>
              <a:cxnLst/>
              <a:rect l="l" t="t" r="r" b="b"/>
              <a:pathLst>
                <a:path w="1139189" h="1109979">
                  <a:moveTo>
                    <a:pt x="614807" y="0"/>
                  </a:moveTo>
                  <a:lnTo>
                    <a:pt x="0" y="1109471"/>
                  </a:lnTo>
                  <a:lnTo>
                    <a:pt x="1139063" y="551561"/>
                  </a:lnTo>
                  <a:lnTo>
                    <a:pt x="1115317" y="505476"/>
                  </a:lnTo>
                  <a:lnTo>
                    <a:pt x="1089781" y="460521"/>
                  </a:lnTo>
                  <a:lnTo>
                    <a:pt x="1062497" y="416742"/>
                  </a:lnTo>
                  <a:lnTo>
                    <a:pt x="1033509" y="374186"/>
                  </a:lnTo>
                  <a:lnTo>
                    <a:pt x="1002862" y="332899"/>
                  </a:lnTo>
                  <a:lnTo>
                    <a:pt x="970600" y="292928"/>
                  </a:lnTo>
                  <a:lnTo>
                    <a:pt x="936766" y="254317"/>
                  </a:lnTo>
                  <a:lnTo>
                    <a:pt x="901404" y="217114"/>
                  </a:lnTo>
                  <a:lnTo>
                    <a:pt x="864560" y="181366"/>
                  </a:lnTo>
                  <a:lnTo>
                    <a:pt x="826276" y="147117"/>
                  </a:lnTo>
                  <a:lnTo>
                    <a:pt x="786596" y="114415"/>
                  </a:lnTo>
                  <a:lnTo>
                    <a:pt x="745566" y="83306"/>
                  </a:lnTo>
                  <a:lnTo>
                    <a:pt x="703228" y="53837"/>
                  </a:lnTo>
                  <a:lnTo>
                    <a:pt x="659627" y="26052"/>
                  </a:lnTo>
                  <a:lnTo>
                    <a:pt x="614807" y="0"/>
                  </a:lnTo>
                  <a:close/>
                </a:path>
              </a:pathLst>
            </a:custGeom>
            <a:solidFill>
              <a:srgbClr val="9F00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299208" y="2804287"/>
              <a:ext cx="1139190" cy="1109980"/>
            </a:xfrm>
            <a:custGeom>
              <a:avLst/>
              <a:gdLst/>
              <a:ahLst/>
              <a:cxnLst/>
              <a:rect l="l" t="t" r="r" b="b"/>
              <a:pathLst>
                <a:path w="1139189" h="1109979">
                  <a:moveTo>
                    <a:pt x="614807" y="0"/>
                  </a:moveTo>
                  <a:lnTo>
                    <a:pt x="659627" y="26052"/>
                  </a:lnTo>
                  <a:lnTo>
                    <a:pt x="703228" y="53837"/>
                  </a:lnTo>
                  <a:lnTo>
                    <a:pt x="745566" y="83306"/>
                  </a:lnTo>
                  <a:lnTo>
                    <a:pt x="786596" y="114415"/>
                  </a:lnTo>
                  <a:lnTo>
                    <a:pt x="826276" y="147117"/>
                  </a:lnTo>
                  <a:lnTo>
                    <a:pt x="864560" y="181366"/>
                  </a:lnTo>
                  <a:lnTo>
                    <a:pt x="901404" y="217114"/>
                  </a:lnTo>
                  <a:lnTo>
                    <a:pt x="936766" y="254317"/>
                  </a:lnTo>
                  <a:lnTo>
                    <a:pt x="970600" y="292928"/>
                  </a:lnTo>
                  <a:lnTo>
                    <a:pt x="1002862" y="332899"/>
                  </a:lnTo>
                  <a:lnTo>
                    <a:pt x="1033509" y="374186"/>
                  </a:lnTo>
                  <a:lnTo>
                    <a:pt x="1062497" y="416742"/>
                  </a:lnTo>
                  <a:lnTo>
                    <a:pt x="1089781" y="460521"/>
                  </a:lnTo>
                  <a:lnTo>
                    <a:pt x="1115317" y="505476"/>
                  </a:lnTo>
                  <a:lnTo>
                    <a:pt x="1139063" y="551561"/>
                  </a:lnTo>
                  <a:lnTo>
                    <a:pt x="0" y="1109471"/>
                  </a:lnTo>
                  <a:lnTo>
                    <a:pt x="614807" y="0"/>
                  </a:lnTo>
                  <a:close/>
                </a:path>
              </a:pathLst>
            </a:custGeom>
            <a:ln w="198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299208" y="3355848"/>
              <a:ext cx="1242060" cy="558165"/>
            </a:xfrm>
            <a:custGeom>
              <a:avLst/>
              <a:gdLst/>
              <a:ahLst/>
              <a:cxnLst/>
              <a:rect l="l" t="t" r="r" b="b"/>
              <a:pathLst>
                <a:path w="1242060" h="558164">
                  <a:moveTo>
                    <a:pt x="1139063" y="0"/>
                  </a:moveTo>
                  <a:lnTo>
                    <a:pt x="0" y="557910"/>
                  </a:lnTo>
                  <a:lnTo>
                    <a:pt x="1241552" y="298195"/>
                  </a:lnTo>
                  <a:lnTo>
                    <a:pt x="1229691" y="246835"/>
                  </a:lnTo>
                  <a:lnTo>
                    <a:pt x="1215714" y="196050"/>
                  </a:lnTo>
                  <a:lnTo>
                    <a:pt x="1199642" y="145907"/>
                  </a:lnTo>
                  <a:lnTo>
                    <a:pt x="1181495" y="96472"/>
                  </a:lnTo>
                  <a:lnTo>
                    <a:pt x="1161295" y="47814"/>
                  </a:lnTo>
                  <a:lnTo>
                    <a:pt x="1139063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299208" y="3355848"/>
              <a:ext cx="1242060" cy="558165"/>
            </a:xfrm>
            <a:custGeom>
              <a:avLst/>
              <a:gdLst/>
              <a:ahLst/>
              <a:cxnLst/>
              <a:rect l="l" t="t" r="r" b="b"/>
              <a:pathLst>
                <a:path w="1242060" h="558164">
                  <a:moveTo>
                    <a:pt x="1139063" y="0"/>
                  </a:moveTo>
                  <a:lnTo>
                    <a:pt x="1161295" y="47814"/>
                  </a:lnTo>
                  <a:lnTo>
                    <a:pt x="1181495" y="96472"/>
                  </a:lnTo>
                  <a:lnTo>
                    <a:pt x="1199642" y="145907"/>
                  </a:lnTo>
                  <a:lnTo>
                    <a:pt x="1215714" y="196050"/>
                  </a:lnTo>
                  <a:lnTo>
                    <a:pt x="1229691" y="246835"/>
                  </a:lnTo>
                  <a:lnTo>
                    <a:pt x="1241552" y="298195"/>
                  </a:lnTo>
                  <a:lnTo>
                    <a:pt x="0" y="557910"/>
                  </a:lnTo>
                  <a:lnTo>
                    <a:pt x="1139063" y="0"/>
                  </a:lnTo>
                  <a:close/>
                </a:path>
              </a:pathLst>
            </a:custGeom>
            <a:ln w="198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299208" y="3654044"/>
              <a:ext cx="1247775" cy="259715"/>
            </a:xfrm>
            <a:custGeom>
              <a:avLst/>
              <a:gdLst/>
              <a:ahLst/>
              <a:cxnLst/>
              <a:rect l="l" t="t" r="r" b="b"/>
              <a:pathLst>
                <a:path w="1247775" h="259714">
                  <a:moveTo>
                    <a:pt x="1241552" y="0"/>
                  </a:moveTo>
                  <a:lnTo>
                    <a:pt x="0" y="259714"/>
                  </a:lnTo>
                  <a:lnTo>
                    <a:pt x="1247647" y="31368"/>
                  </a:lnTo>
                  <a:lnTo>
                    <a:pt x="1241552" y="0"/>
                  </a:lnTo>
                  <a:close/>
                </a:path>
              </a:pathLst>
            </a:custGeom>
            <a:solidFill>
              <a:srgbClr val="F08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299208" y="3654044"/>
              <a:ext cx="1247775" cy="259715"/>
            </a:xfrm>
            <a:custGeom>
              <a:avLst/>
              <a:gdLst/>
              <a:ahLst/>
              <a:cxnLst/>
              <a:rect l="l" t="t" r="r" b="b"/>
              <a:pathLst>
                <a:path w="1247775" h="259714">
                  <a:moveTo>
                    <a:pt x="1241552" y="0"/>
                  </a:moveTo>
                  <a:lnTo>
                    <a:pt x="1243147" y="7812"/>
                  </a:lnTo>
                  <a:lnTo>
                    <a:pt x="1244695" y="15636"/>
                  </a:lnTo>
                  <a:lnTo>
                    <a:pt x="1246195" y="23485"/>
                  </a:lnTo>
                  <a:lnTo>
                    <a:pt x="1247647" y="31368"/>
                  </a:lnTo>
                  <a:lnTo>
                    <a:pt x="0" y="259714"/>
                  </a:lnTo>
                  <a:lnTo>
                    <a:pt x="1241552" y="0"/>
                  </a:lnTo>
                  <a:close/>
                </a:path>
              </a:pathLst>
            </a:custGeom>
            <a:ln w="198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299208" y="3685413"/>
              <a:ext cx="1268730" cy="1289685"/>
            </a:xfrm>
            <a:custGeom>
              <a:avLst/>
              <a:gdLst/>
              <a:ahLst/>
              <a:cxnLst/>
              <a:rect l="l" t="t" r="r" b="b"/>
              <a:pathLst>
                <a:path w="1268729" h="1289685">
                  <a:moveTo>
                    <a:pt x="1247647" y="0"/>
                  </a:moveTo>
                  <a:lnTo>
                    <a:pt x="0" y="228345"/>
                  </a:lnTo>
                  <a:lnTo>
                    <a:pt x="694690" y="1289558"/>
                  </a:lnTo>
                  <a:lnTo>
                    <a:pt x="735354" y="1261801"/>
                  </a:lnTo>
                  <a:lnTo>
                    <a:pt x="774692" y="1232664"/>
                  </a:lnTo>
                  <a:lnTo>
                    <a:pt x="812685" y="1202195"/>
                  </a:lnTo>
                  <a:lnTo>
                    <a:pt x="849312" y="1170440"/>
                  </a:lnTo>
                  <a:lnTo>
                    <a:pt x="884552" y="1137447"/>
                  </a:lnTo>
                  <a:lnTo>
                    <a:pt x="918386" y="1103263"/>
                  </a:lnTo>
                  <a:lnTo>
                    <a:pt x="950793" y="1067936"/>
                  </a:lnTo>
                  <a:lnTo>
                    <a:pt x="981752" y="1031513"/>
                  </a:lnTo>
                  <a:lnTo>
                    <a:pt x="1011244" y="994041"/>
                  </a:lnTo>
                  <a:lnTo>
                    <a:pt x="1039248" y="955567"/>
                  </a:lnTo>
                  <a:lnTo>
                    <a:pt x="1065743" y="916138"/>
                  </a:lnTo>
                  <a:lnTo>
                    <a:pt x="1090710" y="875803"/>
                  </a:lnTo>
                  <a:lnTo>
                    <a:pt x="1114128" y="834608"/>
                  </a:lnTo>
                  <a:lnTo>
                    <a:pt x="1135977" y="792601"/>
                  </a:lnTo>
                  <a:lnTo>
                    <a:pt x="1156237" y="749828"/>
                  </a:lnTo>
                  <a:lnTo>
                    <a:pt x="1174887" y="706338"/>
                  </a:lnTo>
                  <a:lnTo>
                    <a:pt x="1191906" y="662177"/>
                  </a:lnTo>
                  <a:lnTo>
                    <a:pt x="1207275" y="617393"/>
                  </a:lnTo>
                  <a:lnTo>
                    <a:pt x="1220974" y="572032"/>
                  </a:lnTo>
                  <a:lnTo>
                    <a:pt x="1232981" y="526144"/>
                  </a:lnTo>
                  <a:lnTo>
                    <a:pt x="1243278" y="479773"/>
                  </a:lnTo>
                  <a:lnTo>
                    <a:pt x="1251842" y="432969"/>
                  </a:lnTo>
                  <a:lnTo>
                    <a:pt x="1258655" y="385778"/>
                  </a:lnTo>
                  <a:lnTo>
                    <a:pt x="1263695" y="338247"/>
                  </a:lnTo>
                  <a:lnTo>
                    <a:pt x="1266943" y="290424"/>
                  </a:lnTo>
                  <a:lnTo>
                    <a:pt x="1268377" y="242357"/>
                  </a:lnTo>
                  <a:lnTo>
                    <a:pt x="1267979" y="194091"/>
                  </a:lnTo>
                  <a:lnTo>
                    <a:pt x="1265727" y="145676"/>
                  </a:lnTo>
                  <a:lnTo>
                    <a:pt x="1261601" y="97157"/>
                  </a:lnTo>
                  <a:lnTo>
                    <a:pt x="1255582" y="48582"/>
                  </a:lnTo>
                  <a:lnTo>
                    <a:pt x="124764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299208" y="3685413"/>
              <a:ext cx="1268730" cy="1289685"/>
            </a:xfrm>
            <a:custGeom>
              <a:avLst/>
              <a:gdLst/>
              <a:ahLst/>
              <a:cxnLst/>
              <a:rect l="l" t="t" r="r" b="b"/>
              <a:pathLst>
                <a:path w="1268729" h="1289685">
                  <a:moveTo>
                    <a:pt x="1247647" y="0"/>
                  </a:moveTo>
                  <a:lnTo>
                    <a:pt x="1255582" y="48582"/>
                  </a:lnTo>
                  <a:lnTo>
                    <a:pt x="1261601" y="97157"/>
                  </a:lnTo>
                  <a:lnTo>
                    <a:pt x="1265727" y="145676"/>
                  </a:lnTo>
                  <a:lnTo>
                    <a:pt x="1267979" y="194091"/>
                  </a:lnTo>
                  <a:lnTo>
                    <a:pt x="1268377" y="242357"/>
                  </a:lnTo>
                  <a:lnTo>
                    <a:pt x="1266943" y="290424"/>
                  </a:lnTo>
                  <a:lnTo>
                    <a:pt x="1263695" y="338247"/>
                  </a:lnTo>
                  <a:lnTo>
                    <a:pt x="1258655" y="385778"/>
                  </a:lnTo>
                  <a:lnTo>
                    <a:pt x="1251842" y="432969"/>
                  </a:lnTo>
                  <a:lnTo>
                    <a:pt x="1243278" y="479773"/>
                  </a:lnTo>
                  <a:lnTo>
                    <a:pt x="1232981" y="526144"/>
                  </a:lnTo>
                  <a:lnTo>
                    <a:pt x="1220974" y="572032"/>
                  </a:lnTo>
                  <a:lnTo>
                    <a:pt x="1207275" y="617393"/>
                  </a:lnTo>
                  <a:lnTo>
                    <a:pt x="1191906" y="662177"/>
                  </a:lnTo>
                  <a:lnTo>
                    <a:pt x="1174887" y="706338"/>
                  </a:lnTo>
                  <a:lnTo>
                    <a:pt x="1156237" y="749828"/>
                  </a:lnTo>
                  <a:lnTo>
                    <a:pt x="1135977" y="792601"/>
                  </a:lnTo>
                  <a:lnTo>
                    <a:pt x="1114128" y="834608"/>
                  </a:lnTo>
                  <a:lnTo>
                    <a:pt x="1090710" y="875803"/>
                  </a:lnTo>
                  <a:lnTo>
                    <a:pt x="1065743" y="916138"/>
                  </a:lnTo>
                  <a:lnTo>
                    <a:pt x="1039248" y="955567"/>
                  </a:lnTo>
                  <a:lnTo>
                    <a:pt x="1011244" y="994041"/>
                  </a:lnTo>
                  <a:lnTo>
                    <a:pt x="981752" y="1031513"/>
                  </a:lnTo>
                  <a:lnTo>
                    <a:pt x="950793" y="1067936"/>
                  </a:lnTo>
                  <a:lnTo>
                    <a:pt x="918386" y="1103263"/>
                  </a:lnTo>
                  <a:lnTo>
                    <a:pt x="884552" y="1137447"/>
                  </a:lnTo>
                  <a:lnTo>
                    <a:pt x="849312" y="1170440"/>
                  </a:lnTo>
                  <a:lnTo>
                    <a:pt x="812685" y="1202195"/>
                  </a:lnTo>
                  <a:lnTo>
                    <a:pt x="774692" y="1232664"/>
                  </a:lnTo>
                  <a:lnTo>
                    <a:pt x="735354" y="1261801"/>
                  </a:lnTo>
                  <a:lnTo>
                    <a:pt x="694690" y="1289558"/>
                  </a:lnTo>
                  <a:lnTo>
                    <a:pt x="0" y="228345"/>
                  </a:lnTo>
                  <a:lnTo>
                    <a:pt x="1247647" y="0"/>
                  </a:lnTo>
                  <a:close/>
                </a:path>
              </a:pathLst>
            </a:custGeom>
            <a:ln w="198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299208" y="3913759"/>
              <a:ext cx="694690" cy="1094740"/>
            </a:xfrm>
            <a:custGeom>
              <a:avLst/>
              <a:gdLst/>
              <a:ahLst/>
              <a:cxnLst/>
              <a:rect l="l" t="t" r="r" b="b"/>
              <a:pathLst>
                <a:path w="694689" h="1094739">
                  <a:moveTo>
                    <a:pt x="0" y="0"/>
                  </a:moveTo>
                  <a:lnTo>
                    <a:pt x="641350" y="1094232"/>
                  </a:lnTo>
                  <a:lnTo>
                    <a:pt x="668210" y="1078055"/>
                  </a:lnTo>
                  <a:lnTo>
                    <a:pt x="694690" y="10612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299208" y="3913759"/>
              <a:ext cx="694690" cy="1094740"/>
            </a:xfrm>
            <a:custGeom>
              <a:avLst/>
              <a:gdLst/>
              <a:ahLst/>
              <a:cxnLst/>
              <a:rect l="l" t="t" r="r" b="b"/>
              <a:pathLst>
                <a:path w="694689" h="1094739">
                  <a:moveTo>
                    <a:pt x="694690" y="1061212"/>
                  </a:moveTo>
                  <a:lnTo>
                    <a:pt x="681497" y="1069711"/>
                  </a:lnTo>
                  <a:lnTo>
                    <a:pt x="668210" y="1078055"/>
                  </a:lnTo>
                  <a:lnTo>
                    <a:pt x="654827" y="1086232"/>
                  </a:lnTo>
                  <a:lnTo>
                    <a:pt x="641350" y="1094232"/>
                  </a:lnTo>
                  <a:lnTo>
                    <a:pt x="0" y="0"/>
                  </a:lnTo>
                  <a:lnTo>
                    <a:pt x="694690" y="1061212"/>
                  </a:lnTo>
                  <a:close/>
                </a:path>
              </a:pathLst>
            </a:custGeom>
            <a:ln w="198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299208" y="3913759"/>
              <a:ext cx="641350" cy="1268730"/>
            </a:xfrm>
            <a:custGeom>
              <a:avLst/>
              <a:gdLst/>
              <a:ahLst/>
              <a:cxnLst/>
              <a:rect l="l" t="t" r="r" b="b"/>
              <a:pathLst>
                <a:path w="641350" h="1268729">
                  <a:moveTo>
                    <a:pt x="0" y="0"/>
                  </a:moveTo>
                  <a:lnTo>
                    <a:pt x="0" y="1268349"/>
                  </a:lnTo>
                  <a:lnTo>
                    <a:pt x="51940" y="1267285"/>
                  </a:lnTo>
                  <a:lnTo>
                    <a:pt x="103678" y="1264105"/>
                  </a:lnTo>
                  <a:lnTo>
                    <a:pt x="155150" y="1258826"/>
                  </a:lnTo>
                  <a:lnTo>
                    <a:pt x="206293" y="1251464"/>
                  </a:lnTo>
                  <a:lnTo>
                    <a:pt x="257043" y="1242037"/>
                  </a:lnTo>
                  <a:lnTo>
                    <a:pt x="307338" y="1230559"/>
                  </a:lnTo>
                  <a:lnTo>
                    <a:pt x="357114" y="1217049"/>
                  </a:lnTo>
                  <a:lnTo>
                    <a:pt x="406309" y="1201523"/>
                  </a:lnTo>
                  <a:lnTo>
                    <a:pt x="454859" y="1183997"/>
                  </a:lnTo>
                  <a:lnTo>
                    <a:pt x="502702" y="1164488"/>
                  </a:lnTo>
                  <a:lnTo>
                    <a:pt x="549773" y="1143013"/>
                  </a:lnTo>
                  <a:lnTo>
                    <a:pt x="596010" y="1119589"/>
                  </a:lnTo>
                  <a:lnTo>
                    <a:pt x="641350" y="1094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299208" y="3913759"/>
              <a:ext cx="641350" cy="1268730"/>
            </a:xfrm>
            <a:custGeom>
              <a:avLst/>
              <a:gdLst/>
              <a:ahLst/>
              <a:cxnLst/>
              <a:rect l="l" t="t" r="r" b="b"/>
              <a:pathLst>
                <a:path w="641350" h="1268729">
                  <a:moveTo>
                    <a:pt x="641350" y="1094232"/>
                  </a:moveTo>
                  <a:lnTo>
                    <a:pt x="596010" y="1119589"/>
                  </a:lnTo>
                  <a:lnTo>
                    <a:pt x="549773" y="1143013"/>
                  </a:lnTo>
                  <a:lnTo>
                    <a:pt x="502702" y="1164488"/>
                  </a:lnTo>
                  <a:lnTo>
                    <a:pt x="454859" y="1183997"/>
                  </a:lnTo>
                  <a:lnTo>
                    <a:pt x="406309" y="1201523"/>
                  </a:lnTo>
                  <a:lnTo>
                    <a:pt x="357114" y="1217049"/>
                  </a:lnTo>
                  <a:lnTo>
                    <a:pt x="307338" y="1230559"/>
                  </a:lnTo>
                  <a:lnTo>
                    <a:pt x="257043" y="1242037"/>
                  </a:lnTo>
                  <a:lnTo>
                    <a:pt x="206293" y="1251464"/>
                  </a:lnTo>
                  <a:lnTo>
                    <a:pt x="155150" y="1258826"/>
                  </a:lnTo>
                  <a:lnTo>
                    <a:pt x="103678" y="1264105"/>
                  </a:lnTo>
                  <a:lnTo>
                    <a:pt x="51940" y="1267285"/>
                  </a:lnTo>
                  <a:lnTo>
                    <a:pt x="0" y="1268349"/>
                  </a:lnTo>
                  <a:lnTo>
                    <a:pt x="0" y="0"/>
                  </a:lnTo>
                  <a:lnTo>
                    <a:pt x="641350" y="1094232"/>
                  </a:lnTo>
                  <a:close/>
                </a:path>
              </a:pathLst>
            </a:custGeom>
            <a:ln w="198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820924" y="2671572"/>
              <a:ext cx="978535" cy="2489200"/>
            </a:xfrm>
            <a:custGeom>
              <a:avLst/>
              <a:gdLst/>
              <a:ahLst/>
              <a:cxnLst/>
              <a:rect l="l" t="t" r="r" b="b"/>
              <a:pathLst>
                <a:path w="978535" h="2489200">
                  <a:moveTo>
                    <a:pt x="0" y="86867"/>
                  </a:moveTo>
                  <a:lnTo>
                    <a:pt x="59436" y="0"/>
                  </a:lnTo>
                  <a:lnTo>
                    <a:pt x="115824" y="0"/>
                  </a:lnTo>
                </a:path>
                <a:path w="978535" h="2489200">
                  <a:moveTo>
                    <a:pt x="678179" y="830579"/>
                  </a:moveTo>
                  <a:lnTo>
                    <a:pt x="684276" y="740663"/>
                  </a:lnTo>
                  <a:lnTo>
                    <a:pt x="740663" y="740663"/>
                  </a:lnTo>
                </a:path>
                <a:path w="978535" h="2489200">
                  <a:moveTo>
                    <a:pt x="722376" y="998219"/>
                  </a:moveTo>
                  <a:lnTo>
                    <a:pt x="920496" y="1153667"/>
                  </a:lnTo>
                  <a:lnTo>
                    <a:pt x="978408" y="1153667"/>
                  </a:lnTo>
                </a:path>
                <a:path w="978535" h="2489200">
                  <a:moveTo>
                    <a:pt x="146303" y="2319528"/>
                  </a:moveTo>
                  <a:lnTo>
                    <a:pt x="257556" y="2488691"/>
                  </a:lnTo>
                  <a:lnTo>
                    <a:pt x="313944" y="2488691"/>
                  </a:lnTo>
                </a:path>
              </a:pathLst>
            </a:custGeom>
            <a:ln w="9144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062329" y="3920490"/>
            <a:ext cx="752475" cy="394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Middle</a:t>
            </a:r>
            <a:r>
              <a:rPr sz="1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0">
                <a:solidFill>
                  <a:srgbClr val="FFFFFF"/>
                </a:solidFill>
                <a:latin typeface="Calibri"/>
                <a:cs typeface="Calibri"/>
              </a:rPr>
              <a:t>East</a:t>
            </a:r>
            <a:endParaRPr sz="1200">
              <a:latin typeface="Calibri"/>
              <a:cs typeface="Calibri"/>
            </a:endParaRPr>
          </a:p>
          <a:p>
            <a:pPr marL="3810" algn="ctr">
              <a:lnSpc>
                <a:spcPct val="100000"/>
              </a:lnSpc>
              <a:spcBef>
                <a:spcPts val="20"/>
              </a:spcBef>
            </a:pPr>
            <a:r>
              <a:rPr sz="1200" spc="-20">
                <a:solidFill>
                  <a:srgbClr val="FFFFFF"/>
                </a:solidFill>
                <a:latin typeface="Calibri"/>
                <a:cs typeface="Calibri"/>
              </a:rPr>
              <a:t>48.3%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204973" y="2681985"/>
            <a:ext cx="386715" cy="39433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3180" marR="5080" indent="-30480">
              <a:lnSpc>
                <a:spcPct val="101699"/>
              </a:lnSpc>
              <a:spcBef>
                <a:spcPts val="75"/>
              </a:spcBef>
            </a:pP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Africa </a:t>
            </a:r>
            <a:r>
              <a:rPr sz="1200" spc="-20">
                <a:solidFill>
                  <a:srgbClr val="FFFFFF"/>
                </a:solidFill>
                <a:latin typeface="Calibri"/>
                <a:cs typeface="Calibri"/>
              </a:rPr>
              <a:t>7.2%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943605" y="2507360"/>
            <a:ext cx="10477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solidFill>
                  <a:srgbClr val="404040"/>
                </a:solidFill>
                <a:latin typeface="Calibri"/>
                <a:cs typeface="Calibri"/>
              </a:rPr>
              <a:t>Asia</a:t>
            </a:r>
            <a:r>
              <a:rPr sz="12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404040"/>
                </a:solidFill>
                <a:latin typeface="Calibri"/>
                <a:cs typeface="Calibri"/>
              </a:rPr>
              <a:t>Pacific</a:t>
            </a:r>
            <a:r>
              <a:rPr sz="12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20">
                <a:solidFill>
                  <a:srgbClr val="404040"/>
                </a:solidFill>
                <a:latin typeface="Calibri"/>
                <a:cs typeface="Calibri"/>
              </a:rPr>
              <a:t>2.6%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738120" y="3091688"/>
            <a:ext cx="487045" cy="39433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3345" marR="5080" indent="-81280">
              <a:lnSpc>
                <a:spcPct val="101699"/>
              </a:lnSpc>
              <a:spcBef>
                <a:spcPts val="75"/>
              </a:spcBef>
            </a:pP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Canada </a:t>
            </a:r>
            <a:r>
              <a:rPr sz="1200" spc="-20">
                <a:solidFill>
                  <a:srgbClr val="FFFFFF"/>
                </a:solidFill>
                <a:latin typeface="Calibri"/>
                <a:cs typeface="Calibri"/>
              </a:rPr>
              <a:t>9.7%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657091" y="3207511"/>
            <a:ext cx="6070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solidFill>
                  <a:srgbClr val="404040"/>
                </a:solidFill>
                <a:latin typeface="Calibri"/>
                <a:cs typeface="Calibri"/>
              </a:rPr>
              <a:t>U.S.</a:t>
            </a:r>
            <a:r>
              <a:rPr sz="12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20">
                <a:solidFill>
                  <a:srgbClr val="404040"/>
                </a:solidFill>
                <a:latin typeface="Calibri"/>
                <a:cs typeface="Calibri"/>
              </a:rPr>
              <a:t>4.0%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804920" y="3660775"/>
            <a:ext cx="812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solidFill>
                  <a:srgbClr val="404040"/>
                </a:solidFill>
                <a:latin typeface="Calibri"/>
                <a:cs typeface="Calibri"/>
              </a:rPr>
              <a:t>Mexico</a:t>
            </a:r>
            <a:r>
              <a:rPr sz="12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20">
                <a:solidFill>
                  <a:srgbClr val="404040"/>
                </a:solidFill>
                <a:latin typeface="Calibri"/>
                <a:cs typeface="Calibri"/>
              </a:rPr>
              <a:t>0.4%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499741" y="3872865"/>
            <a:ext cx="1009015" cy="39433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2545" marR="5080" indent="-30480">
              <a:lnSpc>
                <a:spcPct val="101699"/>
              </a:lnSpc>
              <a:spcBef>
                <a:spcPts val="75"/>
              </a:spcBef>
            </a:pP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South</a:t>
            </a:r>
            <a:r>
              <a:rPr sz="1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Central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America</a:t>
            </a:r>
            <a:r>
              <a:rPr sz="1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18.7%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140710" y="4996053"/>
            <a:ext cx="8058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solidFill>
                  <a:srgbClr val="404040"/>
                </a:solidFill>
                <a:latin typeface="Calibri"/>
                <a:cs typeface="Calibri"/>
              </a:rPr>
              <a:t>Europe</a:t>
            </a:r>
            <a:r>
              <a:rPr sz="12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20">
                <a:solidFill>
                  <a:srgbClr val="404040"/>
                </a:solidFill>
                <a:latin typeface="Calibri"/>
                <a:cs typeface="Calibri"/>
              </a:rPr>
              <a:t>0.8%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319908" y="4682744"/>
            <a:ext cx="415925" cy="39433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56515" marR="5080" indent="-44450">
              <a:lnSpc>
                <a:spcPct val="101699"/>
              </a:lnSpc>
              <a:spcBef>
                <a:spcPts val="75"/>
              </a:spcBef>
            </a:pP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Russia </a:t>
            </a:r>
            <a:r>
              <a:rPr sz="1200" spc="-20">
                <a:solidFill>
                  <a:srgbClr val="FFFFFF"/>
                </a:solidFill>
                <a:latin typeface="Calibri"/>
                <a:cs typeface="Calibri"/>
              </a:rPr>
              <a:t>8.4%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78332" y="1983485"/>
            <a:ext cx="3969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>
                <a:solidFill>
                  <a:srgbClr val="404040"/>
                </a:solidFill>
                <a:latin typeface="Calibri"/>
                <a:cs typeface="Calibri"/>
              </a:rPr>
              <a:t>1.73</a:t>
            </a:r>
            <a:r>
              <a:rPr sz="1800" b="1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spc="-10">
                <a:solidFill>
                  <a:srgbClr val="404040"/>
                </a:solidFill>
                <a:latin typeface="Calibri"/>
                <a:cs typeface="Calibri"/>
              </a:rPr>
              <a:t>Trillion</a:t>
            </a:r>
            <a:r>
              <a:rPr sz="1800" b="1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404040"/>
                </a:solidFill>
                <a:latin typeface="Calibri"/>
                <a:cs typeface="Calibri"/>
              </a:rPr>
              <a:t>Barrels</a:t>
            </a:r>
            <a:r>
              <a:rPr sz="1800" b="1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800" b="1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404040"/>
                </a:solidFill>
                <a:latin typeface="Calibri"/>
                <a:cs typeface="Calibri"/>
              </a:rPr>
              <a:t>Oil</a:t>
            </a:r>
            <a:r>
              <a:rPr sz="1800" b="1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404040"/>
                </a:solidFill>
                <a:latin typeface="Calibri"/>
                <a:cs typeface="Calibri"/>
              </a:rPr>
              <a:t>Reserves</a:t>
            </a:r>
            <a:r>
              <a:rPr sz="1800" b="1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spc="-10">
                <a:solidFill>
                  <a:srgbClr val="404040"/>
                </a:solidFill>
                <a:latin typeface="Calibri"/>
                <a:cs typeface="Calibri"/>
              </a:rPr>
              <a:t>(2020)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5750052" y="2500883"/>
            <a:ext cx="3689985" cy="2908300"/>
            <a:chOff x="5750052" y="2500883"/>
            <a:chExt cx="3689985" cy="2908300"/>
          </a:xfrm>
        </p:grpSpPr>
        <p:sp>
          <p:nvSpPr>
            <p:cNvPr id="42" name="object 42"/>
            <p:cNvSpPr/>
            <p:nvPr/>
          </p:nvSpPr>
          <p:spPr>
            <a:xfrm>
              <a:off x="5754624" y="2500883"/>
              <a:ext cx="3685540" cy="2865120"/>
            </a:xfrm>
            <a:custGeom>
              <a:avLst/>
              <a:gdLst/>
              <a:ahLst/>
              <a:cxnLst/>
              <a:rect l="l" t="t" r="r" b="b"/>
              <a:pathLst>
                <a:path w="3685540" h="2865120">
                  <a:moveTo>
                    <a:pt x="0" y="2865119"/>
                  </a:moveTo>
                  <a:lnTo>
                    <a:pt x="0" y="0"/>
                  </a:lnTo>
                </a:path>
                <a:path w="3685540" h="2865120">
                  <a:moveTo>
                    <a:pt x="0" y="2865119"/>
                  </a:moveTo>
                  <a:lnTo>
                    <a:pt x="3685031" y="2865119"/>
                  </a:lnTo>
                </a:path>
              </a:pathLst>
            </a:custGeom>
            <a:ln w="914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524244" y="2551175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63246" y="0"/>
                  </a:moveTo>
                  <a:lnTo>
                    <a:pt x="38629" y="4970"/>
                  </a:lnTo>
                  <a:lnTo>
                    <a:pt x="18526" y="18526"/>
                  </a:lnTo>
                  <a:lnTo>
                    <a:pt x="4970" y="38629"/>
                  </a:lnTo>
                  <a:lnTo>
                    <a:pt x="0" y="63246"/>
                  </a:lnTo>
                  <a:lnTo>
                    <a:pt x="4970" y="87862"/>
                  </a:lnTo>
                  <a:lnTo>
                    <a:pt x="18526" y="107965"/>
                  </a:lnTo>
                  <a:lnTo>
                    <a:pt x="38629" y="121521"/>
                  </a:lnTo>
                  <a:lnTo>
                    <a:pt x="63246" y="126491"/>
                  </a:lnTo>
                  <a:lnTo>
                    <a:pt x="87862" y="121521"/>
                  </a:lnTo>
                  <a:lnTo>
                    <a:pt x="107965" y="107965"/>
                  </a:lnTo>
                  <a:lnTo>
                    <a:pt x="121521" y="87862"/>
                  </a:lnTo>
                  <a:lnTo>
                    <a:pt x="126491" y="63246"/>
                  </a:lnTo>
                  <a:lnTo>
                    <a:pt x="121521" y="38629"/>
                  </a:lnTo>
                  <a:lnTo>
                    <a:pt x="107965" y="18526"/>
                  </a:lnTo>
                  <a:lnTo>
                    <a:pt x="87862" y="4970"/>
                  </a:lnTo>
                  <a:lnTo>
                    <a:pt x="63246" y="0"/>
                  </a:lnTo>
                  <a:close/>
                </a:path>
              </a:pathLst>
            </a:custGeom>
            <a:solidFill>
              <a:srgbClr val="F394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545580" y="2706623"/>
              <a:ext cx="203200" cy="128270"/>
            </a:xfrm>
            <a:custGeom>
              <a:avLst/>
              <a:gdLst/>
              <a:ahLst/>
              <a:cxnLst/>
              <a:rect l="l" t="t" r="r" b="b"/>
              <a:pathLst>
                <a:path w="203200" h="128269">
                  <a:moveTo>
                    <a:pt x="202692" y="63246"/>
                  </a:moveTo>
                  <a:lnTo>
                    <a:pt x="197713" y="38633"/>
                  </a:lnTo>
                  <a:lnTo>
                    <a:pt x="184162" y="18529"/>
                  </a:lnTo>
                  <a:lnTo>
                    <a:pt x="164058" y="4978"/>
                  </a:lnTo>
                  <a:lnTo>
                    <a:pt x="139446" y="0"/>
                  </a:lnTo>
                  <a:lnTo>
                    <a:pt x="114820" y="4978"/>
                  </a:lnTo>
                  <a:lnTo>
                    <a:pt x="100203" y="14833"/>
                  </a:lnTo>
                  <a:lnTo>
                    <a:pt x="87858" y="6502"/>
                  </a:lnTo>
                  <a:lnTo>
                    <a:pt x="63246" y="1524"/>
                  </a:lnTo>
                  <a:lnTo>
                    <a:pt x="38620" y="6502"/>
                  </a:lnTo>
                  <a:lnTo>
                    <a:pt x="18516" y="20053"/>
                  </a:lnTo>
                  <a:lnTo>
                    <a:pt x="4965" y="40157"/>
                  </a:lnTo>
                  <a:lnTo>
                    <a:pt x="0" y="64770"/>
                  </a:lnTo>
                  <a:lnTo>
                    <a:pt x="4965" y="89395"/>
                  </a:lnTo>
                  <a:lnTo>
                    <a:pt x="18516" y="109499"/>
                  </a:lnTo>
                  <a:lnTo>
                    <a:pt x="38620" y="123050"/>
                  </a:lnTo>
                  <a:lnTo>
                    <a:pt x="63246" y="128016"/>
                  </a:lnTo>
                  <a:lnTo>
                    <a:pt x="87858" y="123050"/>
                  </a:lnTo>
                  <a:lnTo>
                    <a:pt x="102463" y="113207"/>
                  </a:lnTo>
                  <a:lnTo>
                    <a:pt x="114820" y="121526"/>
                  </a:lnTo>
                  <a:lnTo>
                    <a:pt x="139446" y="126492"/>
                  </a:lnTo>
                  <a:lnTo>
                    <a:pt x="164058" y="121526"/>
                  </a:lnTo>
                  <a:lnTo>
                    <a:pt x="184162" y="107975"/>
                  </a:lnTo>
                  <a:lnTo>
                    <a:pt x="197713" y="87871"/>
                  </a:lnTo>
                  <a:lnTo>
                    <a:pt x="202692" y="63246"/>
                  </a:lnTo>
                  <a:close/>
                </a:path>
              </a:pathLst>
            </a:custGeom>
            <a:solidFill>
              <a:srgbClr val="9F00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16496" y="2880359"/>
              <a:ext cx="126492" cy="126491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08520" y="3474719"/>
              <a:ext cx="126491" cy="126491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18020" y="3697223"/>
              <a:ext cx="126491" cy="12649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33844" y="3904487"/>
              <a:ext cx="126491" cy="126492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18248" y="3912108"/>
              <a:ext cx="259079" cy="169164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74180" y="4291583"/>
              <a:ext cx="126492" cy="126492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74052" y="4664963"/>
              <a:ext cx="126492" cy="12649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75120" y="4951476"/>
              <a:ext cx="126491" cy="126492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906512" y="5050535"/>
              <a:ext cx="126492" cy="126491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077200" y="5137404"/>
              <a:ext cx="259079" cy="196595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13064" y="5282183"/>
              <a:ext cx="126491" cy="126491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228588" y="3739895"/>
              <a:ext cx="155448" cy="256031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096000" y="3203447"/>
              <a:ext cx="126491" cy="126491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6160008" y="2615183"/>
              <a:ext cx="2822575" cy="2733040"/>
            </a:xfrm>
            <a:custGeom>
              <a:avLst/>
              <a:gdLst/>
              <a:ahLst/>
              <a:cxnLst/>
              <a:rect l="l" t="t" r="r" b="b"/>
              <a:pathLst>
                <a:path w="2822575" h="2733040">
                  <a:moveTo>
                    <a:pt x="428243" y="1524"/>
                  </a:moveTo>
                  <a:lnTo>
                    <a:pt x="521208" y="0"/>
                  </a:lnTo>
                  <a:lnTo>
                    <a:pt x="577595" y="0"/>
                  </a:lnTo>
                </a:path>
                <a:path w="2822575" h="2733040">
                  <a:moveTo>
                    <a:pt x="449580" y="158495"/>
                  </a:moveTo>
                  <a:lnTo>
                    <a:pt x="338327" y="284988"/>
                  </a:lnTo>
                  <a:lnTo>
                    <a:pt x="281939" y="284988"/>
                  </a:lnTo>
                </a:path>
                <a:path w="2822575" h="2733040">
                  <a:moveTo>
                    <a:pt x="527303" y="156971"/>
                  </a:moveTo>
                  <a:lnTo>
                    <a:pt x="990599" y="131063"/>
                  </a:lnTo>
                  <a:lnTo>
                    <a:pt x="1048512" y="131063"/>
                  </a:lnTo>
                </a:path>
                <a:path w="2822575" h="2733040">
                  <a:moveTo>
                    <a:pt x="922019" y="330707"/>
                  </a:moveTo>
                  <a:lnTo>
                    <a:pt x="1063751" y="368807"/>
                  </a:lnTo>
                  <a:lnTo>
                    <a:pt x="1120139" y="368807"/>
                  </a:lnTo>
                </a:path>
                <a:path w="2822575" h="2733040">
                  <a:moveTo>
                    <a:pt x="1112519" y="925067"/>
                  </a:moveTo>
                  <a:lnTo>
                    <a:pt x="1327403" y="836676"/>
                  </a:lnTo>
                  <a:lnTo>
                    <a:pt x="1383791" y="836676"/>
                  </a:lnTo>
                </a:path>
                <a:path w="2822575" h="2733040">
                  <a:moveTo>
                    <a:pt x="922019" y="1146047"/>
                  </a:moveTo>
                  <a:lnTo>
                    <a:pt x="1316736" y="1159764"/>
                  </a:lnTo>
                  <a:lnTo>
                    <a:pt x="1374647" y="1159764"/>
                  </a:lnTo>
                </a:path>
                <a:path w="2822575" h="2733040">
                  <a:moveTo>
                    <a:pt x="1039367" y="1354835"/>
                  </a:moveTo>
                  <a:lnTo>
                    <a:pt x="1094232" y="1597152"/>
                  </a:lnTo>
                </a:path>
                <a:path w="2822575" h="2733040">
                  <a:moveTo>
                    <a:pt x="1356360" y="1362455"/>
                  </a:moveTo>
                  <a:lnTo>
                    <a:pt x="1690115" y="1450847"/>
                  </a:lnTo>
                  <a:lnTo>
                    <a:pt x="1748027" y="1450847"/>
                  </a:lnTo>
                </a:path>
                <a:path w="2822575" h="2733040">
                  <a:moveTo>
                    <a:pt x="1223771" y="1405127"/>
                  </a:moveTo>
                  <a:lnTo>
                    <a:pt x="1408175" y="1656588"/>
                  </a:lnTo>
                  <a:lnTo>
                    <a:pt x="1464564" y="1656588"/>
                  </a:lnTo>
                </a:path>
                <a:path w="2822575" h="2733040">
                  <a:moveTo>
                    <a:pt x="678180" y="1741932"/>
                  </a:moveTo>
                  <a:lnTo>
                    <a:pt x="524256" y="1854708"/>
                  </a:lnTo>
                  <a:lnTo>
                    <a:pt x="467867" y="1854708"/>
                  </a:lnTo>
                </a:path>
                <a:path w="2822575" h="2733040">
                  <a:moveTo>
                    <a:pt x="1178051" y="2113788"/>
                  </a:moveTo>
                  <a:lnTo>
                    <a:pt x="1426464" y="2125979"/>
                  </a:lnTo>
                  <a:lnTo>
                    <a:pt x="1482851" y="2125979"/>
                  </a:lnTo>
                </a:path>
                <a:path w="2822575" h="2733040">
                  <a:moveTo>
                    <a:pt x="580643" y="2400299"/>
                  </a:moveTo>
                  <a:lnTo>
                    <a:pt x="598932" y="2578608"/>
                  </a:lnTo>
                  <a:lnTo>
                    <a:pt x="656843" y="2578608"/>
                  </a:lnTo>
                </a:path>
                <a:path w="2822575" h="2733040">
                  <a:moveTo>
                    <a:pt x="1812036" y="2502408"/>
                  </a:moveTo>
                  <a:lnTo>
                    <a:pt x="1760219" y="2500884"/>
                  </a:lnTo>
                  <a:lnTo>
                    <a:pt x="1702308" y="2500884"/>
                  </a:lnTo>
                </a:path>
                <a:path w="2822575" h="2733040">
                  <a:moveTo>
                    <a:pt x="1982723" y="2586228"/>
                  </a:moveTo>
                  <a:lnTo>
                    <a:pt x="2319527" y="2042159"/>
                  </a:lnTo>
                </a:path>
                <a:path w="2822575" h="2733040">
                  <a:moveTo>
                    <a:pt x="2100071" y="2622804"/>
                  </a:moveTo>
                  <a:lnTo>
                    <a:pt x="2712719" y="2052827"/>
                  </a:lnTo>
                  <a:lnTo>
                    <a:pt x="2770632" y="2052827"/>
                  </a:lnTo>
                </a:path>
                <a:path w="2822575" h="2733040">
                  <a:moveTo>
                    <a:pt x="2115312" y="2656331"/>
                  </a:moveTo>
                  <a:lnTo>
                    <a:pt x="2766060" y="2380488"/>
                  </a:lnTo>
                  <a:lnTo>
                    <a:pt x="2822447" y="2380488"/>
                  </a:lnTo>
                </a:path>
                <a:path w="2822575" h="2733040">
                  <a:moveTo>
                    <a:pt x="2417064" y="2732531"/>
                  </a:moveTo>
                  <a:lnTo>
                    <a:pt x="2654808" y="2668524"/>
                  </a:lnTo>
                  <a:lnTo>
                    <a:pt x="2712719" y="2668524"/>
                  </a:lnTo>
                </a:path>
                <a:path w="2822575" h="2733040">
                  <a:moveTo>
                    <a:pt x="132587" y="1190243"/>
                  </a:moveTo>
                  <a:lnTo>
                    <a:pt x="249936" y="1088135"/>
                  </a:lnTo>
                  <a:lnTo>
                    <a:pt x="307847" y="1088135"/>
                  </a:lnTo>
                </a:path>
                <a:path w="2822575" h="2733040">
                  <a:moveTo>
                    <a:pt x="163067" y="1318259"/>
                  </a:moveTo>
                  <a:lnTo>
                    <a:pt x="266700" y="1444752"/>
                  </a:lnTo>
                  <a:lnTo>
                    <a:pt x="324612" y="1444752"/>
                  </a:lnTo>
                </a:path>
                <a:path w="2822575" h="2733040">
                  <a:moveTo>
                    <a:pt x="0" y="653795"/>
                  </a:moveTo>
                  <a:lnTo>
                    <a:pt x="108203" y="652271"/>
                  </a:lnTo>
                  <a:lnTo>
                    <a:pt x="166115" y="652271"/>
                  </a:lnTo>
                </a:path>
              </a:pathLst>
            </a:custGeom>
            <a:ln w="9144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6764273" y="2503170"/>
            <a:ext cx="3714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>
                <a:solidFill>
                  <a:srgbClr val="404040"/>
                </a:solidFill>
                <a:latin typeface="Calibri"/>
                <a:cs typeface="Calibri"/>
              </a:rPr>
              <a:t>Maya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7772781" y="6498971"/>
            <a:ext cx="188468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>
                <a:solidFill>
                  <a:srgbClr val="404040"/>
                </a:solidFill>
                <a:latin typeface="Calibri"/>
                <a:cs typeface="Calibri"/>
              </a:rPr>
              <a:t>Source:</a:t>
            </a:r>
            <a:r>
              <a:rPr sz="10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000">
                <a:solidFill>
                  <a:srgbClr val="404040"/>
                </a:solidFill>
                <a:latin typeface="Calibri"/>
                <a:cs typeface="Calibri"/>
              </a:rPr>
              <a:t>Valero</a:t>
            </a:r>
            <a:r>
              <a:rPr sz="10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00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0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000">
                <a:solidFill>
                  <a:srgbClr val="404040"/>
                </a:solidFill>
                <a:latin typeface="Calibri"/>
                <a:cs typeface="Calibri"/>
              </a:rPr>
              <a:t>industry</a:t>
            </a:r>
            <a:r>
              <a:rPr sz="10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000" spc="-10">
                <a:solidFill>
                  <a:srgbClr val="404040"/>
                </a:solidFill>
                <a:latin typeface="Calibri"/>
                <a:cs typeface="Calibri"/>
              </a:rPr>
              <a:t>reports.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0" name="object 9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>
                <a:solidFill>
                  <a:srgbClr val="006FAB"/>
                </a:solidFill>
              </a:rPr>
              <a:t>4</a:t>
            </a:fld>
            <a:endParaRPr spc="-50">
              <a:solidFill>
                <a:srgbClr val="006FAB"/>
              </a:solidFill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799582" y="2786837"/>
            <a:ext cx="6184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solidFill>
                  <a:srgbClr val="404040"/>
                </a:solidFill>
                <a:latin typeface="Calibri"/>
                <a:cs typeface="Calibri"/>
              </a:rPr>
              <a:t>Cold</a:t>
            </a:r>
            <a:r>
              <a:rPr sz="12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20">
                <a:solidFill>
                  <a:srgbClr val="404040"/>
                </a:solidFill>
                <a:latin typeface="Calibri"/>
                <a:cs typeface="Calibri"/>
              </a:rPr>
              <a:t>Lake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233666" y="2581051"/>
            <a:ext cx="520065" cy="49847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200" spc="-25">
                <a:solidFill>
                  <a:srgbClr val="404040"/>
                </a:solidFill>
                <a:latin typeface="Calibri"/>
                <a:cs typeface="Calibri"/>
              </a:rPr>
              <a:t>WCS</a:t>
            </a:r>
            <a:endParaRPr sz="1200">
              <a:latin typeface="Calibri"/>
              <a:cs typeface="Calibri"/>
            </a:endParaRPr>
          </a:p>
          <a:p>
            <a:pPr marL="85090">
              <a:lnSpc>
                <a:spcPct val="100000"/>
              </a:lnSpc>
              <a:spcBef>
                <a:spcPts val="425"/>
              </a:spcBef>
            </a:pPr>
            <a:r>
              <a:rPr sz="1200" spc="-10">
                <a:solidFill>
                  <a:srgbClr val="404040"/>
                </a:solidFill>
                <a:latin typeface="Calibri"/>
                <a:cs typeface="Calibri"/>
              </a:rPr>
              <a:t>Basrah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637526" y="3339210"/>
            <a:ext cx="87756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solidFill>
                  <a:srgbClr val="404040"/>
                </a:solidFill>
                <a:latin typeface="Calibri"/>
                <a:cs typeface="Calibri"/>
              </a:rPr>
              <a:t>Arab</a:t>
            </a:r>
            <a:r>
              <a:rPr sz="12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10">
                <a:solidFill>
                  <a:srgbClr val="404040"/>
                </a:solidFill>
                <a:latin typeface="Calibri"/>
                <a:cs typeface="Calibri"/>
              </a:rPr>
              <a:t>Medium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632318" y="3662298"/>
            <a:ext cx="10102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solidFill>
                  <a:srgbClr val="404040"/>
                </a:solidFill>
                <a:latin typeface="Calibri"/>
                <a:cs typeface="Calibri"/>
              </a:rPr>
              <a:t>Southern</a:t>
            </a:r>
            <a:r>
              <a:rPr sz="12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10">
                <a:solidFill>
                  <a:srgbClr val="404040"/>
                </a:solidFill>
                <a:latin typeface="Calibri"/>
                <a:cs typeface="Calibri"/>
              </a:rPr>
              <a:t>Green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083932" y="4211573"/>
            <a:ext cx="3422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>
                <a:solidFill>
                  <a:srgbClr val="404040"/>
                </a:solidFill>
                <a:latin typeface="Calibri"/>
                <a:cs typeface="Calibri"/>
              </a:rPr>
              <a:t>Mars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933181" y="3952697"/>
            <a:ext cx="65532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solidFill>
                  <a:srgbClr val="404040"/>
                </a:solidFill>
                <a:latin typeface="Calibri"/>
                <a:cs typeface="Calibri"/>
              </a:rPr>
              <a:t>Arab</a:t>
            </a:r>
            <a:r>
              <a:rPr sz="12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10">
                <a:solidFill>
                  <a:srgbClr val="404040"/>
                </a:solidFill>
                <a:latin typeface="Calibri"/>
                <a:cs typeface="Calibri"/>
              </a:rPr>
              <a:t>Light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650226" y="4159707"/>
            <a:ext cx="3060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>
                <a:solidFill>
                  <a:srgbClr val="404040"/>
                </a:solidFill>
                <a:latin typeface="Calibri"/>
                <a:cs typeface="Calibri"/>
              </a:rPr>
              <a:t>WTS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105905" y="4358132"/>
            <a:ext cx="4984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>
                <a:solidFill>
                  <a:srgbClr val="404040"/>
                </a:solidFill>
                <a:latin typeface="Calibri"/>
                <a:cs typeface="Calibri"/>
              </a:rPr>
              <a:t>Oriente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669148" y="4629657"/>
            <a:ext cx="2832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>
                <a:solidFill>
                  <a:srgbClr val="404040"/>
                </a:solidFill>
                <a:latin typeface="Calibri"/>
                <a:cs typeface="Calibri"/>
              </a:rPr>
              <a:t>ANS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841363" y="5081778"/>
            <a:ext cx="3359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>
                <a:solidFill>
                  <a:srgbClr val="404040"/>
                </a:solidFill>
                <a:latin typeface="Calibri"/>
                <a:cs typeface="Calibri"/>
              </a:rPr>
              <a:t>Dalia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469251" y="5004054"/>
            <a:ext cx="3689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>
                <a:solidFill>
                  <a:srgbClr val="404040"/>
                </a:solidFill>
                <a:latin typeface="Calibri"/>
                <a:cs typeface="Calibri"/>
              </a:rPr>
              <a:t>Brent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8145018" y="4433442"/>
            <a:ext cx="6724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solidFill>
                  <a:srgbClr val="404040"/>
                </a:solidFill>
                <a:latin typeface="Calibri"/>
                <a:cs typeface="Calibri"/>
              </a:rPr>
              <a:t>Eagle</a:t>
            </a:r>
            <a:r>
              <a:rPr sz="12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20">
                <a:solidFill>
                  <a:srgbClr val="404040"/>
                </a:solidFill>
                <a:latin typeface="Calibri"/>
                <a:cs typeface="Calibri"/>
              </a:rPr>
              <a:t>Ford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8897239" y="4502911"/>
            <a:ext cx="650875" cy="87820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509"/>
              </a:spcBef>
            </a:pPr>
            <a:r>
              <a:rPr sz="1200" spc="-10">
                <a:solidFill>
                  <a:srgbClr val="404040"/>
                </a:solidFill>
                <a:latin typeface="Calibri"/>
                <a:cs typeface="Calibri"/>
              </a:rPr>
              <a:t>Bakken</a:t>
            </a:r>
            <a:endParaRPr sz="1200">
              <a:latin typeface="Calibri"/>
              <a:cs typeface="Calibri"/>
            </a:endParaRPr>
          </a:p>
          <a:p>
            <a:pPr marL="256540">
              <a:lnSpc>
                <a:spcPct val="100000"/>
              </a:lnSpc>
              <a:spcBef>
                <a:spcPts val="415"/>
              </a:spcBef>
            </a:pPr>
            <a:r>
              <a:rPr sz="1200" spc="-25">
                <a:solidFill>
                  <a:srgbClr val="404040"/>
                </a:solidFill>
                <a:latin typeface="Calibri"/>
                <a:cs typeface="Calibri"/>
              </a:rPr>
              <a:t>WTI</a:t>
            </a:r>
            <a:endParaRPr sz="1200">
              <a:latin typeface="Calibri"/>
              <a:cs typeface="Calibri"/>
            </a:endParaRPr>
          </a:p>
          <a:p>
            <a:pPr marL="122555">
              <a:lnSpc>
                <a:spcPct val="100000"/>
              </a:lnSpc>
              <a:spcBef>
                <a:spcPts val="25"/>
              </a:spcBef>
            </a:pPr>
            <a:r>
              <a:rPr sz="1200" spc="-10">
                <a:solidFill>
                  <a:srgbClr val="404040"/>
                </a:solidFill>
                <a:latin typeface="Calibri"/>
                <a:cs typeface="Calibri"/>
              </a:rPr>
              <a:t>Midland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solidFill>
                  <a:srgbClr val="404040"/>
                </a:solidFill>
                <a:latin typeface="Calibri"/>
                <a:cs typeface="Calibri"/>
              </a:rPr>
              <a:t>WTI</a:t>
            </a:r>
            <a:r>
              <a:rPr sz="1200" spc="-20">
                <a:solidFill>
                  <a:srgbClr val="404040"/>
                </a:solidFill>
                <a:latin typeface="Calibri"/>
                <a:cs typeface="Calibri"/>
              </a:rPr>
              <a:t> Light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6492621" y="3591559"/>
            <a:ext cx="3587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>
                <a:solidFill>
                  <a:srgbClr val="404040"/>
                </a:solidFill>
                <a:latin typeface="Calibri"/>
                <a:cs typeface="Calibri"/>
              </a:rPr>
              <a:t>Napo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6510019" y="3948176"/>
            <a:ext cx="4686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>
                <a:solidFill>
                  <a:srgbClr val="404040"/>
                </a:solidFill>
                <a:latin typeface="Calibri"/>
                <a:cs typeface="Calibri"/>
              </a:rPr>
              <a:t>Castilla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350000" y="3155441"/>
            <a:ext cx="4311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>
                <a:solidFill>
                  <a:srgbClr val="404040"/>
                </a:solidFill>
                <a:latin typeface="Calibri"/>
                <a:cs typeface="Calibri"/>
              </a:rPr>
              <a:t>Merey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5409691" y="5246065"/>
            <a:ext cx="2190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>
                <a:solidFill>
                  <a:srgbClr val="585858"/>
                </a:solidFill>
                <a:latin typeface="Calibri"/>
                <a:cs typeface="Calibri"/>
              </a:rPr>
              <a:t>0.0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5409691" y="4530090"/>
            <a:ext cx="218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>
                <a:solidFill>
                  <a:srgbClr val="585858"/>
                </a:solidFill>
                <a:latin typeface="Calibri"/>
                <a:cs typeface="Calibri"/>
              </a:rPr>
              <a:t>1.0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409691" y="3813429"/>
            <a:ext cx="218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>
                <a:solidFill>
                  <a:srgbClr val="585858"/>
                </a:solidFill>
                <a:latin typeface="Calibri"/>
                <a:cs typeface="Calibri"/>
              </a:rPr>
              <a:t>2.0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5409691" y="3096895"/>
            <a:ext cx="218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>
                <a:solidFill>
                  <a:srgbClr val="585858"/>
                </a:solidFill>
                <a:latin typeface="Calibri"/>
                <a:cs typeface="Calibri"/>
              </a:rPr>
              <a:t>3.0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409691" y="2380234"/>
            <a:ext cx="218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>
                <a:solidFill>
                  <a:srgbClr val="585858"/>
                </a:solidFill>
                <a:latin typeface="Calibri"/>
                <a:cs typeface="Calibri"/>
              </a:rPr>
              <a:t>4.0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665978" y="5444134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>
                <a:solidFill>
                  <a:srgbClr val="585858"/>
                </a:solidFill>
                <a:latin typeface="Calibri"/>
                <a:cs typeface="Calibri"/>
              </a:rPr>
              <a:t>10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6403085" y="5444134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>
                <a:solidFill>
                  <a:srgbClr val="585858"/>
                </a:solidFill>
                <a:latin typeface="Calibri"/>
                <a:cs typeface="Calibri"/>
              </a:rPr>
              <a:t>20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7139685" y="5444134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>
                <a:solidFill>
                  <a:srgbClr val="585858"/>
                </a:solidFill>
                <a:latin typeface="Calibri"/>
                <a:cs typeface="Calibri"/>
              </a:rPr>
              <a:t>30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7876793" y="5444134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>
                <a:solidFill>
                  <a:srgbClr val="585858"/>
                </a:solidFill>
                <a:latin typeface="Calibri"/>
                <a:cs typeface="Calibri"/>
              </a:rPr>
              <a:t>40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8613775" y="5444134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>
                <a:solidFill>
                  <a:srgbClr val="585858"/>
                </a:solidFill>
                <a:latin typeface="Calibri"/>
                <a:cs typeface="Calibri"/>
              </a:rPr>
              <a:t>50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9350502" y="5444134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>
                <a:solidFill>
                  <a:srgbClr val="585858"/>
                </a:solidFill>
                <a:latin typeface="Calibri"/>
                <a:cs typeface="Calibri"/>
              </a:rPr>
              <a:t>60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6671818" y="2023998"/>
            <a:ext cx="1651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>
                <a:solidFill>
                  <a:srgbClr val="404040"/>
                </a:solidFill>
                <a:latin typeface="Calibri"/>
                <a:cs typeface="Calibri"/>
              </a:rPr>
              <a:t>Crude</a:t>
            </a:r>
            <a:r>
              <a:rPr sz="1800" b="1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404040"/>
                </a:solidFill>
                <a:latin typeface="Calibri"/>
                <a:cs typeface="Calibri"/>
              </a:rPr>
              <a:t>Oil</a:t>
            </a:r>
            <a:r>
              <a:rPr sz="1800" b="1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spc="-10">
                <a:solidFill>
                  <a:srgbClr val="404040"/>
                </a:solidFill>
                <a:latin typeface="Calibri"/>
                <a:cs typeface="Calibri"/>
              </a:rPr>
              <a:t>Quality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44100" y="6440423"/>
            <a:ext cx="1447800" cy="25603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423416"/>
            <a:ext cx="1693545" cy="58419"/>
          </a:xfrm>
          <a:custGeom>
            <a:avLst/>
            <a:gdLst/>
            <a:ahLst/>
            <a:cxnLst/>
            <a:rect l="l" t="t" r="r" b="b"/>
            <a:pathLst>
              <a:path w="1693545" h="58419">
                <a:moveTo>
                  <a:pt x="1693418" y="0"/>
                </a:moveTo>
                <a:lnTo>
                  <a:pt x="0" y="0"/>
                </a:lnTo>
                <a:lnTo>
                  <a:pt x="0" y="57911"/>
                </a:lnTo>
                <a:lnTo>
                  <a:pt x="1693418" y="57911"/>
                </a:lnTo>
                <a:lnTo>
                  <a:pt x="1693418" y="0"/>
                </a:lnTo>
                <a:close/>
              </a:path>
            </a:pathLst>
          </a:custGeom>
          <a:solidFill>
            <a:srgbClr val="006F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04416" y="1452372"/>
            <a:ext cx="546100" cy="0"/>
          </a:xfrm>
          <a:custGeom>
            <a:avLst/>
            <a:gdLst/>
            <a:ahLst/>
            <a:cxnLst/>
            <a:rect l="l" t="t" r="r" b="b"/>
            <a:pathLst>
              <a:path w="546100">
                <a:moveTo>
                  <a:pt x="0" y="0"/>
                </a:moveTo>
                <a:lnTo>
                  <a:pt x="545719" y="0"/>
                </a:lnTo>
              </a:path>
            </a:pathLst>
          </a:custGeom>
          <a:ln w="57912">
            <a:solidFill>
              <a:srgbClr val="006F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55164" y="1429511"/>
            <a:ext cx="9737725" cy="15875"/>
          </a:xfrm>
          <a:custGeom>
            <a:avLst/>
            <a:gdLst/>
            <a:ahLst/>
            <a:cxnLst/>
            <a:rect l="l" t="t" r="r" b="b"/>
            <a:pathLst>
              <a:path w="9737725" h="15875">
                <a:moveTo>
                  <a:pt x="0" y="15366"/>
                </a:moveTo>
                <a:lnTo>
                  <a:pt x="9737598" y="0"/>
                </a:lnTo>
              </a:path>
            </a:pathLst>
          </a:custGeom>
          <a:ln w="6096">
            <a:solidFill>
              <a:srgbClr val="FFC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5759" y="108204"/>
            <a:ext cx="134111" cy="13411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3880" y="108204"/>
            <a:ext cx="134112" cy="13411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2668" y="108204"/>
            <a:ext cx="134112" cy="13411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79932" y="108204"/>
            <a:ext cx="134112" cy="134112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2694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>
                <a:solidFill>
                  <a:srgbClr val="000000"/>
                </a:solidFill>
                <a:latin typeface="Arial"/>
              </a:rPr>
              <a:t>Crude</a:t>
            </a:r>
            <a:r>
              <a:rPr lang="en-US" spc="-45">
                <a:solidFill>
                  <a:srgbClr val="000000"/>
                </a:solidFill>
                <a:latin typeface="Arial"/>
              </a:rPr>
              <a:t> O</a:t>
            </a:r>
            <a:r>
              <a:rPr lang="en-US">
                <a:solidFill>
                  <a:srgbClr val="000000"/>
                </a:solidFill>
                <a:latin typeface="Arial"/>
              </a:rPr>
              <a:t>il</a:t>
            </a:r>
            <a:r>
              <a:rPr lang="en-US" spc="-40">
                <a:solidFill>
                  <a:srgbClr val="000000"/>
                </a:solidFill>
                <a:latin typeface="Arial"/>
              </a:rPr>
              <a:t> D</a:t>
            </a:r>
            <a:r>
              <a:rPr lang="en-US">
                <a:solidFill>
                  <a:srgbClr val="000000"/>
                </a:solidFill>
                <a:latin typeface="Arial"/>
              </a:rPr>
              <a:t>iscounts</a:t>
            </a:r>
            <a:r>
              <a:rPr lang="en-US" spc="-80">
                <a:solidFill>
                  <a:srgbClr val="000000"/>
                </a:solidFill>
                <a:latin typeface="Arial"/>
              </a:rPr>
              <a:t> R</a:t>
            </a:r>
            <a:r>
              <a:rPr lang="en-US">
                <a:solidFill>
                  <a:srgbClr val="000000"/>
                </a:solidFill>
                <a:latin typeface="Arial"/>
              </a:rPr>
              <a:t>elative</a:t>
            </a:r>
            <a:r>
              <a:rPr lang="en-US" spc="-65">
                <a:solidFill>
                  <a:srgbClr val="000000"/>
                </a:solidFill>
                <a:latin typeface="Arial"/>
              </a:rPr>
              <a:t> </a:t>
            </a:r>
            <a:r>
              <a:rPr lang="en-US">
                <a:solidFill>
                  <a:srgbClr val="000000"/>
                </a:solidFill>
                <a:latin typeface="Arial"/>
              </a:rPr>
              <a:t>to</a:t>
            </a:r>
            <a:r>
              <a:rPr lang="en-US" spc="-40">
                <a:solidFill>
                  <a:srgbClr val="000000"/>
                </a:solidFill>
                <a:latin typeface="Arial"/>
              </a:rPr>
              <a:t> </a:t>
            </a:r>
            <a:r>
              <a:rPr lang="en-US">
                <a:solidFill>
                  <a:srgbClr val="000000"/>
                </a:solidFill>
                <a:latin typeface="Arial"/>
              </a:rPr>
              <a:t>ICE</a:t>
            </a:r>
            <a:r>
              <a:rPr lang="en-US" spc="-25">
                <a:solidFill>
                  <a:srgbClr val="000000"/>
                </a:solidFill>
                <a:latin typeface="Arial"/>
              </a:rPr>
              <a:t> </a:t>
            </a:r>
            <a:r>
              <a:rPr lang="en-US" spc="-10">
                <a:solidFill>
                  <a:srgbClr val="000000"/>
                </a:solidFill>
                <a:latin typeface="Arial"/>
              </a:rPr>
              <a:t>Brent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1462786" y="1887982"/>
            <a:ext cx="9813925" cy="3862704"/>
            <a:chOff x="1462786" y="1887982"/>
            <a:chExt cx="9813925" cy="3862704"/>
          </a:xfrm>
        </p:grpSpPr>
        <p:sp>
          <p:nvSpPr>
            <p:cNvPr id="12" name="object 12"/>
            <p:cNvSpPr/>
            <p:nvPr/>
          </p:nvSpPr>
          <p:spPr>
            <a:xfrm>
              <a:off x="1488948" y="1912620"/>
              <a:ext cx="0" cy="3834765"/>
            </a:xfrm>
            <a:custGeom>
              <a:avLst/>
              <a:gdLst/>
              <a:ahLst/>
              <a:cxnLst/>
              <a:rect l="l" t="t" r="r" b="b"/>
              <a:pathLst>
                <a:path h="3834765">
                  <a:moveTo>
                    <a:pt x="0" y="3834383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88186" y="3507486"/>
              <a:ext cx="4067810" cy="1344295"/>
            </a:xfrm>
            <a:custGeom>
              <a:avLst/>
              <a:gdLst/>
              <a:ahLst/>
              <a:cxnLst/>
              <a:rect l="l" t="t" r="r" b="b"/>
              <a:pathLst>
                <a:path w="4067810" h="1344295">
                  <a:moveTo>
                    <a:pt x="0" y="60960"/>
                  </a:moveTo>
                  <a:lnTo>
                    <a:pt x="813815" y="0"/>
                  </a:lnTo>
                  <a:lnTo>
                    <a:pt x="1627632" y="519683"/>
                  </a:lnTo>
                  <a:lnTo>
                    <a:pt x="2441448" y="1132332"/>
                  </a:lnTo>
                  <a:lnTo>
                    <a:pt x="3255264" y="1344168"/>
                  </a:lnTo>
                  <a:lnTo>
                    <a:pt x="4067555" y="568451"/>
                  </a:lnTo>
                </a:path>
              </a:pathLst>
            </a:custGeom>
            <a:ln w="50292">
              <a:solidFill>
                <a:srgbClr val="7E7E7E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488186" y="2594610"/>
              <a:ext cx="9763125" cy="1082040"/>
            </a:xfrm>
            <a:custGeom>
              <a:avLst/>
              <a:gdLst/>
              <a:ahLst/>
              <a:cxnLst/>
              <a:rect l="l" t="t" r="r" b="b"/>
              <a:pathLst>
                <a:path w="9763125" h="1082039">
                  <a:moveTo>
                    <a:pt x="0" y="0"/>
                  </a:moveTo>
                  <a:lnTo>
                    <a:pt x="813815" y="265175"/>
                  </a:lnTo>
                  <a:lnTo>
                    <a:pt x="1627632" y="426719"/>
                  </a:lnTo>
                  <a:lnTo>
                    <a:pt x="2441448" y="928115"/>
                  </a:lnTo>
                  <a:lnTo>
                    <a:pt x="3255264" y="1082039"/>
                  </a:lnTo>
                  <a:lnTo>
                    <a:pt x="4067555" y="487679"/>
                  </a:lnTo>
                  <a:lnTo>
                    <a:pt x="4881372" y="431291"/>
                  </a:lnTo>
                  <a:lnTo>
                    <a:pt x="5695188" y="167639"/>
                  </a:lnTo>
                  <a:lnTo>
                    <a:pt x="6509004" y="477012"/>
                  </a:lnTo>
                  <a:lnTo>
                    <a:pt x="7322819" y="167639"/>
                  </a:lnTo>
                  <a:lnTo>
                    <a:pt x="8136636" y="467867"/>
                  </a:lnTo>
                  <a:lnTo>
                    <a:pt x="8950452" y="313943"/>
                  </a:lnTo>
                  <a:lnTo>
                    <a:pt x="9762744" y="150875"/>
                  </a:lnTo>
                </a:path>
              </a:pathLst>
            </a:custGeom>
            <a:ln w="50292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88186" y="1913382"/>
              <a:ext cx="4067810" cy="425450"/>
            </a:xfrm>
            <a:custGeom>
              <a:avLst/>
              <a:gdLst/>
              <a:ahLst/>
              <a:cxnLst/>
              <a:rect l="l" t="t" r="r" b="b"/>
              <a:pathLst>
                <a:path w="4067810" h="425450">
                  <a:moveTo>
                    <a:pt x="0" y="0"/>
                  </a:moveTo>
                  <a:lnTo>
                    <a:pt x="813815" y="185927"/>
                  </a:lnTo>
                  <a:lnTo>
                    <a:pt x="1627632" y="425195"/>
                  </a:lnTo>
                  <a:lnTo>
                    <a:pt x="2441448" y="362712"/>
                  </a:lnTo>
                  <a:lnTo>
                    <a:pt x="3255264" y="51815"/>
                  </a:lnTo>
                  <a:lnTo>
                    <a:pt x="4067555" y="192023"/>
                  </a:lnTo>
                </a:path>
              </a:pathLst>
            </a:custGeom>
            <a:ln w="50292">
              <a:solidFill>
                <a:srgbClr val="FFCF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555741" y="3516630"/>
              <a:ext cx="5695315" cy="807720"/>
            </a:xfrm>
            <a:custGeom>
              <a:avLst/>
              <a:gdLst/>
              <a:ahLst/>
              <a:cxnLst/>
              <a:rect l="l" t="t" r="r" b="b"/>
              <a:pathLst>
                <a:path w="5695315" h="807720">
                  <a:moveTo>
                    <a:pt x="0" y="726948"/>
                  </a:moveTo>
                  <a:lnTo>
                    <a:pt x="813816" y="419100"/>
                  </a:lnTo>
                  <a:lnTo>
                    <a:pt x="1627632" y="374904"/>
                  </a:lnTo>
                  <a:lnTo>
                    <a:pt x="2441448" y="521208"/>
                  </a:lnTo>
                  <a:lnTo>
                    <a:pt x="3255264" y="0"/>
                  </a:lnTo>
                  <a:lnTo>
                    <a:pt x="4069080" y="807720"/>
                  </a:lnTo>
                  <a:lnTo>
                    <a:pt x="4882896" y="661416"/>
                  </a:lnTo>
                  <a:lnTo>
                    <a:pt x="5695188" y="385572"/>
                  </a:lnTo>
                </a:path>
              </a:pathLst>
            </a:custGeom>
            <a:ln w="50292">
              <a:solidFill>
                <a:srgbClr val="8181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555741" y="2273046"/>
              <a:ext cx="5695315" cy="474345"/>
            </a:xfrm>
            <a:custGeom>
              <a:avLst/>
              <a:gdLst/>
              <a:ahLst/>
              <a:cxnLst/>
              <a:rect l="l" t="t" r="r" b="b"/>
              <a:pathLst>
                <a:path w="5695315" h="474344">
                  <a:moveTo>
                    <a:pt x="0" y="0"/>
                  </a:moveTo>
                  <a:lnTo>
                    <a:pt x="813816" y="147827"/>
                  </a:lnTo>
                  <a:lnTo>
                    <a:pt x="1627632" y="190500"/>
                  </a:lnTo>
                  <a:lnTo>
                    <a:pt x="2441448" y="473963"/>
                  </a:lnTo>
                  <a:lnTo>
                    <a:pt x="3255264" y="53339"/>
                  </a:lnTo>
                  <a:lnTo>
                    <a:pt x="4069080" y="77724"/>
                  </a:lnTo>
                  <a:lnTo>
                    <a:pt x="4882896" y="228600"/>
                  </a:lnTo>
                  <a:lnTo>
                    <a:pt x="5695188" y="115824"/>
                  </a:lnTo>
                </a:path>
              </a:pathLst>
            </a:custGeom>
            <a:ln w="50292">
              <a:solidFill>
                <a:srgbClr val="FFC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1050269" y="2441575"/>
            <a:ext cx="262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solidFill>
                  <a:srgbClr val="404040"/>
                </a:solidFill>
                <a:latin typeface="Calibri"/>
                <a:cs typeface="Calibri"/>
              </a:rPr>
              <a:t>-</a:t>
            </a:r>
            <a:r>
              <a:rPr sz="1200" b="1" spc="-25">
                <a:solidFill>
                  <a:srgbClr val="404040"/>
                </a:solidFill>
                <a:latin typeface="Calibri"/>
                <a:cs typeface="Calibri"/>
              </a:rPr>
              <a:t>5%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038078" y="3612642"/>
            <a:ext cx="3397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solidFill>
                  <a:srgbClr val="404040"/>
                </a:solidFill>
                <a:latin typeface="Calibri"/>
                <a:cs typeface="Calibri"/>
              </a:rPr>
              <a:t>-</a:t>
            </a:r>
            <a:r>
              <a:rPr sz="1200" b="1" spc="-25">
                <a:solidFill>
                  <a:srgbClr val="404040"/>
                </a:solidFill>
                <a:latin typeface="Calibri"/>
                <a:cs typeface="Calibri"/>
              </a:rPr>
              <a:t>13%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050269" y="2085594"/>
            <a:ext cx="262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solidFill>
                  <a:srgbClr val="404040"/>
                </a:solidFill>
                <a:latin typeface="Calibri"/>
                <a:cs typeface="Calibri"/>
              </a:rPr>
              <a:t>-</a:t>
            </a:r>
            <a:r>
              <a:rPr sz="1200" b="1" spc="-25">
                <a:solidFill>
                  <a:srgbClr val="404040"/>
                </a:solidFill>
                <a:latin typeface="Calibri"/>
                <a:cs typeface="Calibri"/>
              </a:rPr>
              <a:t>3%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22400" y="5625795"/>
            <a:ext cx="337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solidFill>
                  <a:srgbClr val="404040"/>
                </a:solidFill>
                <a:latin typeface="Calibri"/>
                <a:cs typeface="Calibri"/>
              </a:rPr>
              <a:t>-</a:t>
            </a:r>
            <a:r>
              <a:rPr sz="1200" b="1" spc="-25">
                <a:solidFill>
                  <a:srgbClr val="404040"/>
                </a:solidFill>
                <a:latin typeface="Calibri"/>
                <a:cs typeface="Calibri"/>
              </a:rPr>
              <a:t>25%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22400" y="4859273"/>
            <a:ext cx="337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solidFill>
                  <a:srgbClr val="404040"/>
                </a:solidFill>
                <a:latin typeface="Calibri"/>
                <a:cs typeface="Calibri"/>
              </a:rPr>
              <a:t>-</a:t>
            </a:r>
            <a:r>
              <a:rPr sz="1200" b="1" spc="-25">
                <a:solidFill>
                  <a:srgbClr val="404040"/>
                </a:solidFill>
                <a:latin typeface="Calibri"/>
                <a:cs typeface="Calibri"/>
              </a:rPr>
              <a:t>20%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22400" y="4092320"/>
            <a:ext cx="337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solidFill>
                  <a:srgbClr val="404040"/>
                </a:solidFill>
                <a:latin typeface="Calibri"/>
                <a:cs typeface="Calibri"/>
              </a:rPr>
              <a:t>-</a:t>
            </a:r>
            <a:r>
              <a:rPr sz="1200" b="1" spc="-25">
                <a:solidFill>
                  <a:srgbClr val="404040"/>
                </a:solidFill>
                <a:latin typeface="Calibri"/>
                <a:cs typeface="Calibri"/>
              </a:rPr>
              <a:t>15%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22400" y="3325495"/>
            <a:ext cx="337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solidFill>
                  <a:srgbClr val="404040"/>
                </a:solidFill>
                <a:latin typeface="Calibri"/>
                <a:cs typeface="Calibri"/>
              </a:rPr>
              <a:t>-</a:t>
            </a:r>
            <a:r>
              <a:rPr sz="1200" b="1" spc="-25">
                <a:solidFill>
                  <a:srgbClr val="404040"/>
                </a:solidFill>
                <a:latin typeface="Calibri"/>
                <a:cs typeface="Calibri"/>
              </a:rPr>
              <a:t>10%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99515" y="2558541"/>
            <a:ext cx="2603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solidFill>
                  <a:srgbClr val="404040"/>
                </a:solidFill>
                <a:latin typeface="Calibri"/>
                <a:cs typeface="Calibri"/>
              </a:rPr>
              <a:t>-</a:t>
            </a:r>
            <a:r>
              <a:rPr sz="1200" b="1" spc="-25">
                <a:solidFill>
                  <a:srgbClr val="404040"/>
                </a:solidFill>
                <a:latin typeface="Calibri"/>
                <a:cs typeface="Calibri"/>
              </a:rPr>
              <a:t>5%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46149" y="1791715"/>
            <a:ext cx="2152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>
                <a:solidFill>
                  <a:srgbClr val="404040"/>
                </a:solidFill>
                <a:latin typeface="Calibri"/>
                <a:cs typeface="Calibri"/>
              </a:rPr>
              <a:t>0%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21435" y="5824220"/>
            <a:ext cx="334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>
                <a:solidFill>
                  <a:srgbClr val="404040"/>
                </a:solidFill>
                <a:latin typeface="Calibri"/>
                <a:cs typeface="Calibri"/>
              </a:rPr>
              <a:t>2012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135251" y="5824220"/>
            <a:ext cx="334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>
                <a:solidFill>
                  <a:srgbClr val="404040"/>
                </a:solidFill>
                <a:latin typeface="Calibri"/>
                <a:cs typeface="Calibri"/>
              </a:rPr>
              <a:t>2013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949067" y="5824220"/>
            <a:ext cx="334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>
                <a:solidFill>
                  <a:srgbClr val="404040"/>
                </a:solidFill>
                <a:latin typeface="Calibri"/>
                <a:cs typeface="Calibri"/>
              </a:rPr>
              <a:t>2014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762502" y="5824220"/>
            <a:ext cx="334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>
                <a:solidFill>
                  <a:srgbClr val="404040"/>
                </a:solidFill>
                <a:latin typeface="Calibri"/>
                <a:cs typeface="Calibri"/>
              </a:rPr>
              <a:t>2015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576317" y="5824220"/>
            <a:ext cx="334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>
                <a:solidFill>
                  <a:srgbClr val="404040"/>
                </a:solidFill>
                <a:latin typeface="Calibri"/>
                <a:cs typeface="Calibri"/>
              </a:rPr>
              <a:t>2016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389879" y="5824220"/>
            <a:ext cx="334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>
                <a:solidFill>
                  <a:srgbClr val="404040"/>
                </a:solidFill>
                <a:latin typeface="Calibri"/>
                <a:cs typeface="Calibri"/>
              </a:rPr>
              <a:t>2017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203696" y="5824220"/>
            <a:ext cx="334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>
                <a:solidFill>
                  <a:srgbClr val="404040"/>
                </a:solidFill>
                <a:latin typeface="Calibri"/>
                <a:cs typeface="Calibri"/>
              </a:rPr>
              <a:t>2018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017511" y="5824220"/>
            <a:ext cx="334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>
                <a:solidFill>
                  <a:srgbClr val="404040"/>
                </a:solidFill>
                <a:latin typeface="Calibri"/>
                <a:cs typeface="Calibri"/>
              </a:rPr>
              <a:t>2019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831073" y="5824220"/>
            <a:ext cx="334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>
                <a:solidFill>
                  <a:srgbClr val="404040"/>
                </a:solidFill>
                <a:latin typeface="Calibri"/>
                <a:cs typeface="Calibri"/>
              </a:rPr>
              <a:t>2020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644890" y="5824220"/>
            <a:ext cx="334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>
                <a:solidFill>
                  <a:srgbClr val="404040"/>
                </a:solidFill>
                <a:latin typeface="Calibri"/>
                <a:cs typeface="Calibri"/>
              </a:rPr>
              <a:t>2021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458325" y="5824220"/>
            <a:ext cx="334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>
                <a:solidFill>
                  <a:srgbClr val="404040"/>
                </a:solidFill>
                <a:latin typeface="Calibri"/>
                <a:cs typeface="Calibri"/>
              </a:rPr>
              <a:t>2022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272141" y="5824220"/>
            <a:ext cx="334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>
                <a:solidFill>
                  <a:srgbClr val="404040"/>
                </a:solidFill>
                <a:latin typeface="Calibri"/>
                <a:cs typeface="Calibri"/>
              </a:rPr>
              <a:t>2023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1085956" y="5824220"/>
            <a:ext cx="334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>
                <a:solidFill>
                  <a:srgbClr val="404040"/>
                </a:solidFill>
                <a:latin typeface="Calibri"/>
                <a:cs typeface="Calibri"/>
              </a:rPr>
              <a:t>2024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705470" y="4530090"/>
            <a:ext cx="7004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>
                <a:solidFill>
                  <a:srgbClr val="404040"/>
                </a:solidFill>
                <a:latin typeface="Calibri"/>
                <a:cs typeface="Calibri"/>
              </a:rPr>
              <a:t>Light</a:t>
            </a:r>
            <a:r>
              <a:rPr sz="1100" b="1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100" b="1" spc="-10">
                <a:solidFill>
                  <a:srgbClr val="404040"/>
                </a:solidFill>
                <a:latin typeface="Calibri"/>
                <a:cs typeface="Calibri"/>
              </a:rPr>
              <a:t>Sweet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705470" y="4865370"/>
            <a:ext cx="81280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>
                <a:solidFill>
                  <a:srgbClr val="404040"/>
                </a:solidFill>
                <a:latin typeface="Calibri"/>
                <a:cs typeface="Calibri"/>
              </a:rPr>
              <a:t>Medium</a:t>
            </a:r>
            <a:r>
              <a:rPr sz="1100" b="1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100" b="1" spc="-20">
                <a:solidFill>
                  <a:srgbClr val="404040"/>
                </a:solidFill>
                <a:latin typeface="Calibri"/>
                <a:cs typeface="Calibri"/>
              </a:rPr>
              <a:t>Sour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705470" y="5200345"/>
            <a:ext cx="68135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>
                <a:solidFill>
                  <a:srgbClr val="404040"/>
                </a:solidFill>
                <a:latin typeface="Calibri"/>
                <a:cs typeface="Calibri"/>
              </a:rPr>
              <a:t>Heavy</a:t>
            </a:r>
            <a:r>
              <a:rPr sz="1100" b="1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100" b="1" spc="-20">
                <a:solidFill>
                  <a:srgbClr val="404040"/>
                </a:solidFill>
                <a:latin typeface="Calibri"/>
                <a:cs typeface="Calibri"/>
              </a:rPr>
              <a:t>Sour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8817363" y="4587480"/>
            <a:ext cx="1998980" cy="825500"/>
            <a:chOff x="8817363" y="4587480"/>
            <a:chExt cx="1998980" cy="825500"/>
          </a:xfrm>
        </p:grpSpPr>
        <p:pic>
          <p:nvPicPr>
            <p:cNvPr id="44" name="object 4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17363" y="4589102"/>
              <a:ext cx="532790" cy="85343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36595" y="4934919"/>
              <a:ext cx="600378" cy="85413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855583" y="5298285"/>
              <a:ext cx="695325" cy="114498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653337" y="4587480"/>
              <a:ext cx="1086112" cy="86547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687908" y="5304628"/>
              <a:ext cx="1127868" cy="87052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6779132" y="6495922"/>
            <a:ext cx="287718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>
                <a:solidFill>
                  <a:srgbClr val="404040"/>
                </a:solidFill>
                <a:latin typeface="Calibri"/>
                <a:cs typeface="Calibri"/>
              </a:rPr>
              <a:t>Source:</a:t>
            </a:r>
            <a:r>
              <a:rPr sz="10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000">
                <a:solidFill>
                  <a:srgbClr val="404040"/>
                </a:solidFill>
                <a:latin typeface="Calibri"/>
                <a:cs typeface="Calibri"/>
              </a:rPr>
              <a:t>Argus.</a:t>
            </a:r>
            <a:r>
              <a:rPr sz="10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000">
                <a:solidFill>
                  <a:srgbClr val="404040"/>
                </a:solidFill>
                <a:latin typeface="Calibri"/>
                <a:cs typeface="Calibri"/>
              </a:rPr>
              <a:t>ASCI</a:t>
            </a:r>
            <a:r>
              <a:rPr sz="10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000">
                <a:solidFill>
                  <a:srgbClr val="404040"/>
                </a:solidFill>
                <a:latin typeface="Calibri"/>
                <a:cs typeface="Calibri"/>
              </a:rPr>
              <a:t>represents</a:t>
            </a:r>
            <a:r>
              <a:rPr sz="10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000">
                <a:solidFill>
                  <a:srgbClr val="404040"/>
                </a:solidFill>
                <a:latin typeface="Calibri"/>
                <a:cs typeface="Calibri"/>
              </a:rPr>
              <a:t>Argus</a:t>
            </a:r>
            <a:r>
              <a:rPr sz="10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000">
                <a:solidFill>
                  <a:srgbClr val="404040"/>
                </a:solidFill>
                <a:latin typeface="Calibri"/>
                <a:cs typeface="Calibri"/>
              </a:rPr>
              <a:t>Sour</a:t>
            </a:r>
            <a:r>
              <a:rPr sz="10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000">
                <a:solidFill>
                  <a:srgbClr val="404040"/>
                </a:solidFill>
                <a:latin typeface="Calibri"/>
                <a:cs typeface="Calibri"/>
              </a:rPr>
              <a:t>Crude</a:t>
            </a:r>
            <a:r>
              <a:rPr sz="10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000" spc="-10">
                <a:solidFill>
                  <a:srgbClr val="404040"/>
                </a:solidFill>
                <a:latin typeface="Calibri"/>
                <a:cs typeface="Calibri"/>
              </a:rPr>
              <a:t>Index.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>
                <a:solidFill>
                  <a:srgbClr val="006FAB"/>
                </a:solidFill>
              </a:rPr>
              <a:t>5</a:t>
            </a:fld>
            <a:endParaRPr spc="-50">
              <a:solidFill>
                <a:srgbClr val="006FAB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44100" y="6440423"/>
            <a:ext cx="1447800" cy="25603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423416"/>
            <a:ext cx="1693545" cy="58419"/>
          </a:xfrm>
          <a:custGeom>
            <a:avLst/>
            <a:gdLst/>
            <a:ahLst/>
            <a:cxnLst/>
            <a:rect l="l" t="t" r="r" b="b"/>
            <a:pathLst>
              <a:path w="1693545" h="58419">
                <a:moveTo>
                  <a:pt x="1693418" y="0"/>
                </a:moveTo>
                <a:lnTo>
                  <a:pt x="0" y="0"/>
                </a:lnTo>
                <a:lnTo>
                  <a:pt x="0" y="57911"/>
                </a:lnTo>
                <a:lnTo>
                  <a:pt x="1693418" y="57911"/>
                </a:lnTo>
                <a:lnTo>
                  <a:pt x="1693418" y="0"/>
                </a:lnTo>
                <a:close/>
              </a:path>
            </a:pathLst>
          </a:custGeom>
          <a:solidFill>
            <a:srgbClr val="006F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04416" y="1452372"/>
            <a:ext cx="546100" cy="0"/>
          </a:xfrm>
          <a:custGeom>
            <a:avLst/>
            <a:gdLst/>
            <a:ahLst/>
            <a:cxnLst/>
            <a:rect l="l" t="t" r="r" b="b"/>
            <a:pathLst>
              <a:path w="546100">
                <a:moveTo>
                  <a:pt x="0" y="0"/>
                </a:moveTo>
                <a:lnTo>
                  <a:pt x="545719" y="0"/>
                </a:lnTo>
              </a:path>
            </a:pathLst>
          </a:custGeom>
          <a:ln w="57912">
            <a:solidFill>
              <a:srgbClr val="006F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55164" y="1429511"/>
            <a:ext cx="9737725" cy="15875"/>
          </a:xfrm>
          <a:custGeom>
            <a:avLst/>
            <a:gdLst/>
            <a:ahLst/>
            <a:cxnLst/>
            <a:rect l="l" t="t" r="r" b="b"/>
            <a:pathLst>
              <a:path w="9737725" h="15875">
                <a:moveTo>
                  <a:pt x="0" y="15366"/>
                </a:moveTo>
                <a:lnTo>
                  <a:pt x="9737598" y="0"/>
                </a:lnTo>
              </a:path>
            </a:pathLst>
          </a:custGeom>
          <a:ln w="6096">
            <a:solidFill>
              <a:srgbClr val="FFC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5759" y="108204"/>
            <a:ext cx="134111" cy="13411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3880" y="108204"/>
            <a:ext cx="134112" cy="13411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2668" y="108204"/>
            <a:ext cx="134112" cy="13411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79932" y="108204"/>
            <a:ext cx="134112" cy="134112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2694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>
                <a:solidFill>
                  <a:srgbClr val="000000"/>
                </a:solidFill>
                <a:latin typeface="Arial"/>
              </a:rPr>
              <a:t>Basic</a:t>
            </a:r>
            <a:r>
              <a:rPr lang="en-US" spc="-75">
                <a:solidFill>
                  <a:srgbClr val="000000"/>
                </a:solidFill>
                <a:latin typeface="Arial"/>
              </a:rPr>
              <a:t> R</a:t>
            </a:r>
            <a:r>
              <a:rPr lang="en-US">
                <a:solidFill>
                  <a:srgbClr val="000000"/>
                </a:solidFill>
                <a:latin typeface="Arial"/>
              </a:rPr>
              <a:t>efining</a:t>
            </a:r>
            <a:r>
              <a:rPr lang="en-US" spc="-45">
                <a:solidFill>
                  <a:srgbClr val="000000"/>
                </a:solidFill>
                <a:latin typeface="Arial"/>
              </a:rPr>
              <a:t> C</a:t>
            </a:r>
            <a:r>
              <a:rPr lang="en-US" spc="-10">
                <a:solidFill>
                  <a:srgbClr val="000000"/>
                </a:solidFill>
                <a:latin typeface="Arial"/>
              </a:rPr>
              <a:t>oncept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1478280" y="1754123"/>
            <a:ext cx="5017135" cy="4709160"/>
            <a:chOff x="1478280" y="1754123"/>
            <a:chExt cx="5017135" cy="4709160"/>
          </a:xfrm>
        </p:grpSpPr>
        <p:sp>
          <p:nvSpPr>
            <p:cNvPr id="12" name="object 12"/>
            <p:cNvSpPr/>
            <p:nvPr/>
          </p:nvSpPr>
          <p:spPr>
            <a:xfrm>
              <a:off x="5222747" y="1754123"/>
              <a:ext cx="1256030" cy="4709160"/>
            </a:xfrm>
            <a:custGeom>
              <a:avLst/>
              <a:gdLst/>
              <a:ahLst/>
              <a:cxnLst/>
              <a:rect l="l" t="t" r="r" b="b"/>
              <a:pathLst>
                <a:path w="1256029" h="4709160">
                  <a:moveTo>
                    <a:pt x="0" y="4709160"/>
                  </a:moveTo>
                  <a:lnTo>
                    <a:pt x="1255776" y="4709160"/>
                  </a:lnTo>
                  <a:lnTo>
                    <a:pt x="1255776" y="0"/>
                  </a:lnTo>
                  <a:lnTo>
                    <a:pt x="0" y="0"/>
                  </a:lnTo>
                  <a:lnTo>
                    <a:pt x="0" y="4709160"/>
                  </a:lnTo>
                  <a:close/>
                </a:path>
              </a:pathLst>
            </a:custGeom>
            <a:solidFill>
              <a:srgbClr val="BEBEBE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78280" y="1914143"/>
              <a:ext cx="5017008" cy="4215384"/>
            </a:xfrm>
            <a:prstGeom prst="rect">
              <a:avLst/>
            </a:prstGeom>
          </p:spPr>
        </p:pic>
      </p:grp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7972043" y="1473708"/>
          <a:ext cx="1299845" cy="5006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9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0035">
                <a:tc>
                  <a:txBody>
                    <a:bodyPr/>
                    <a:lstStyle/>
                    <a:p>
                      <a:pPr marL="1352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Final</a:t>
                      </a:r>
                      <a:r>
                        <a:rPr sz="1400" b="1" spc="-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Products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solidFill>
                      <a:srgbClr val="0058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6940">
                <a:tc>
                  <a:txBody>
                    <a:bodyPr/>
                    <a:lstStyle/>
                    <a:p>
                      <a:pPr marL="424815" marR="37782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100" b="1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Fuel</a:t>
                      </a:r>
                      <a:r>
                        <a:rPr sz="1100" b="1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Gas </a:t>
                      </a:r>
                      <a:r>
                        <a:rPr sz="1100" b="1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Propane </a:t>
                      </a:r>
                      <a:r>
                        <a:rPr sz="1100" b="1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NGLs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416559" marR="370205" indent="-635" algn="ctr">
                        <a:lnSpc>
                          <a:spcPct val="299100"/>
                        </a:lnSpc>
                        <a:spcBef>
                          <a:spcPts val="1085"/>
                        </a:spcBef>
                      </a:pPr>
                      <a:r>
                        <a:rPr sz="1100" b="1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Gasoline Gasoline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5080" algn="ctr">
                        <a:lnSpc>
                          <a:spcPct val="100000"/>
                        </a:lnSpc>
                      </a:pPr>
                      <a:r>
                        <a:rPr sz="1100" b="1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Petrochemicals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97510" marR="351155" algn="ctr">
                        <a:lnSpc>
                          <a:spcPct val="100000"/>
                        </a:lnSpc>
                      </a:pPr>
                      <a:r>
                        <a:rPr sz="1100" b="1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Kerosene </a:t>
                      </a:r>
                      <a:r>
                        <a:rPr sz="1100" b="1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Jet</a:t>
                      </a:r>
                      <a:r>
                        <a:rPr sz="1100" b="1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fuel </a:t>
                      </a:r>
                      <a:r>
                        <a:rPr sz="1100" b="1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Diesel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416559" marR="370840" algn="ctr"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r>
                        <a:rPr sz="1100" b="1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Gasoline Diesel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17830" marR="36957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b="1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Gasoline Diesel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416559" marR="370840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100" b="1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Gasoline Diesel </a:t>
                      </a:r>
                      <a:r>
                        <a:rPr sz="1100" b="1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Coke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object 15"/>
          <p:cNvSpPr/>
          <p:nvPr/>
        </p:nvSpPr>
        <p:spPr>
          <a:xfrm>
            <a:off x="6592823" y="1764792"/>
            <a:ext cx="1308100" cy="494030"/>
          </a:xfrm>
          <a:custGeom>
            <a:avLst/>
            <a:gdLst/>
            <a:ahLst/>
            <a:cxnLst/>
            <a:rect l="l" t="t" r="r" b="b"/>
            <a:pathLst>
              <a:path w="1308100" h="494030">
                <a:moveTo>
                  <a:pt x="1074166" y="0"/>
                </a:moveTo>
                <a:lnTo>
                  <a:pt x="0" y="0"/>
                </a:lnTo>
                <a:lnTo>
                  <a:pt x="0" y="493775"/>
                </a:lnTo>
                <a:lnTo>
                  <a:pt x="1074166" y="493775"/>
                </a:lnTo>
                <a:lnTo>
                  <a:pt x="1074166" y="276733"/>
                </a:lnTo>
                <a:lnTo>
                  <a:pt x="1172464" y="276733"/>
                </a:lnTo>
                <a:lnTo>
                  <a:pt x="1172464" y="321183"/>
                </a:lnTo>
                <a:lnTo>
                  <a:pt x="1307592" y="246887"/>
                </a:lnTo>
                <a:lnTo>
                  <a:pt x="1172464" y="172593"/>
                </a:lnTo>
                <a:lnTo>
                  <a:pt x="1172464" y="217043"/>
                </a:lnTo>
                <a:lnTo>
                  <a:pt x="1074166" y="217043"/>
                </a:lnTo>
                <a:lnTo>
                  <a:pt x="1074166" y="0"/>
                </a:lnTo>
                <a:close/>
              </a:path>
            </a:pathLst>
          </a:custGeom>
          <a:solidFill>
            <a:srgbClr val="C6E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784593" y="1738325"/>
            <a:ext cx="690880" cy="530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38100" algn="just">
              <a:lnSpc>
                <a:spcPct val="100000"/>
              </a:lnSpc>
              <a:spcBef>
                <a:spcPts val="105"/>
              </a:spcBef>
            </a:pPr>
            <a:r>
              <a:rPr sz="1100" b="1">
                <a:solidFill>
                  <a:srgbClr val="404040"/>
                </a:solidFill>
                <a:latin typeface="Calibri"/>
                <a:cs typeface="Calibri"/>
              </a:rPr>
              <a:t>Light</a:t>
            </a:r>
            <a:r>
              <a:rPr sz="1100" b="1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100" b="1" spc="-20">
                <a:solidFill>
                  <a:srgbClr val="404040"/>
                </a:solidFill>
                <a:latin typeface="Calibri"/>
                <a:cs typeface="Calibri"/>
              </a:rPr>
              <a:t>Ends </a:t>
            </a:r>
            <a:r>
              <a:rPr sz="1100" b="1">
                <a:solidFill>
                  <a:srgbClr val="404040"/>
                </a:solidFill>
                <a:latin typeface="Calibri"/>
                <a:cs typeface="Calibri"/>
              </a:rPr>
              <a:t>Recovery</a:t>
            </a:r>
            <a:r>
              <a:rPr sz="1100" b="1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100" b="1" spc="-50">
                <a:solidFill>
                  <a:srgbClr val="404040"/>
                </a:solidFill>
                <a:latin typeface="Calibri"/>
                <a:cs typeface="Calibri"/>
              </a:rPr>
              <a:t>&amp;</a:t>
            </a:r>
            <a:r>
              <a:rPr sz="1100" b="1" spc="-10">
                <a:solidFill>
                  <a:srgbClr val="404040"/>
                </a:solidFill>
                <a:latin typeface="Calibri"/>
                <a:cs typeface="Calibri"/>
              </a:rPr>
              <a:t> Treatment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43092" y="2885058"/>
            <a:ext cx="83185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00" b="1">
                <a:solidFill>
                  <a:srgbClr val="404040"/>
                </a:solidFill>
                <a:latin typeface="Calibri"/>
                <a:cs typeface="Calibri"/>
              </a:rPr>
              <a:t>Light</a:t>
            </a:r>
            <a:r>
              <a:rPr sz="1100" b="1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100" b="1" spc="-10">
                <a:solidFill>
                  <a:srgbClr val="404040"/>
                </a:solidFill>
                <a:latin typeface="Calibri"/>
                <a:cs typeface="Calibri"/>
              </a:rPr>
              <a:t>Naphtha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98416" y="2644267"/>
            <a:ext cx="326390" cy="331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5">
                <a:solidFill>
                  <a:srgbClr val="404040"/>
                </a:solidFill>
                <a:latin typeface="Calibri"/>
                <a:cs typeface="Calibri"/>
              </a:rPr>
              <a:t>90–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000" b="1" spc="-10">
                <a:solidFill>
                  <a:srgbClr val="404040"/>
                </a:solidFill>
                <a:latin typeface="Calibri"/>
                <a:cs typeface="Calibri"/>
              </a:rPr>
              <a:t>220</a:t>
            </a:r>
            <a:r>
              <a:rPr sz="1000" b="1" spc="-10">
                <a:solidFill>
                  <a:srgbClr val="404040"/>
                </a:solidFill>
                <a:latin typeface="Arial"/>
                <a:cs typeface="Arial"/>
              </a:rPr>
              <a:t>°</a:t>
            </a:r>
            <a:r>
              <a:rPr sz="1000" b="1" spc="-10">
                <a:solidFill>
                  <a:srgbClr val="404040"/>
                </a:solidFill>
                <a:latin typeface="Calibri"/>
                <a:cs typeface="Calibri"/>
              </a:rPr>
              <a:t>F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80764" y="3248913"/>
            <a:ext cx="31877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0">
                <a:solidFill>
                  <a:srgbClr val="404040"/>
                </a:solidFill>
                <a:latin typeface="Calibri"/>
                <a:cs typeface="Calibri"/>
              </a:rPr>
              <a:t>220–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00" b="1" spc="-10">
                <a:solidFill>
                  <a:srgbClr val="404040"/>
                </a:solidFill>
                <a:latin typeface="Calibri"/>
                <a:cs typeface="Calibri"/>
              </a:rPr>
              <a:t>315°F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87114" y="3853434"/>
            <a:ext cx="31877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0">
                <a:solidFill>
                  <a:srgbClr val="404040"/>
                </a:solidFill>
                <a:latin typeface="Calibri"/>
                <a:cs typeface="Calibri"/>
              </a:rPr>
              <a:t>315–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00" b="1" spc="-10">
                <a:solidFill>
                  <a:srgbClr val="404040"/>
                </a:solidFill>
                <a:latin typeface="Calibri"/>
                <a:cs typeface="Calibri"/>
              </a:rPr>
              <a:t>450°F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97782" y="4457827"/>
            <a:ext cx="31877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0">
                <a:solidFill>
                  <a:srgbClr val="404040"/>
                </a:solidFill>
                <a:latin typeface="Calibri"/>
                <a:cs typeface="Calibri"/>
              </a:rPr>
              <a:t>450–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00" b="1" spc="-10">
                <a:solidFill>
                  <a:srgbClr val="404040"/>
                </a:solidFill>
                <a:latin typeface="Calibri"/>
                <a:cs typeface="Calibri"/>
              </a:rPr>
              <a:t>650°F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222747" y="1473708"/>
            <a:ext cx="1256030" cy="280670"/>
          </a:xfrm>
          <a:prstGeom prst="rect">
            <a:avLst/>
          </a:prstGeom>
          <a:solidFill>
            <a:srgbClr val="005884"/>
          </a:solidFill>
        </p:spPr>
        <p:txBody>
          <a:bodyPr vert="horz" wrap="square" lIns="0" tIns="33655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265"/>
              </a:spcBef>
            </a:pPr>
            <a:r>
              <a:rPr sz="1400" b="1" spc="-10">
                <a:solidFill>
                  <a:srgbClr val="FFFFFF"/>
                </a:solidFill>
                <a:latin typeface="Calibri"/>
                <a:cs typeface="Calibri"/>
              </a:rPr>
              <a:t>Intermediates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731511" y="1828038"/>
            <a:ext cx="3479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>
                <a:solidFill>
                  <a:srgbClr val="404040"/>
                </a:solidFill>
                <a:latin typeface="Calibri"/>
                <a:cs typeface="Calibri"/>
              </a:rPr>
              <a:t>C1</a:t>
            </a:r>
            <a:r>
              <a:rPr sz="900" b="1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900" b="1">
                <a:solidFill>
                  <a:srgbClr val="404040"/>
                </a:solidFill>
                <a:latin typeface="Calibri"/>
                <a:cs typeface="Calibri"/>
              </a:rPr>
              <a:t>-</a:t>
            </a:r>
            <a:r>
              <a:rPr sz="900" b="1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900" b="1" spc="-25">
                <a:solidFill>
                  <a:srgbClr val="404040"/>
                </a:solidFill>
                <a:latin typeface="Calibri"/>
                <a:cs typeface="Calibri"/>
              </a:rPr>
              <a:t>C4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46116" y="2630551"/>
            <a:ext cx="3479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>
                <a:solidFill>
                  <a:srgbClr val="404040"/>
                </a:solidFill>
                <a:latin typeface="Calibri"/>
                <a:cs typeface="Calibri"/>
              </a:rPr>
              <a:t>C5</a:t>
            </a:r>
            <a:r>
              <a:rPr sz="900" b="1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900" b="1">
                <a:solidFill>
                  <a:srgbClr val="404040"/>
                </a:solidFill>
                <a:latin typeface="Calibri"/>
                <a:cs typeface="Calibri"/>
              </a:rPr>
              <a:t>-</a:t>
            </a:r>
            <a:r>
              <a:rPr sz="900" b="1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900" b="1" spc="-25">
                <a:solidFill>
                  <a:srgbClr val="404040"/>
                </a:solidFill>
                <a:latin typeface="Calibri"/>
                <a:cs typeface="Calibri"/>
              </a:rPr>
              <a:t>C8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16907" y="3201415"/>
            <a:ext cx="4051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>
                <a:solidFill>
                  <a:srgbClr val="404040"/>
                </a:solidFill>
                <a:latin typeface="Calibri"/>
                <a:cs typeface="Calibri"/>
              </a:rPr>
              <a:t>C8</a:t>
            </a:r>
            <a:r>
              <a:rPr sz="900" b="1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900" b="1">
                <a:solidFill>
                  <a:srgbClr val="404040"/>
                </a:solidFill>
                <a:latin typeface="Calibri"/>
                <a:cs typeface="Calibri"/>
              </a:rPr>
              <a:t>-</a:t>
            </a:r>
            <a:r>
              <a:rPr sz="900" b="1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900" b="1" spc="-25">
                <a:solidFill>
                  <a:srgbClr val="404040"/>
                </a:solidFill>
                <a:latin typeface="Calibri"/>
                <a:cs typeface="Calibri"/>
              </a:rPr>
              <a:t>C12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687570" y="3781170"/>
            <a:ext cx="4629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>
                <a:solidFill>
                  <a:srgbClr val="404040"/>
                </a:solidFill>
                <a:latin typeface="Calibri"/>
                <a:cs typeface="Calibri"/>
              </a:rPr>
              <a:t>C12</a:t>
            </a:r>
            <a:r>
              <a:rPr sz="900" b="1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900" b="1">
                <a:solidFill>
                  <a:srgbClr val="404040"/>
                </a:solidFill>
                <a:latin typeface="Calibri"/>
                <a:cs typeface="Calibri"/>
              </a:rPr>
              <a:t>-</a:t>
            </a:r>
            <a:r>
              <a:rPr sz="900" b="1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900" b="1" spc="-25">
                <a:solidFill>
                  <a:srgbClr val="404040"/>
                </a:solidFill>
                <a:latin typeface="Calibri"/>
                <a:cs typeface="Calibri"/>
              </a:rPr>
              <a:t>C30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656835" y="4375530"/>
            <a:ext cx="5200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>
                <a:solidFill>
                  <a:srgbClr val="404040"/>
                </a:solidFill>
                <a:latin typeface="Calibri"/>
                <a:cs typeface="Calibri"/>
              </a:rPr>
              <a:t>C30</a:t>
            </a:r>
            <a:r>
              <a:rPr sz="900" b="1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900" b="1">
                <a:solidFill>
                  <a:srgbClr val="404040"/>
                </a:solidFill>
                <a:latin typeface="Calibri"/>
                <a:cs typeface="Calibri"/>
              </a:rPr>
              <a:t>-</a:t>
            </a:r>
            <a:r>
              <a:rPr sz="900" b="1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900" b="1" spc="-20">
                <a:solidFill>
                  <a:srgbClr val="404040"/>
                </a:solidFill>
                <a:latin typeface="Calibri"/>
                <a:cs typeface="Calibri"/>
              </a:rPr>
              <a:t>C50+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656835" y="5367020"/>
            <a:ext cx="5200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>
                <a:solidFill>
                  <a:srgbClr val="404040"/>
                </a:solidFill>
                <a:latin typeface="Calibri"/>
                <a:cs typeface="Calibri"/>
              </a:rPr>
              <a:t>C30</a:t>
            </a:r>
            <a:r>
              <a:rPr sz="900" b="1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900" b="1">
                <a:solidFill>
                  <a:srgbClr val="404040"/>
                </a:solidFill>
                <a:latin typeface="Calibri"/>
                <a:cs typeface="Calibri"/>
              </a:rPr>
              <a:t>-</a:t>
            </a:r>
            <a:r>
              <a:rPr sz="900" b="1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900" b="1" spc="-20">
                <a:solidFill>
                  <a:srgbClr val="404040"/>
                </a:solidFill>
                <a:latin typeface="Calibri"/>
                <a:cs typeface="Calibri"/>
              </a:rPr>
              <a:t>C50+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627626" y="5833668"/>
            <a:ext cx="5778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>
                <a:solidFill>
                  <a:srgbClr val="404040"/>
                </a:solidFill>
                <a:latin typeface="Calibri"/>
                <a:cs typeface="Calibri"/>
              </a:rPr>
              <a:t>C50</a:t>
            </a:r>
            <a:r>
              <a:rPr sz="900" b="1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900" b="1">
                <a:solidFill>
                  <a:srgbClr val="404040"/>
                </a:solidFill>
                <a:latin typeface="Calibri"/>
                <a:cs typeface="Calibri"/>
              </a:rPr>
              <a:t>-</a:t>
            </a:r>
            <a:r>
              <a:rPr sz="900" b="1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900" b="1" spc="-10">
                <a:solidFill>
                  <a:srgbClr val="404040"/>
                </a:solidFill>
                <a:latin typeface="Calibri"/>
                <a:cs typeface="Calibri"/>
              </a:rPr>
              <a:t>C100+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404739" y="3421507"/>
            <a:ext cx="90741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00" b="1">
                <a:solidFill>
                  <a:srgbClr val="404040"/>
                </a:solidFill>
                <a:latin typeface="Calibri"/>
                <a:cs typeface="Calibri"/>
              </a:rPr>
              <a:t>Heavy</a:t>
            </a:r>
            <a:r>
              <a:rPr sz="1100" b="1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100" b="1" spc="-10">
                <a:solidFill>
                  <a:srgbClr val="404040"/>
                </a:solidFill>
                <a:latin typeface="Calibri"/>
                <a:cs typeface="Calibri"/>
              </a:rPr>
              <a:t>Naphtha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581141" y="4000246"/>
            <a:ext cx="55562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1" spc="-10">
                <a:solidFill>
                  <a:srgbClr val="404040"/>
                </a:solidFill>
                <a:latin typeface="Calibri"/>
                <a:cs typeface="Calibri"/>
              </a:rPr>
              <a:t>Kerosene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514466" y="4567809"/>
            <a:ext cx="68707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115570">
              <a:lnSpc>
                <a:spcPct val="100000"/>
              </a:lnSpc>
              <a:spcBef>
                <a:spcPts val="100"/>
              </a:spcBef>
            </a:pPr>
            <a:r>
              <a:rPr sz="1100" b="1">
                <a:solidFill>
                  <a:srgbClr val="404040"/>
                </a:solidFill>
                <a:latin typeface="Calibri"/>
                <a:cs typeface="Calibri"/>
              </a:rPr>
              <a:t>Diesel</a:t>
            </a:r>
            <a:r>
              <a:rPr sz="1100" b="1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100" b="1" spc="-50">
                <a:solidFill>
                  <a:srgbClr val="404040"/>
                </a:solidFill>
                <a:latin typeface="Calibri"/>
                <a:cs typeface="Calibri"/>
              </a:rPr>
              <a:t>/</a:t>
            </a:r>
            <a:r>
              <a:rPr sz="1100" b="1">
                <a:solidFill>
                  <a:srgbClr val="404040"/>
                </a:solidFill>
                <a:latin typeface="Calibri"/>
                <a:cs typeface="Calibri"/>
              </a:rPr>
              <a:t> Light</a:t>
            </a:r>
            <a:r>
              <a:rPr sz="1100" b="1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100" b="1" spc="-10">
                <a:solidFill>
                  <a:srgbClr val="404040"/>
                </a:solidFill>
                <a:latin typeface="Calibri"/>
                <a:cs typeface="Calibri"/>
              </a:rPr>
              <a:t>Gasoil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475985" y="5619089"/>
            <a:ext cx="7639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1">
                <a:solidFill>
                  <a:srgbClr val="404040"/>
                </a:solidFill>
                <a:latin typeface="Calibri"/>
                <a:cs typeface="Calibri"/>
              </a:rPr>
              <a:t>Heavy</a:t>
            </a:r>
            <a:r>
              <a:rPr sz="1100" b="1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100" b="1" spc="-10">
                <a:solidFill>
                  <a:srgbClr val="404040"/>
                </a:solidFill>
                <a:latin typeface="Calibri"/>
                <a:cs typeface="Calibri"/>
              </a:rPr>
              <a:t>Gasoil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324855" y="6067145"/>
            <a:ext cx="9753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100"/>
              </a:spcBef>
            </a:pPr>
            <a:r>
              <a:rPr sz="1100" b="1">
                <a:solidFill>
                  <a:srgbClr val="404040"/>
                </a:solidFill>
                <a:latin typeface="Calibri"/>
                <a:cs typeface="Calibri"/>
              </a:rPr>
              <a:t>Residual</a:t>
            </a:r>
            <a:r>
              <a:rPr sz="1100" b="1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404040"/>
                </a:solidFill>
                <a:latin typeface="Calibri"/>
                <a:cs typeface="Calibri"/>
              </a:rPr>
              <a:t>Fuel</a:t>
            </a:r>
            <a:r>
              <a:rPr sz="1100" b="1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100" b="1" spc="-25">
                <a:solidFill>
                  <a:srgbClr val="404040"/>
                </a:solidFill>
                <a:latin typeface="Calibri"/>
                <a:cs typeface="Calibri"/>
              </a:rPr>
              <a:t>Oil</a:t>
            </a:r>
            <a:endParaRPr sz="1100">
              <a:latin typeface="Calibri"/>
              <a:cs typeface="Calibri"/>
            </a:endParaRPr>
          </a:p>
          <a:p>
            <a:pPr marR="5715" algn="ctr">
              <a:lnSpc>
                <a:spcPct val="100000"/>
              </a:lnSpc>
            </a:pPr>
            <a:r>
              <a:rPr sz="1100" b="1">
                <a:solidFill>
                  <a:srgbClr val="404040"/>
                </a:solidFill>
                <a:latin typeface="Calibri"/>
                <a:cs typeface="Calibri"/>
              </a:rPr>
              <a:t>/</a:t>
            </a:r>
            <a:r>
              <a:rPr sz="1100" b="1" spc="-10">
                <a:solidFill>
                  <a:srgbClr val="404040"/>
                </a:solidFill>
                <a:latin typeface="Calibri"/>
                <a:cs typeface="Calibri"/>
              </a:rPr>
              <a:t> Asphalt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509895" y="2022729"/>
            <a:ext cx="694690" cy="528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105"/>
              </a:spcBef>
            </a:pPr>
            <a:r>
              <a:rPr sz="1100" b="1">
                <a:solidFill>
                  <a:srgbClr val="404040"/>
                </a:solidFill>
                <a:latin typeface="Calibri"/>
                <a:cs typeface="Calibri"/>
              </a:rPr>
              <a:t>Natural</a:t>
            </a:r>
            <a:r>
              <a:rPr sz="1100" b="1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100" b="1" spc="-25">
                <a:solidFill>
                  <a:srgbClr val="404040"/>
                </a:solidFill>
                <a:latin typeface="Calibri"/>
                <a:cs typeface="Calibri"/>
              </a:rPr>
              <a:t>Gas </a:t>
            </a:r>
            <a:r>
              <a:rPr sz="1100" b="1" spc="-10">
                <a:solidFill>
                  <a:srgbClr val="404040"/>
                </a:solidFill>
                <a:latin typeface="Calibri"/>
                <a:cs typeface="Calibri"/>
              </a:rPr>
              <a:t>Propane Butane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863598" y="2367153"/>
            <a:ext cx="1666875" cy="821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>
                <a:solidFill>
                  <a:srgbClr val="404040"/>
                </a:solidFill>
                <a:latin typeface="Calibri"/>
                <a:cs typeface="Calibri"/>
              </a:rPr>
              <a:t>Crude</a:t>
            </a:r>
            <a:r>
              <a:rPr sz="1800" b="1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spc="-10">
                <a:solidFill>
                  <a:srgbClr val="404040"/>
                </a:solidFill>
                <a:latin typeface="Calibri"/>
                <a:cs typeface="Calibri"/>
              </a:rPr>
              <a:t>Distillation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b="1" spc="-20">
                <a:solidFill>
                  <a:srgbClr val="404040"/>
                </a:solidFill>
                <a:latin typeface="Calibri"/>
                <a:cs typeface="Calibri"/>
              </a:rPr>
              <a:t>Unit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600" spc="-10">
                <a:solidFill>
                  <a:srgbClr val="404040"/>
                </a:solidFill>
                <a:latin typeface="Calibri"/>
                <a:cs typeface="Calibri"/>
              </a:rPr>
              <a:t>(Atmospheric)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37" name="object 3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711195" y="4311396"/>
            <a:ext cx="712469" cy="345186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2796920" y="4341367"/>
            <a:ext cx="5302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>
                <a:solidFill>
                  <a:srgbClr val="FFFFFF"/>
                </a:solidFill>
                <a:latin typeface="Calibri"/>
                <a:cs typeface="Calibri"/>
              </a:rPr>
              <a:t>Furnace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568196" y="4663440"/>
            <a:ext cx="3057525" cy="1437640"/>
            <a:chOff x="1568196" y="4663440"/>
            <a:chExt cx="3057525" cy="1437640"/>
          </a:xfrm>
        </p:grpSpPr>
        <p:sp>
          <p:nvSpPr>
            <p:cNvPr id="40" name="object 40"/>
            <p:cNvSpPr/>
            <p:nvPr/>
          </p:nvSpPr>
          <p:spPr>
            <a:xfrm>
              <a:off x="3862578" y="5433822"/>
              <a:ext cx="753110" cy="657225"/>
            </a:xfrm>
            <a:custGeom>
              <a:avLst/>
              <a:gdLst/>
              <a:ahLst/>
              <a:cxnLst/>
              <a:rect l="l" t="t" r="r" b="b"/>
              <a:pathLst>
                <a:path w="753110" h="657225">
                  <a:moveTo>
                    <a:pt x="643382" y="0"/>
                  </a:moveTo>
                  <a:lnTo>
                    <a:pt x="109474" y="0"/>
                  </a:lnTo>
                  <a:lnTo>
                    <a:pt x="66865" y="8604"/>
                  </a:lnTo>
                  <a:lnTo>
                    <a:pt x="32067" y="32067"/>
                  </a:lnTo>
                  <a:lnTo>
                    <a:pt x="8604" y="66865"/>
                  </a:lnTo>
                  <a:lnTo>
                    <a:pt x="0" y="109473"/>
                  </a:lnTo>
                  <a:lnTo>
                    <a:pt x="0" y="547369"/>
                  </a:lnTo>
                  <a:lnTo>
                    <a:pt x="8604" y="589983"/>
                  </a:lnTo>
                  <a:lnTo>
                    <a:pt x="32067" y="624781"/>
                  </a:lnTo>
                  <a:lnTo>
                    <a:pt x="66865" y="648241"/>
                  </a:lnTo>
                  <a:lnTo>
                    <a:pt x="109474" y="656843"/>
                  </a:lnTo>
                  <a:lnTo>
                    <a:pt x="643382" y="656843"/>
                  </a:lnTo>
                  <a:lnTo>
                    <a:pt x="685990" y="648241"/>
                  </a:lnTo>
                  <a:lnTo>
                    <a:pt x="720788" y="624781"/>
                  </a:lnTo>
                  <a:lnTo>
                    <a:pt x="744251" y="589983"/>
                  </a:lnTo>
                  <a:lnTo>
                    <a:pt x="752856" y="547369"/>
                  </a:lnTo>
                  <a:lnTo>
                    <a:pt x="752856" y="109473"/>
                  </a:lnTo>
                  <a:lnTo>
                    <a:pt x="744251" y="66865"/>
                  </a:lnTo>
                  <a:lnTo>
                    <a:pt x="720788" y="32067"/>
                  </a:lnTo>
                  <a:lnTo>
                    <a:pt x="685990" y="8604"/>
                  </a:lnTo>
                  <a:lnTo>
                    <a:pt x="643382" y="0"/>
                  </a:lnTo>
                  <a:close/>
                </a:path>
              </a:pathLst>
            </a:custGeom>
            <a:solidFill>
              <a:srgbClr val="6F93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862578" y="5433822"/>
              <a:ext cx="753110" cy="657225"/>
            </a:xfrm>
            <a:custGeom>
              <a:avLst/>
              <a:gdLst/>
              <a:ahLst/>
              <a:cxnLst/>
              <a:rect l="l" t="t" r="r" b="b"/>
              <a:pathLst>
                <a:path w="753110" h="657225">
                  <a:moveTo>
                    <a:pt x="0" y="109473"/>
                  </a:moveTo>
                  <a:lnTo>
                    <a:pt x="8604" y="66865"/>
                  </a:lnTo>
                  <a:lnTo>
                    <a:pt x="32067" y="32067"/>
                  </a:lnTo>
                  <a:lnTo>
                    <a:pt x="66865" y="8604"/>
                  </a:lnTo>
                  <a:lnTo>
                    <a:pt x="109474" y="0"/>
                  </a:lnTo>
                  <a:lnTo>
                    <a:pt x="643382" y="0"/>
                  </a:lnTo>
                  <a:lnTo>
                    <a:pt x="685990" y="8604"/>
                  </a:lnTo>
                  <a:lnTo>
                    <a:pt x="720788" y="32067"/>
                  </a:lnTo>
                  <a:lnTo>
                    <a:pt x="744251" y="66865"/>
                  </a:lnTo>
                  <a:lnTo>
                    <a:pt x="752856" y="109473"/>
                  </a:lnTo>
                  <a:lnTo>
                    <a:pt x="752856" y="547369"/>
                  </a:lnTo>
                  <a:lnTo>
                    <a:pt x="744251" y="589983"/>
                  </a:lnTo>
                  <a:lnTo>
                    <a:pt x="720788" y="624781"/>
                  </a:lnTo>
                  <a:lnTo>
                    <a:pt x="685990" y="648241"/>
                  </a:lnTo>
                  <a:lnTo>
                    <a:pt x="643382" y="656843"/>
                  </a:lnTo>
                  <a:lnTo>
                    <a:pt x="109474" y="656843"/>
                  </a:lnTo>
                  <a:lnTo>
                    <a:pt x="66865" y="648241"/>
                  </a:lnTo>
                  <a:lnTo>
                    <a:pt x="32067" y="624781"/>
                  </a:lnTo>
                  <a:lnTo>
                    <a:pt x="8604" y="589983"/>
                  </a:lnTo>
                  <a:lnTo>
                    <a:pt x="0" y="547369"/>
                  </a:lnTo>
                  <a:lnTo>
                    <a:pt x="0" y="109473"/>
                  </a:lnTo>
                  <a:close/>
                </a:path>
              </a:pathLst>
            </a:custGeom>
            <a:ln w="198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68196" y="4663440"/>
              <a:ext cx="619505" cy="345186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67256" y="4846320"/>
              <a:ext cx="387845" cy="345186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1653285" y="4693411"/>
            <a:ext cx="4032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125" marR="5080" indent="-99060">
              <a:lnSpc>
                <a:spcPct val="100000"/>
              </a:lnSpc>
              <a:spcBef>
                <a:spcPts val="100"/>
              </a:spcBef>
            </a:pPr>
            <a:r>
              <a:rPr sz="1200" b="1" spc="-10">
                <a:solidFill>
                  <a:srgbClr val="FFFFFF"/>
                </a:solidFill>
                <a:latin typeface="Calibri"/>
                <a:cs typeface="Calibri"/>
              </a:rPr>
              <a:t>Crude </a:t>
            </a:r>
            <a:r>
              <a:rPr sz="1200" b="1" spc="-25">
                <a:solidFill>
                  <a:srgbClr val="FFFFFF"/>
                </a:solidFill>
                <a:latin typeface="Calibri"/>
                <a:cs typeface="Calibri"/>
              </a:rPr>
              <a:t>Oil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080764" y="2243454"/>
            <a:ext cx="3460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>
                <a:solidFill>
                  <a:srgbClr val="404040"/>
                </a:solidFill>
                <a:latin typeface="Calibri"/>
                <a:cs typeface="Calibri"/>
              </a:rPr>
              <a:t>&lt;</a:t>
            </a:r>
            <a:r>
              <a:rPr sz="1000" b="1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000" b="1" spc="-20">
                <a:solidFill>
                  <a:srgbClr val="404040"/>
                </a:solidFill>
                <a:latin typeface="Calibri"/>
                <a:cs typeface="Calibri"/>
              </a:rPr>
              <a:t>90°F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6592823" y="2572511"/>
            <a:ext cx="1306195" cy="492759"/>
          </a:xfrm>
          <a:custGeom>
            <a:avLst/>
            <a:gdLst/>
            <a:ahLst/>
            <a:cxnLst/>
            <a:rect l="l" t="t" r="r" b="b"/>
            <a:pathLst>
              <a:path w="1306195" h="492760">
                <a:moveTo>
                  <a:pt x="1072896" y="0"/>
                </a:moveTo>
                <a:lnTo>
                  <a:pt x="0" y="0"/>
                </a:lnTo>
                <a:lnTo>
                  <a:pt x="0" y="492251"/>
                </a:lnTo>
                <a:lnTo>
                  <a:pt x="1072896" y="492251"/>
                </a:lnTo>
                <a:lnTo>
                  <a:pt x="1072896" y="275843"/>
                </a:lnTo>
                <a:lnTo>
                  <a:pt x="1171321" y="275843"/>
                </a:lnTo>
                <a:lnTo>
                  <a:pt x="1171321" y="320166"/>
                </a:lnTo>
                <a:lnTo>
                  <a:pt x="1306068" y="246125"/>
                </a:lnTo>
                <a:lnTo>
                  <a:pt x="1171321" y="172085"/>
                </a:lnTo>
                <a:lnTo>
                  <a:pt x="1171321" y="216408"/>
                </a:lnTo>
                <a:lnTo>
                  <a:pt x="1072896" y="216408"/>
                </a:lnTo>
                <a:lnTo>
                  <a:pt x="1072896" y="0"/>
                </a:lnTo>
                <a:close/>
              </a:path>
            </a:pathLst>
          </a:custGeom>
          <a:solidFill>
            <a:srgbClr val="C6E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6674866" y="2629281"/>
            <a:ext cx="910590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0025" marR="5080" indent="-187960">
              <a:lnSpc>
                <a:spcPct val="100000"/>
              </a:lnSpc>
              <a:spcBef>
                <a:spcPts val="105"/>
              </a:spcBef>
            </a:pPr>
            <a:r>
              <a:rPr sz="1100" b="1">
                <a:solidFill>
                  <a:srgbClr val="404040"/>
                </a:solidFill>
                <a:latin typeface="Calibri"/>
                <a:cs typeface="Calibri"/>
              </a:rPr>
              <a:t>Isomerization</a:t>
            </a:r>
            <a:r>
              <a:rPr sz="1100" b="1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100" b="1" spc="-50">
                <a:solidFill>
                  <a:srgbClr val="404040"/>
                </a:solidFill>
                <a:latin typeface="Calibri"/>
                <a:cs typeface="Calibri"/>
              </a:rPr>
              <a:t>/</a:t>
            </a:r>
            <a:r>
              <a:rPr sz="1100" b="1" spc="-10">
                <a:solidFill>
                  <a:srgbClr val="404040"/>
                </a:solidFill>
                <a:latin typeface="Calibri"/>
                <a:cs typeface="Calibri"/>
              </a:rPr>
              <a:t> Blending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6592823" y="3148583"/>
            <a:ext cx="1308100" cy="492759"/>
          </a:xfrm>
          <a:custGeom>
            <a:avLst/>
            <a:gdLst/>
            <a:ahLst/>
            <a:cxnLst/>
            <a:rect l="l" t="t" r="r" b="b"/>
            <a:pathLst>
              <a:path w="1308100" h="492760">
                <a:moveTo>
                  <a:pt x="1074166" y="0"/>
                </a:moveTo>
                <a:lnTo>
                  <a:pt x="0" y="0"/>
                </a:lnTo>
                <a:lnTo>
                  <a:pt x="0" y="492251"/>
                </a:lnTo>
                <a:lnTo>
                  <a:pt x="1074166" y="492251"/>
                </a:lnTo>
                <a:lnTo>
                  <a:pt x="1074166" y="275843"/>
                </a:lnTo>
                <a:lnTo>
                  <a:pt x="1172845" y="275843"/>
                </a:lnTo>
                <a:lnTo>
                  <a:pt x="1172845" y="320166"/>
                </a:lnTo>
                <a:lnTo>
                  <a:pt x="1307592" y="246125"/>
                </a:lnTo>
                <a:lnTo>
                  <a:pt x="1172845" y="172085"/>
                </a:lnTo>
                <a:lnTo>
                  <a:pt x="1172845" y="216407"/>
                </a:lnTo>
                <a:lnTo>
                  <a:pt x="1074166" y="216407"/>
                </a:lnTo>
                <a:lnTo>
                  <a:pt x="1074166" y="0"/>
                </a:lnTo>
                <a:close/>
              </a:path>
            </a:pathLst>
          </a:custGeom>
          <a:solidFill>
            <a:srgbClr val="94D1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6796531" y="3206623"/>
            <a:ext cx="668020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8105" marR="5080" indent="-66040">
              <a:lnSpc>
                <a:spcPct val="100000"/>
              </a:lnSpc>
              <a:spcBef>
                <a:spcPts val="105"/>
              </a:spcBef>
            </a:pPr>
            <a:r>
              <a:rPr sz="1100" b="1">
                <a:solidFill>
                  <a:srgbClr val="404040"/>
                </a:solidFill>
                <a:latin typeface="Calibri"/>
                <a:cs typeface="Calibri"/>
              </a:rPr>
              <a:t>Reformer</a:t>
            </a:r>
            <a:r>
              <a:rPr sz="1100" b="1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100" b="1" spc="-50">
                <a:solidFill>
                  <a:srgbClr val="404040"/>
                </a:solidFill>
                <a:latin typeface="Calibri"/>
                <a:cs typeface="Calibri"/>
              </a:rPr>
              <a:t>/</a:t>
            </a:r>
            <a:r>
              <a:rPr sz="1100" b="1" spc="-10">
                <a:solidFill>
                  <a:srgbClr val="404040"/>
                </a:solidFill>
                <a:latin typeface="Calibri"/>
                <a:cs typeface="Calibri"/>
              </a:rPr>
              <a:t> Blending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6592823" y="3730752"/>
            <a:ext cx="1308100" cy="492759"/>
          </a:xfrm>
          <a:custGeom>
            <a:avLst/>
            <a:gdLst/>
            <a:ahLst/>
            <a:cxnLst/>
            <a:rect l="l" t="t" r="r" b="b"/>
            <a:pathLst>
              <a:path w="1308100" h="492760">
                <a:moveTo>
                  <a:pt x="1074166" y="0"/>
                </a:moveTo>
                <a:lnTo>
                  <a:pt x="0" y="0"/>
                </a:lnTo>
                <a:lnTo>
                  <a:pt x="0" y="492252"/>
                </a:lnTo>
                <a:lnTo>
                  <a:pt x="1074166" y="492252"/>
                </a:lnTo>
                <a:lnTo>
                  <a:pt x="1074166" y="275844"/>
                </a:lnTo>
                <a:lnTo>
                  <a:pt x="1172845" y="275844"/>
                </a:lnTo>
                <a:lnTo>
                  <a:pt x="1172845" y="320167"/>
                </a:lnTo>
                <a:lnTo>
                  <a:pt x="1307592" y="246125"/>
                </a:lnTo>
                <a:lnTo>
                  <a:pt x="1172845" y="172085"/>
                </a:lnTo>
                <a:lnTo>
                  <a:pt x="1172845" y="216408"/>
                </a:lnTo>
                <a:lnTo>
                  <a:pt x="1074166" y="216408"/>
                </a:lnTo>
                <a:lnTo>
                  <a:pt x="1074166" y="0"/>
                </a:lnTo>
                <a:close/>
              </a:path>
            </a:pathLst>
          </a:custGeom>
          <a:solidFill>
            <a:srgbClr val="6BAD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6737095" y="3871976"/>
            <a:ext cx="78740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>
                <a:solidFill>
                  <a:srgbClr val="FFFFFF"/>
                </a:solidFill>
                <a:latin typeface="Calibri"/>
                <a:cs typeface="Calibri"/>
              </a:rPr>
              <a:t>Hydrotreater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6592823" y="4319015"/>
            <a:ext cx="1310640" cy="492759"/>
          </a:xfrm>
          <a:custGeom>
            <a:avLst/>
            <a:gdLst/>
            <a:ahLst/>
            <a:cxnLst/>
            <a:rect l="l" t="t" r="r" b="b"/>
            <a:pathLst>
              <a:path w="1310640" h="492760">
                <a:moveTo>
                  <a:pt x="1076578" y="0"/>
                </a:moveTo>
                <a:lnTo>
                  <a:pt x="0" y="0"/>
                </a:lnTo>
                <a:lnTo>
                  <a:pt x="0" y="492251"/>
                </a:lnTo>
                <a:lnTo>
                  <a:pt x="1076578" y="492251"/>
                </a:lnTo>
                <a:lnTo>
                  <a:pt x="1076578" y="275843"/>
                </a:lnTo>
                <a:lnTo>
                  <a:pt x="1175893" y="275843"/>
                </a:lnTo>
                <a:lnTo>
                  <a:pt x="1175893" y="320166"/>
                </a:lnTo>
                <a:lnTo>
                  <a:pt x="1310640" y="246125"/>
                </a:lnTo>
                <a:lnTo>
                  <a:pt x="1175893" y="172084"/>
                </a:lnTo>
                <a:lnTo>
                  <a:pt x="1175893" y="216407"/>
                </a:lnTo>
                <a:lnTo>
                  <a:pt x="1076578" y="216407"/>
                </a:lnTo>
                <a:lnTo>
                  <a:pt x="1076578" y="0"/>
                </a:lnTo>
                <a:close/>
              </a:path>
            </a:pathLst>
          </a:custGeom>
          <a:solidFill>
            <a:srgbClr val="6BAD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6692900" y="4353559"/>
            <a:ext cx="87630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895" marR="5080" indent="-36830">
              <a:lnSpc>
                <a:spcPct val="100000"/>
              </a:lnSpc>
              <a:spcBef>
                <a:spcPts val="100"/>
              </a:spcBef>
            </a:pPr>
            <a:r>
              <a:rPr sz="1100" b="1">
                <a:solidFill>
                  <a:srgbClr val="FFFFFF"/>
                </a:solidFill>
                <a:latin typeface="Calibri"/>
                <a:cs typeface="Calibri"/>
              </a:rPr>
              <a:t>Hydrotreater</a:t>
            </a:r>
            <a:r>
              <a:rPr sz="1100" b="1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spc="-5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1100" b="1" spc="-10">
                <a:solidFill>
                  <a:srgbClr val="FFFFFF"/>
                </a:solidFill>
                <a:latin typeface="Calibri"/>
                <a:cs typeface="Calibri"/>
              </a:rPr>
              <a:t> Hydrocracker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6592823" y="5288279"/>
            <a:ext cx="1308100" cy="457200"/>
          </a:xfrm>
          <a:custGeom>
            <a:avLst/>
            <a:gdLst/>
            <a:ahLst/>
            <a:cxnLst/>
            <a:rect l="l" t="t" r="r" b="b"/>
            <a:pathLst>
              <a:path w="1308100" h="457200">
                <a:moveTo>
                  <a:pt x="1074166" y="0"/>
                </a:moveTo>
                <a:lnTo>
                  <a:pt x="0" y="0"/>
                </a:lnTo>
                <a:lnTo>
                  <a:pt x="0" y="457200"/>
                </a:lnTo>
                <a:lnTo>
                  <a:pt x="1074166" y="457200"/>
                </a:lnTo>
                <a:lnTo>
                  <a:pt x="1074166" y="256159"/>
                </a:lnTo>
                <a:lnTo>
                  <a:pt x="1182497" y="256159"/>
                </a:lnTo>
                <a:lnTo>
                  <a:pt x="1182497" y="297434"/>
                </a:lnTo>
                <a:lnTo>
                  <a:pt x="1307592" y="228600"/>
                </a:lnTo>
                <a:lnTo>
                  <a:pt x="1182497" y="159766"/>
                </a:lnTo>
                <a:lnTo>
                  <a:pt x="1182497" y="201041"/>
                </a:lnTo>
                <a:lnTo>
                  <a:pt x="1074166" y="201041"/>
                </a:lnTo>
                <a:lnTo>
                  <a:pt x="1074166" y="0"/>
                </a:lnTo>
                <a:close/>
              </a:path>
            </a:pathLst>
          </a:custGeom>
          <a:solidFill>
            <a:srgbClr val="2C77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6727952" y="5329173"/>
            <a:ext cx="805180" cy="361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100" b="1">
                <a:solidFill>
                  <a:srgbClr val="FFFFFF"/>
                </a:solidFill>
                <a:latin typeface="Calibri"/>
                <a:cs typeface="Calibri"/>
              </a:rPr>
              <a:t>FCC</a:t>
            </a:r>
            <a:r>
              <a:rPr sz="1100" b="1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spc="-5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100" b="1" spc="-10">
                <a:solidFill>
                  <a:srgbClr val="FFFFFF"/>
                </a:solidFill>
                <a:latin typeface="Calibri"/>
                <a:cs typeface="Calibri"/>
              </a:rPr>
              <a:t>Hydrocracker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6592823" y="5801867"/>
            <a:ext cx="1308100" cy="457200"/>
          </a:xfrm>
          <a:custGeom>
            <a:avLst/>
            <a:gdLst/>
            <a:ahLst/>
            <a:cxnLst/>
            <a:rect l="l" t="t" r="r" b="b"/>
            <a:pathLst>
              <a:path w="1308100" h="457200">
                <a:moveTo>
                  <a:pt x="1074166" y="0"/>
                </a:moveTo>
                <a:lnTo>
                  <a:pt x="0" y="0"/>
                </a:lnTo>
                <a:lnTo>
                  <a:pt x="0" y="457199"/>
                </a:lnTo>
                <a:lnTo>
                  <a:pt x="1074166" y="457199"/>
                </a:lnTo>
                <a:lnTo>
                  <a:pt x="1074166" y="256209"/>
                </a:lnTo>
                <a:lnTo>
                  <a:pt x="1182497" y="256209"/>
                </a:lnTo>
                <a:lnTo>
                  <a:pt x="1182497" y="297421"/>
                </a:lnTo>
                <a:lnTo>
                  <a:pt x="1307592" y="228599"/>
                </a:lnTo>
                <a:lnTo>
                  <a:pt x="1182497" y="159778"/>
                </a:lnTo>
                <a:lnTo>
                  <a:pt x="1182497" y="200990"/>
                </a:lnTo>
                <a:lnTo>
                  <a:pt x="1074166" y="200990"/>
                </a:lnTo>
                <a:lnTo>
                  <a:pt x="1074166" y="0"/>
                </a:lnTo>
                <a:close/>
              </a:path>
            </a:pathLst>
          </a:custGeom>
          <a:solidFill>
            <a:srgbClr val="2C77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6727952" y="5841898"/>
            <a:ext cx="80518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">
              <a:lnSpc>
                <a:spcPct val="100000"/>
              </a:lnSpc>
              <a:spcBef>
                <a:spcPts val="100"/>
              </a:spcBef>
            </a:pPr>
            <a:r>
              <a:rPr sz="1100" b="1">
                <a:solidFill>
                  <a:srgbClr val="FFFFFF"/>
                </a:solidFill>
                <a:latin typeface="Calibri"/>
                <a:cs typeface="Calibri"/>
              </a:rPr>
              <a:t>Coker</a:t>
            </a:r>
            <a:r>
              <a:rPr sz="1100" b="1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11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spc="-10">
                <a:solidFill>
                  <a:srgbClr val="FFFFFF"/>
                </a:solidFill>
                <a:latin typeface="Calibri"/>
                <a:cs typeface="Calibri"/>
              </a:rPr>
              <a:t>Resid Hydrocracker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700017" y="2902482"/>
            <a:ext cx="177800" cy="113665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b="1" spc="-10">
                <a:solidFill>
                  <a:srgbClr val="404040"/>
                </a:solidFill>
                <a:latin typeface="Calibri"/>
                <a:cs typeface="Calibri"/>
              </a:rPr>
              <a:t>Distillation</a:t>
            </a:r>
            <a:r>
              <a:rPr sz="1200" b="1" spc="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b="1" spc="-20">
                <a:solidFill>
                  <a:srgbClr val="404040"/>
                </a:solidFill>
                <a:latin typeface="Calibri"/>
                <a:cs typeface="Calibri"/>
              </a:rPr>
              <a:t>Tower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9" name="object 5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657588" y="2589276"/>
            <a:ext cx="830579" cy="333756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320783" y="3322320"/>
            <a:ext cx="1504187" cy="487679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496043" y="5870447"/>
            <a:ext cx="1153668" cy="348996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646919" y="4209288"/>
            <a:ext cx="851916" cy="408431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954768" y="1735835"/>
            <a:ext cx="236220" cy="454151"/>
          </a:xfrm>
          <a:prstGeom prst="rect">
            <a:avLst/>
          </a:prstGeom>
        </p:spPr>
      </p:pic>
      <p:sp>
        <p:nvSpPr>
          <p:cNvPr id="64" name="object 64"/>
          <p:cNvSpPr txBox="1"/>
          <p:nvPr/>
        </p:nvSpPr>
        <p:spPr>
          <a:xfrm>
            <a:off x="3941190" y="5531307"/>
            <a:ext cx="594995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2540" algn="ctr">
              <a:lnSpc>
                <a:spcPct val="100000"/>
              </a:lnSpc>
              <a:spcBef>
                <a:spcPts val="95"/>
              </a:spcBef>
            </a:pPr>
            <a:r>
              <a:rPr sz="1000" b="1" spc="-10">
                <a:solidFill>
                  <a:srgbClr val="FFFFFF"/>
                </a:solidFill>
                <a:latin typeface="Calibri"/>
                <a:cs typeface="Calibri"/>
              </a:rPr>
              <a:t>Vacuum Distillation </a:t>
            </a:r>
            <a:r>
              <a:rPr sz="1000" b="1" spc="-20">
                <a:solidFill>
                  <a:srgbClr val="FFFFFF"/>
                </a:solidFill>
                <a:latin typeface="Calibri"/>
                <a:cs typeface="Calibri"/>
              </a:rPr>
              <a:t>Unit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647946" y="5597449"/>
            <a:ext cx="5492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>
                <a:solidFill>
                  <a:srgbClr val="404040"/>
                </a:solidFill>
                <a:latin typeface="Calibri"/>
                <a:cs typeface="Calibri"/>
              </a:rPr>
              <a:t>650</a:t>
            </a:r>
            <a:r>
              <a:rPr sz="900" b="1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900" b="1">
                <a:solidFill>
                  <a:srgbClr val="404040"/>
                </a:solidFill>
                <a:latin typeface="Calibri"/>
                <a:cs typeface="Calibri"/>
              </a:rPr>
              <a:t>- </a:t>
            </a:r>
            <a:r>
              <a:rPr sz="900" b="1" spc="-10">
                <a:solidFill>
                  <a:srgbClr val="404040"/>
                </a:solidFill>
                <a:latin typeface="Calibri"/>
                <a:cs typeface="Calibri"/>
              </a:rPr>
              <a:t>800°F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723257" y="6063183"/>
            <a:ext cx="3479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>
                <a:solidFill>
                  <a:srgbClr val="404040"/>
                </a:solidFill>
                <a:latin typeface="Calibri"/>
                <a:cs typeface="Calibri"/>
              </a:rPr>
              <a:t>+800°F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67" name="object 6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602723" y="5015484"/>
            <a:ext cx="940307" cy="457199"/>
          </a:xfrm>
          <a:prstGeom prst="rect">
            <a:avLst/>
          </a:prstGeom>
        </p:spPr>
      </p:pic>
      <p:sp>
        <p:nvSpPr>
          <p:cNvPr id="69" name="object 6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>
                <a:solidFill>
                  <a:srgbClr val="006FAB"/>
                </a:solidFill>
              </a:rPr>
              <a:t>6</a:t>
            </a:fld>
            <a:endParaRPr spc="-25">
              <a:solidFill>
                <a:srgbClr val="006FAB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6993" y="85240"/>
            <a:ext cx="9112885" cy="1402435"/>
          </a:xfrm>
          <a:prstGeom prst="rect">
            <a:avLst/>
          </a:prstGeom>
        </p:spPr>
        <p:txBody>
          <a:bodyPr vert="horz" wrap="square" lIns="0" tIns="535432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>
                <a:solidFill>
                  <a:srgbClr val="000000"/>
                </a:solidFill>
                <a:latin typeface="Arial"/>
              </a:rPr>
              <a:t>Maximizing</a:t>
            </a:r>
            <a:r>
              <a:rPr sz="2800" spc="-75">
                <a:solidFill>
                  <a:srgbClr val="000000"/>
                </a:solidFill>
                <a:latin typeface="Arial"/>
              </a:rPr>
              <a:t> </a:t>
            </a:r>
            <a:r>
              <a:rPr lang="en-US" sz="2800" spc="-75">
                <a:solidFill>
                  <a:srgbClr val="000000"/>
                </a:solidFill>
                <a:latin typeface="Arial"/>
              </a:rPr>
              <a:t>R</a:t>
            </a:r>
            <a:r>
              <a:rPr lang="en-US" sz="2800">
                <a:solidFill>
                  <a:srgbClr val="000000"/>
                </a:solidFill>
                <a:latin typeface="Arial"/>
              </a:rPr>
              <a:t>efinery</a:t>
            </a:r>
            <a:r>
              <a:rPr sz="2800" spc="-55">
                <a:solidFill>
                  <a:srgbClr val="000000"/>
                </a:solidFill>
                <a:latin typeface="Arial"/>
              </a:rPr>
              <a:t> </a:t>
            </a:r>
            <a:r>
              <a:rPr lang="en-US" sz="2800" spc="-55">
                <a:solidFill>
                  <a:srgbClr val="000000"/>
                </a:solidFill>
                <a:latin typeface="Arial"/>
              </a:rPr>
              <a:t>P</a:t>
            </a:r>
            <a:r>
              <a:rPr lang="en-US" sz="2800">
                <a:solidFill>
                  <a:srgbClr val="000000"/>
                </a:solidFill>
                <a:latin typeface="Arial"/>
              </a:rPr>
              <a:t>rofit</a:t>
            </a:r>
            <a:r>
              <a:rPr sz="2800" spc="-105">
                <a:solidFill>
                  <a:srgbClr val="000000"/>
                </a:solidFill>
                <a:latin typeface="Arial"/>
              </a:rPr>
              <a:t> </a:t>
            </a:r>
            <a:r>
              <a:rPr sz="2800">
                <a:solidFill>
                  <a:srgbClr val="000000"/>
                </a:solidFill>
                <a:latin typeface="Arial"/>
              </a:rPr>
              <a:t>–</a:t>
            </a:r>
            <a:r>
              <a:rPr sz="2800" spc="-75">
                <a:solidFill>
                  <a:srgbClr val="000000"/>
                </a:solidFill>
                <a:latin typeface="Arial"/>
              </a:rPr>
              <a:t> </a:t>
            </a:r>
            <a:r>
              <a:rPr sz="2800">
                <a:solidFill>
                  <a:srgbClr val="000000"/>
                </a:solidFill>
                <a:latin typeface="Arial"/>
              </a:rPr>
              <a:t>Linear</a:t>
            </a:r>
            <a:r>
              <a:rPr sz="2800" spc="-65">
                <a:solidFill>
                  <a:srgbClr val="000000"/>
                </a:solidFill>
                <a:latin typeface="Arial"/>
              </a:rPr>
              <a:t> </a:t>
            </a:r>
            <a:r>
              <a:rPr sz="2800" spc="-10">
                <a:solidFill>
                  <a:srgbClr val="000000"/>
                </a:solidFill>
                <a:latin typeface="Arial"/>
              </a:rPr>
              <a:t>Programming</a:t>
            </a:r>
            <a:r>
              <a:rPr sz="2800" spc="-75">
                <a:solidFill>
                  <a:srgbClr val="000000"/>
                </a:solidFill>
                <a:latin typeface="Arial"/>
              </a:rPr>
              <a:t> </a:t>
            </a:r>
            <a:r>
              <a:rPr sz="2800">
                <a:solidFill>
                  <a:srgbClr val="000000"/>
                </a:solidFill>
                <a:latin typeface="Arial"/>
              </a:rPr>
              <a:t>(LP)</a:t>
            </a:r>
            <a:r>
              <a:rPr sz="2800" spc="-80">
                <a:solidFill>
                  <a:srgbClr val="000000"/>
                </a:solidFill>
                <a:latin typeface="Arial"/>
              </a:rPr>
              <a:t> </a:t>
            </a:r>
            <a:r>
              <a:rPr sz="2800" spc="-10">
                <a:solidFill>
                  <a:srgbClr val="000000"/>
                </a:solidFill>
                <a:latin typeface="Arial"/>
              </a:rPr>
              <a:t>Model</a:t>
            </a:r>
            <a:endParaRPr lang="en-US" sz="2800">
              <a:latin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82606" y="2089150"/>
            <a:ext cx="1532890" cy="4132579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133350">
              <a:lnSpc>
                <a:spcPct val="90000"/>
              </a:lnSpc>
              <a:spcBef>
                <a:spcPts val="315"/>
              </a:spcBef>
            </a:pPr>
            <a:r>
              <a:rPr sz="1800" spc="-10">
                <a:solidFill>
                  <a:srgbClr val="404040"/>
                </a:solidFill>
                <a:latin typeface="Calibri"/>
                <a:cs typeface="Calibri"/>
              </a:rPr>
              <a:t>Relationship between </a:t>
            </a:r>
            <a:r>
              <a:rPr sz="1800">
                <a:solidFill>
                  <a:srgbClr val="404040"/>
                </a:solidFill>
                <a:latin typeface="Calibri"/>
                <a:cs typeface="Calibri"/>
              </a:rPr>
              <a:t>variables</a:t>
            </a:r>
            <a:r>
              <a:rPr sz="18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25">
                <a:solidFill>
                  <a:srgbClr val="404040"/>
                </a:solidFill>
                <a:latin typeface="Calibri"/>
                <a:cs typeface="Calibri"/>
              </a:rPr>
              <a:t>are </a:t>
            </a:r>
            <a:r>
              <a:rPr sz="1800">
                <a:solidFill>
                  <a:srgbClr val="404040"/>
                </a:solidFill>
                <a:latin typeface="Calibri"/>
                <a:cs typeface="Calibri"/>
              </a:rPr>
              <a:t>modeled</a:t>
            </a:r>
            <a:r>
              <a:rPr sz="18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18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5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sz="1800">
                <a:solidFill>
                  <a:srgbClr val="404040"/>
                </a:solidFill>
                <a:latin typeface="Calibri"/>
                <a:cs typeface="Calibri"/>
              </a:rPr>
              <a:t>series</a:t>
            </a:r>
            <a:r>
              <a:rPr sz="18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8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spc="-10">
                <a:solidFill>
                  <a:srgbClr val="006FAB"/>
                </a:solidFill>
                <a:latin typeface="Calibri"/>
                <a:cs typeface="Calibri"/>
              </a:rPr>
              <a:t>linear equations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90000"/>
              </a:lnSpc>
              <a:spcBef>
                <a:spcPts val="1005"/>
              </a:spcBef>
            </a:pPr>
            <a:r>
              <a:rPr sz="1800" b="1">
                <a:solidFill>
                  <a:srgbClr val="006FAB"/>
                </a:solidFill>
                <a:latin typeface="Calibri"/>
                <a:cs typeface="Calibri"/>
              </a:rPr>
              <a:t>Linear</a:t>
            </a:r>
            <a:r>
              <a:rPr sz="1800" b="1" spc="-40">
                <a:solidFill>
                  <a:srgbClr val="006FAB"/>
                </a:solidFill>
                <a:latin typeface="Calibri"/>
                <a:cs typeface="Calibri"/>
              </a:rPr>
              <a:t> </a:t>
            </a:r>
            <a:r>
              <a:rPr sz="1800" b="1" spc="-10">
                <a:solidFill>
                  <a:srgbClr val="006FAB"/>
                </a:solidFill>
                <a:latin typeface="Calibri"/>
                <a:cs typeface="Calibri"/>
              </a:rPr>
              <a:t>program </a:t>
            </a:r>
            <a:r>
              <a:rPr sz="1800" b="1">
                <a:solidFill>
                  <a:srgbClr val="006FAB"/>
                </a:solidFill>
                <a:latin typeface="Calibri"/>
                <a:cs typeface="Calibri"/>
              </a:rPr>
              <a:t>is</a:t>
            </a:r>
            <a:r>
              <a:rPr sz="1800" b="1" spc="-15">
                <a:solidFill>
                  <a:srgbClr val="006FAB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006FAB"/>
                </a:solidFill>
                <a:latin typeface="Calibri"/>
                <a:cs typeface="Calibri"/>
              </a:rPr>
              <a:t>used</a:t>
            </a:r>
            <a:r>
              <a:rPr sz="1800" b="1" spc="-35">
                <a:solidFill>
                  <a:srgbClr val="006FAB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006FAB"/>
                </a:solidFill>
                <a:latin typeface="Calibri"/>
                <a:cs typeface="Calibri"/>
              </a:rPr>
              <a:t>to</a:t>
            </a:r>
            <a:r>
              <a:rPr sz="1800" b="1" spc="-5">
                <a:solidFill>
                  <a:srgbClr val="006FAB"/>
                </a:solidFill>
                <a:latin typeface="Calibri"/>
                <a:cs typeface="Calibri"/>
              </a:rPr>
              <a:t> </a:t>
            </a:r>
            <a:r>
              <a:rPr sz="1800" b="1" spc="-20">
                <a:solidFill>
                  <a:srgbClr val="006FAB"/>
                </a:solidFill>
                <a:latin typeface="Calibri"/>
                <a:cs typeface="Calibri"/>
              </a:rPr>
              <a:t>find </a:t>
            </a:r>
            <a:r>
              <a:rPr sz="1800" b="1">
                <a:solidFill>
                  <a:srgbClr val="006FAB"/>
                </a:solidFill>
                <a:latin typeface="Calibri"/>
                <a:cs typeface="Calibri"/>
              </a:rPr>
              <a:t>combination</a:t>
            </a:r>
            <a:r>
              <a:rPr sz="1800" b="1" spc="-40">
                <a:solidFill>
                  <a:srgbClr val="006FAB"/>
                </a:solidFill>
                <a:latin typeface="Calibri"/>
                <a:cs typeface="Calibri"/>
              </a:rPr>
              <a:t> </a:t>
            </a:r>
            <a:r>
              <a:rPr sz="1800" spc="-25">
                <a:solidFill>
                  <a:srgbClr val="404040"/>
                </a:solidFill>
                <a:latin typeface="Calibri"/>
                <a:cs typeface="Calibri"/>
              </a:rPr>
              <a:t>of </a:t>
            </a:r>
            <a:r>
              <a:rPr sz="1800">
                <a:solidFill>
                  <a:srgbClr val="404040"/>
                </a:solidFill>
                <a:latin typeface="Calibri"/>
                <a:cs typeface="Calibri"/>
              </a:rPr>
              <a:t>feed</a:t>
            </a:r>
            <a:r>
              <a:rPr sz="1800" spc="-7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404040"/>
                </a:solidFill>
                <a:latin typeface="Calibri"/>
                <a:cs typeface="Calibri"/>
              </a:rPr>
              <a:t>slate, </a:t>
            </a:r>
            <a:r>
              <a:rPr sz="1800">
                <a:solidFill>
                  <a:srgbClr val="404040"/>
                </a:solidFill>
                <a:latin typeface="Calibri"/>
                <a:cs typeface="Calibri"/>
              </a:rPr>
              <a:t>products,</a:t>
            </a:r>
            <a:r>
              <a:rPr sz="18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20">
                <a:solidFill>
                  <a:srgbClr val="404040"/>
                </a:solidFill>
                <a:latin typeface="Calibri"/>
                <a:cs typeface="Calibri"/>
              </a:rPr>
              <a:t>unit </a:t>
            </a:r>
            <a:r>
              <a:rPr sz="1800" spc="-10">
                <a:solidFill>
                  <a:srgbClr val="404040"/>
                </a:solidFill>
                <a:latin typeface="Calibri"/>
                <a:cs typeface="Calibri"/>
              </a:rPr>
              <a:t>operating</a:t>
            </a:r>
            <a:r>
              <a:rPr sz="18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404040"/>
                </a:solidFill>
                <a:latin typeface="Calibri"/>
                <a:cs typeface="Calibri"/>
              </a:rPr>
              <a:t>rates, </a:t>
            </a:r>
            <a:r>
              <a:rPr sz="180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8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404040"/>
                </a:solidFill>
                <a:latin typeface="Calibri"/>
                <a:cs typeface="Calibri"/>
              </a:rPr>
              <a:t>operating parameters</a:t>
            </a:r>
            <a:r>
              <a:rPr sz="18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spc="-20">
                <a:solidFill>
                  <a:srgbClr val="006FAB"/>
                </a:solidFill>
                <a:latin typeface="Calibri"/>
                <a:cs typeface="Calibri"/>
              </a:rPr>
              <a:t>that </a:t>
            </a:r>
            <a:r>
              <a:rPr sz="1800" b="1">
                <a:solidFill>
                  <a:srgbClr val="006FAB"/>
                </a:solidFill>
                <a:latin typeface="Calibri"/>
                <a:cs typeface="Calibri"/>
              </a:rPr>
              <a:t>delivers</a:t>
            </a:r>
            <a:r>
              <a:rPr sz="1800" b="1" spc="-75">
                <a:solidFill>
                  <a:srgbClr val="006FAB"/>
                </a:solidFill>
                <a:latin typeface="Calibri"/>
                <a:cs typeface="Calibri"/>
              </a:rPr>
              <a:t> </a:t>
            </a:r>
            <a:r>
              <a:rPr sz="1800" b="1" spc="-10">
                <a:solidFill>
                  <a:srgbClr val="006FAB"/>
                </a:solidFill>
                <a:latin typeface="Calibri"/>
                <a:cs typeface="Calibri"/>
              </a:rPr>
              <a:t>highest profit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2575" y="3061462"/>
            <a:ext cx="2071370" cy="127698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38125" indent="-22542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238125" algn="l"/>
              </a:tabLst>
            </a:pPr>
            <a:r>
              <a:rPr sz="1800" spc="-10">
                <a:solidFill>
                  <a:srgbClr val="404040"/>
                </a:solidFill>
                <a:latin typeface="Calibri"/>
                <a:cs typeface="Calibri"/>
              </a:rPr>
              <a:t>Prices</a:t>
            </a:r>
            <a:endParaRPr sz="1800">
              <a:latin typeface="Calibri"/>
              <a:cs typeface="Calibri"/>
            </a:endParaRPr>
          </a:p>
          <a:p>
            <a:pPr marL="238125" indent="-225425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238125" algn="l"/>
              </a:tabLst>
            </a:pPr>
            <a:r>
              <a:rPr sz="1800" spc="-10">
                <a:solidFill>
                  <a:srgbClr val="404040"/>
                </a:solidFill>
                <a:latin typeface="Calibri"/>
                <a:cs typeface="Calibri"/>
              </a:rPr>
              <a:t>Qualities</a:t>
            </a:r>
            <a:endParaRPr sz="1800">
              <a:latin typeface="Calibri"/>
              <a:cs typeface="Calibri"/>
            </a:endParaRPr>
          </a:p>
          <a:p>
            <a:pPr marL="238125" marR="5080" indent="-226060">
              <a:lnSpc>
                <a:spcPct val="100000"/>
              </a:lnSpc>
              <a:spcBef>
                <a:spcPts val="395"/>
              </a:spcBef>
              <a:buFont typeface="Arial"/>
              <a:buChar char="•"/>
              <a:tabLst>
                <a:tab pos="238125" algn="l"/>
              </a:tabLst>
            </a:pPr>
            <a:r>
              <a:rPr sz="1800" spc="-10">
                <a:solidFill>
                  <a:srgbClr val="404040"/>
                </a:solidFill>
                <a:latin typeface="Calibri"/>
                <a:cs typeface="Calibri"/>
              </a:rPr>
              <a:t>Availability </a:t>
            </a:r>
            <a:r>
              <a:rPr sz="1800">
                <a:solidFill>
                  <a:srgbClr val="404040"/>
                </a:solidFill>
                <a:latin typeface="Calibri"/>
                <a:cs typeface="Calibri"/>
              </a:rPr>
              <a:t>(purchase</a:t>
            </a:r>
            <a:r>
              <a:rPr sz="1800" spc="-1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404040"/>
                </a:solidFill>
                <a:latin typeface="Calibri"/>
                <a:cs typeface="Calibri"/>
              </a:rPr>
              <a:t>volumes)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36690" y="3061462"/>
            <a:ext cx="1746250" cy="127698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240665" algn="l"/>
              </a:tabLst>
            </a:pPr>
            <a:r>
              <a:rPr sz="1800" spc="-10">
                <a:solidFill>
                  <a:srgbClr val="404040"/>
                </a:solidFill>
                <a:latin typeface="Calibri"/>
                <a:cs typeface="Calibri"/>
              </a:rPr>
              <a:t>Prices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240665" algn="l"/>
              </a:tabLst>
            </a:pPr>
            <a:r>
              <a:rPr sz="1800" spc="-10">
                <a:solidFill>
                  <a:srgbClr val="404040"/>
                </a:solidFill>
                <a:latin typeface="Calibri"/>
                <a:cs typeface="Calibri"/>
              </a:rPr>
              <a:t>Specifications</a:t>
            </a:r>
            <a:endParaRPr sz="1800">
              <a:latin typeface="Calibri"/>
              <a:cs typeface="Calibri"/>
            </a:endParaRPr>
          </a:p>
          <a:p>
            <a:pPr marL="241300" marR="5080" indent="-228600">
              <a:lnSpc>
                <a:spcPct val="100000"/>
              </a:lnSpc>
              <a:spcBef>
                <a:spcPts val="395"/>
              </a:spcBef>
              <a:buFont typeface="Arial"/>
              <a:buChar char="•"/>
              <a:tabLst>
                <a:tab pos="241300" algn="l"/>
              </a:tabLst>
            </a:pPr>
            <a:r>
              <a:rPr sz="1800">
                <a:solidFill>
                  <a:srgbClr val="404040"/>
                </a:solidFill>
                <a:latin typeface="Calibri"/>
                <a:cs typeface="Calibri"/>
              </a:rPr>
              <a:t>Market</a:t>
            </a:r>
            <a:r>
              <a:rPr sz="18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404040"/>
                </a:solidFill>
                <a:latin typeface="Calibri"/>
                <a:cs typeface="Calibri"/>
              </a:rPr>
              <a:t>demand </a:t>
            </a:r>
            <a:r>
              <a:rPr sz="1800">
                <a:solidFill>
                  <a:srgbClr val="404040"/>
                </a:solidFill>
                <a:latin typeface="Calibri"/>
                <a:cs typeface="Calibri"/>
              </a:rPr>
              <a:t>(sales</a:t>
            </a:r>
            <a:r>
              <a:rPr sz="18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404040"/>
                </a:solidFill>
                <a:latin typeface="Calibri"/>
                <a:cs typeface="Calibri"/>
              </a:rPr>
              <a:t>volumes)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22092" y="4748784"/>
            <a:ext cx="3747770" cy="1470660"/>
          </a:xfrm>
          <a:custGeom>
            <a:avLst/>
            <a:gdLst/>
            <a:ahLst/>
            <a:cxnLst/>
            <a:rect l="l" t="t" r="r" b="b"/>
            <a:pathLst>
              <a:path w="3747770" h="1470660">
                <a:moveTo>
                  <a:pt x="3502405" y="0"/>
                </a:moveTo>
                <a:lnTo>
                  <a:pt x="0" y="0"/>
                </a:lnTo>
                <a:lnTo>
                  <a:pt x="0" y="1470660"/>
                </a:lnTo>
                <a:lnTo>
                  <a:pt x="3747515" y="1470660"/>
                </a:lnTo>
                <a:lnTo>
                  <a:pt x="3747515" y="245110"/>
                </a:lnTo>
                <a:lnTo>
                  <a:pt x="3502405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101720" y="4795587"/>
            <a:ext cx="3357879" cy="132778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240665" algn="l"/>
              </a:tabLst>
            </a:pPr>
            <a:r>
              <a:rPr sz="1800">
                <a:solidFill>
                  <a:srgbClr val="404040"/>
                </a:solidFill>
                <a:latin typeface="Calibri"/>
                <a:cs typeface="Calibri"/>
              </a:rPr>
              <a:t>10</a:t>
            </a:r>
            <a:r>
              <a:rPr sz="18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18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404040"/>
                </a:solidFill>
                <a:latin typeface="Calibri"/>
                <a:cs typeface="Calibri"/>
              </a:rPr>
              <a:t>25+</a:t>
            </a:r>
            <a:r>
              <a:rPr sz="18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404040"/>
                </a:solidFill>
                <a:latin typeface="Calibri"/>
                <a:cs typeface="Calibri"/>
              </a:rPr>
              <a:t>individual</a:t>
            </a:r>
            <a:r>
              <a:rPr sz="18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404040"/>
                </a:solidFill>
                <a:latin typeface="Calibri"/>
                <a:cs typeface="Calibri"/>
              </a:rPr>
              <a:t>process</a:t>
            </a:r>
            <a:r>
              <a:rPr sz="18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20">
                <a:solidFill>
                  <a:srgbClr val="404040"/>
                </a:solidFill>
                <a:latin typeface="Calibri"/>
                <a:cs typeface="Calibri"/>
              </a:rPr>
              <a:t>units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240665" algn="l"/>
              </a:tabLst>
            </a:pPr>
            <a:r>
              <a:rPr sz="1800">
                <a:solidFill>
                  <a:srgbClr val="404040"/>
                </a:solidFill>
                <a:latin typeface="Calibri"/>
                <a:cs typeface="Calibri"/>
              </a:rPr>
              <a:t>Unit</a:t>
            </a:r>
            <a:r>
              <a:rPr sz="18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404040"/>
                </a:solidFill>
                <a:latin typeface="Calibri"/>
                <a:cs typeface="Calibri"/>
              </a:rPr>
              <a:t>hardware</a:t>
            </a:r>
            <a:r>
              <a:rPr sz="18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404040"/>
                </a:solidFill>
                <a:latin typeface="Calibri"/>
                <a:cs typeface="Calibri"/>
              </a:rPr>
              <a:t>constraints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95"/>
              </a:spcBef>
              <a:buFont typeface="Arial"/>
              <a:buChar char="•"/>
              <a:tabLst>
                <a:tab pos="240665" algn="l"/>
              </a:tabLst>
            </a:pPr>
            <a:r>
              <a:rPr sz="1800" spc="-10">
                <a:solidFill>
                  <a:srgbClr val="404040"/>
                </a:solidFill>
                <a:latin typeface="Calibri"/>
                <a:cs typeface="Calibri"/>
              </a:rPr>
              <a:t>Operating</a:t>
            </a:r>
            <a:r>
              <a:rPr sz="18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404040"/>
                </a:solidFill>
                <a:latin typeface="Calibri"/>
                <a:cs typeface="Calibri"/>
              </a:rPr>
              <a:t>parameters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>
                <a:tab pos="240665" algn="l"/>
              </a:tabLst>
            </a:pPr>
            <a:r>
              <a:rPr sz="1800" spc="-10">
                <a:solidFill>
                  <a:srgbClr val="404040"/>
                </a:solidFill>
                <a:latin typeface="Calibri"/>
                <a:cs typeface="Calibri"/>
              </a:rPr>
              <a:t>Operating</a:t>
            </a:r>
            <a:r>
              <a:rPr sz="18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20">
                <a:solidFill>
                  <a:srgbClr val="404040"/>
                </a:solidFill>
                <a:latin typeface="Calibri"/>
                <a:cs typeface="Calibri"/>
              </a:rPr>
              <a:t>costs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954779" y="3241548"/>
            <a:ext cx="1858645" cy="1539875"/>
            <a:chOff x="3954779" y="3241548"/>
            <a:chExt cx="1858645" cy="1539875"/>
          </a:xfrm>
        </p:grpSpPr>
        <p:sp>
          <p:nvSpPr>
            <p:cNvPr id="9" name="object 9"/>
            <p:cNvSpPr/>
            <p:nvPr/>
          </p:nvSpPr>
          <p:spPr>
            <a:xfrm>
              <a:off x="4889753" y="3598926"/>
              <a:ext cx="0" cy="1172210"/>
            </a:xfrm>
            <a:custGeom>
              <a:avLst/>
              <a:gdLst/>
              <a:ahLst/>
              <a:cxnLst/>
              <a:rect l="l" t="t" r="r" b="b"/>
              <a:pathLst>
                <a:path h="1172210">
                  <a:moveTo>
                    <a:pt x="0" y="0"/>
                  </a:moveTo>
                  <a:lnTo>
                    <a:pt x="0" y="1171829"/>
                  </a:lnTo>
                </a:path>
              </a:pathLst>
            </a:custGeom>
            <a:ln w="19812">
              <a:solidFill>
                <a:srgbClr val="00A4D9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54779" y="3241548"/>
              <a:ext cx="1858518" cy="381762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428871" y="3252977"/>
            <a:ext cx="9118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>
                <a:solidFill>
                  <a:srgbClr val="FFFFFF"/>
                </a:solidFill>
                <a:latin typeface="Calibri"/>
                <a:cs typeface="Calibri"/>
              </a:rPr>
              <a:t>Refinery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3836" y="2417064"/>
            <a:ext cx="2867025" cy="791210"/>
          </a:xfrm>
          <a:custGeom>
            <a:avLst/>
            <a:gdLst/>
            <a:ahLst/>
            <a:cxnLst/>
            <a:rect l="l" t="t" r="r" b="b"/>
            <a:pathLst>
              <a:path w="2867025" h="791210">
                <a:moveTo>
                  <a:pt x="2280539" y="0"/>
                </a:moveTo>
                <a:lnTo>
                  <a:pt x="2280539" y="134238"/>
                </a:lnTo>
                <a:lnTo>
                  <a:pt x="0" y="134238"/>
                </a:lnTo>
                <a:lnTo>
                  <a:pt x="0" y="656716"/>
                </a:lnTo>
                <a:lnTo>
                  <a:pt x="2280539" y="656716"/>
                </a:lnTo>
                <a:lnTo>
                  <a:pt x="2280539" y="790956"/>
                </a:lnTo>
                <a:lnTo>
                  <a:pt x="2866643" y="395477"/>
                </a:lnTo>
                <a:lnTo>
                  <a:pt x="2280539" y="0"/>
                </a:lnTo>
                <a:close/>
              </a:path>
            </a:pathLst>
          </a:custGeom>
          <a:solidFill>
            <a:srgbClr val="FFC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257096" y="2631186"/>
            <a:ext cx="1910714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>
                <a:solidFill>
                  <a:srgbClr val="404040"/>
                </a:solidFill>
                <a:latin typeface="Calibri"/>
                <a:cs typeface="Calibri"/>
              </a:rPr>
              <a:t>Feedstocks</a:t>
            </a:r>
            <a:r>
              <a:rPr sz="2000" b="1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spc="-10">
                <a:solidFill>
                  <a:srgbClr val="404040"/>
                </a:solidFill>
                <a:latin typeface="Calibri"/>
                <a:cs typeface="Calibri"/>
              </a:rPr>
              <a:t>(100+)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957315" y="2417064"/>
            <a:ext cx="2867025" cy="791210"/>
          </a:xfrm>
          <a:custGeom>
            <a:avLst/>
            <a:gdLst/>
            <a:ahLst/>
            <a:cxnLst/>
            <a:rect l="l" t="t" r="r" b="b"/>
            <a:pathLst>
              <a:path w="2867025" h="791210">
                <a:moveTo>
                  <a:pt x="2280539" y="0"/>
                </a:moveTo>
                <a:lnTo>
                  <a:pt x="2280539" y="134238"/>
                </a:lnTo>
                <a:lnTo>
                  <a:pt x="0" y="134238"/>
                </a:lnTo>
                <a:lnTo>
                  <a:pt x="0" y="656716"/>
                </a:lnTo>
                <a:lnTo>
                  <a:pt x="2280539" y="656716"/>
                </a:lnTo>
                <a:lnTo>
                  <a:pt x="2280539" y="790956"/>
                </a:lnTo>
                <a:lnTo>
                  <a:pt x="2866643" y="395477"/>
                </a:lnTo>
                <a:lnTo>
                  <a:pt x="2280539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419850" y="2631186"/>
            <a:ext cx="15538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>
                <a:solidFill>
                  <a:srgbClr val="FFFFFF"/>
                </a:solidFill>
                <a:latin typeface="Calibri"/>
                <a:cs typeface="Calibri"/>
              </a:rPr>
              <a:t>Products</a:t>
            </a:r>
            <a:r>
              <a:rPr sz="2000" b="1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10">
                <a:solidFill>
                  <a:srgbClr val="FFFFFF"/>
                </a:solidFill>
                <a:latin typeface="Calibri"/>
                <a:cs typeface="Calibri"/>
              </a:rPr>
              <a:t>(30+)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953255" y="2068067"/>
            <a:ext cx="1865630" cy="1196340"/>
            <a:chOff x="3953255" y="2068067"/>
            <a:chExt cx="1865630" cy="1196340"/>
          </a:xfrm>
        </p:grpSpPr>
        <p:sp>
          <p:nvSpPr>
            <p:cNvPr id="17" name="object 17"/>
            <p:cNvSpPr/>
            <p:nvPr/>
          </p:nvSpPr>
          <p:spPr>
            <a:xfrm>
              <a:off x="5347716" y="3004641"/>
              <a:ext cx="471170" cy="260350"/>
            </a:xfrm>
            <a:custGeom>
              <a:avLst/>
              <a:gdLst/>
              <a:ahLst/>
              <a:cxnLst/>
              <a:rect l="l" t="t" r="r" b="b"/>
              <a:pathLst>
                <a:path w="471170" h="260350">
                  <a:moveTo>
                    <a:pt x="315468" y="6781"/>
                  </a:moveTo>
                  <a:lnTo>
                    <a:pt x="313944" y="6781"/>
                  </a:lnTo>
                  <a:lnTo>
                    <a:pt x="313944" y="13576"/>
                  </a:lnTo>
                  <a:lnTo>
                    <a:pt x="306324" y="9702"/>
                  </a:lnTo>
                  <a:lnTo>
                    <a:pt x="302260" y="9702"/>
                  </a:lnTo>
                  <a:lnTo>
                    <a:pt x="313944" y="13639"/>
                  </a:lnTo>
                  <a:lnTo>
                    <a:pt x="313944" y="17449"/>
                  </a:lnTo>
                  <a:lnTo>
                    <a:pt x="315468" y="17449"/>
                  </a:lnTo>
                  <a:lnTo>
                    <a:pt x="315468" y="6781"/>
                  </a:lnTo>
                  <a:close/>
                </a:path>
                <a:path w="471170" h="260350">
                  <a:moveTo>
                    <a:pt x="334518" y="9702"/>
                  </a:moveTo>
                  <a:lnTo>
                    <a:pt x="318389" y="5638"/>
                  </a:lnTo>
                  <a:lnTo>
                    <a:pt x="310934" y="5638"/>
                  </a:lnTo>
                  <a:lnTo>
                    <a:pt x="318909" y="7188"/>
                  </a:lnTo>
                  <a:lnTo>
                    <a:pt x="329920" y="9017"/>
                  </a:lnTo>
                  <a:lnTo>
                    <a:pt x="334518" y="9702"/>
                  </a:lnTo>
                  <a:close/>
                </a:path>
                <a:path w="471170" h="260350">
                  <a:moveTo>
                    <a:pt x="386715" y="25831"/>
                  </a:moveTo>
                  <a:lnTo>
                    <a:pt x="378714" y="21767"/>
                  </a:lnTo>
                  <a:lnTo>
                    <a:pt x="370713" y="21767"/>
                  </a:lnTo>
                  <a:lnTo>
                    <a:pt x="386715" y="25831"/>
                  </a:lnTo>
                  <a:close/>
                </a:path>
                <a:path w="471170" h="260350">
                  <a:moveTo>
                    <a:pt x="388620" y="22021"/>
                  </a:moveTo>
                  <a:lnTo>
                    <a:pt x="387096" y="22021"/>
                  </a:lnTo>
                  <a:lnTo>
                    <a:pt x="387096" y="29641"/>
                  </a:lnTo>
                  <a:lnTo>
                    <a:pt x="388620" y="29641"/>
                  </a:lnTo>
                  <a:lnTo>
                    <a:pt x="388620" y="22021"/>
                  </a:lnTo>
                  <a:close/>
                </a:path>
                <a:path w="471170" h="260350">
                  <a:moveTo>
                    <a:pt x="439039" y="41960"/>
                  </a:moveTo>
                  <a:lnTo>
                    <a:pt x="431038" y="37896"/>
                  </a:lnTo>
                  <a:lnTo>
                    <a:pt x="426974" y="37896"/>
                  </a:lnTo>
                  <a:lnTo>
                    <a:pt x="434975" y="41960"/>
                  </a:lnTo>
                  <a:lnTo>
                    <a:pt x="439039" y="41960"/>
                  </a:lnTo>
                  <a:close/>
                </a:path>
                <a:path w="471170" h="260350">
                  <a:moveTo>
                    <a:pt x="451104" y="41960"/>
                  </a:moveTo>
                  <a:lnTo>
                    <a:pt x="443103" y="37896"/>
                  </a:lnTo>
                  <a:lnTo>
                    <a:pt x="441439" y="37896"/>
                  </a:lnTo>
                  <a:lnTo>
                    <a:pt x="443560" y="38938"/>
                  </a:lnTo>
                  <a:lnTo>
                    <a:pt x="449021" y="41211"/>
                  </a:lnTo>
                  <a:lnTo>
                    <a:pt x="451104" y="41960"/>
                  </a:lnTo>
                  <a:close/>
                </a:path>
                <a:path w="471170" h="260350">
                  <a:moveTo>
                    <a:pt x="451231" y="50025"/>
                  </a:moveTo>
                  <a:lnTo>
                    <a:pt x="448322" y="47282"/>
                  </a:lnTo>
                  <a:lnTo>
                    <a:pt x="447040" y="46024"/>
                  </a:lnTo>
                  <a:lnTo>
                    <a:pt x="439039" y="41960"/>
                  </a:lnTo>
                  <a:lnTo>
                    <a:pt x="443103" y="46024"/>
                  </a:lnTo>
                  <a:lnTo>
                    <a:pt x="451231" y="50025"/>
                  </a:lnTo>
                  <a:close/>
                </a:path>
                <a:path w="471170" h="260350">
                  <a:moveTo>
                    <a:pt x="470916" y="70281"/>
                  </a:moveTo>
                  <a:lnTo>
                    <a:pt x="458851" y="58216"/>
                  </a:lnTo>
                  <a:lnTo>
                    <a:pt x="450850" y="54152"/>
                  </a:lnTo>
                  <a:lnTo>
                    <a:pt x="450621" y="54025"/>
                  </a:lnTo>
                  <a:lnTo>
                    <a:pt x="451104" y="54025"/>
                  </a:lnTo>
                  <a:lnTo>
                    <a:pt x="450405" y="53911"/>
                  </a:lnTo>
                  <a:lnTo>
                    <a:pt x="448310" y="52717"/>
                  </a:lnTo>
                  <a:lnTo>
                    <a:pt x="443357" y="50368"/>
                  </a:lnTo>
                  <a:lnTo>
                    <a:pt x="439039" y="46024"/>
                  </a:lnTo>
                  <a:lnTo>
                    <a:pt x="434975" y="46024"/>
                  </a:lnTo>
                  <a:lnTo>
                    <a:pt x="426974" y="41960"/>
                  </a:lnTo>
                  <a:lnTo>
                    <a:pt x="422910" y="41960"/>
                  </a:lnTo>
                  <a:lnTo>
                    <a:pt x="414909" y="37896"/>
                  </a:lnTo>
                  <a:lnTo>
                    <a:pt x="410413" y="37896"/>
                  </a:lnTo>
                  <a:lnTo>
                    <a:pt x="405168" y="36169"/>
                  </a:lnTo>
                  <a:lnTo>
                    <a:pt x="403225" y="34213"/>
                  </a:lnTo>
                  <a:lnTo>
                    <a:pt x="403860" y="34213"/>
                  </a:lnTo>
                  <a:lnTo>
                    <a:pt x="403860" y="26174"/>
                  </a:lnTo>
                  <a:lnTo>
                    <a:pt x="414528" y="29718"/>
                  </a:lnTo>
                  <a:lnTo>
                    <a:pt x="414528" y="33464"/>
                  </a:lnTo>
                  <a:lnTo>
                    <a:pt x="410845" y="29895"/>
                  </a:lnTo>
                  <a:lnTo>
                    <a:pt x="406908" y="29895"/>
                  </a:lnTo>
                  <a:lnTo>
                    <a:pt x="414528" y="33655"/>
                  </a:lnTo>
                  <a:lnTo>
                    <a:pt x="414528" y="37261"/>
                  </a:lnTo>
                  <a:lnTo>
                    <a:pt x="416052" y="37261"/>
                  </a:lnTo>
                  <a:lnTo>
                    <a:pt x="416052" y="30226"/>
                  </a:lnTo>
                  <a:lnTo>
                    <a:pt x="426961" y="33832"/>
                  </a:lnTo>
                  <a:lnTo>
                    <a:pt x="431038" y="33832"/>
                  </a:lnTo>
                  <a:lnTo>
                    <a:pt x="439039" y="37896"/>
                  </a:lnTo>
                  <a:lnTo>
                    <a:pt x="441439" y="37896"/>
                  </a:lnTo>
                  <a:lnTo>
                    <a:pt x="435825" y="35166"/>
                  </a:lnTo>
                  <a:lnTo>
                    <a:pt x="426974" y="29895"/>
                  </a:lnTo>
                  <a:lnTo>
                    <a:pt x="423710" y="29197"/>
                  </a:lnTo>
                  <a:lnTo>
                    <a:pt x="415925" y="27355"/>
                  </a:lnTo>
                  <a:lnTo>
                    <a:pt x="406603" y="24752"/>
                  </a:lnTo>
                  <a:lnTo>
                    <a:pt x="403860" y="23710"/>
                  </a:lnTo>
                  <a:lnTo>
                    <a:pt x="403860" y="22021"/>
                  </a:lnTo>
                  <a:lnTo>
                    <a:pt x="402336" y="22021"/>
                  </a:lnTo>
                  <a:lnTo>
                    <a:pt x="402336" y="23126"/>
                  </a:lnTo>
                  <a:lnTo>
                    <a:pt x="398780" y="21767"/>
                  </a:lnTo>
                  <a:lnTo>
                    <a:pt x="395516" y="21158"/>
                  </a:lnTo>
                  <a:lnTo>
                    <a:pt x="387743" y="19812"/>
                  </a:lnTo>
                  <a:lnTo>
                    <a:pt x="378472" y="18453"/>
                  </a:lnTo>
                  <a:lnTo>
                    <a:pt x="373303" y="18453"/>
                  </a:lnTo>
                  <a:lnTo>
                    <a:pt x="370713" y="17830"/>
                  </a:lnTo>
                  <a:lnTo>
                    <a:pt x="376504" y="19291"/>
                  </a:lnTo>
                  <a:lnTo>
                    <a:pt x="374802" y="18846"/>
                  </a:lnTo>
                  <a:lnTo>
                    <a:pt x="386715" y="21767"/>
                  </a:lnTo>
                  <a:lnTo>
                    <a:pt x="394843" y="21767"/>
                  </a:lnTo>
                  <a:lnTo>
                    <a:pt x="402336" y="25577"/>
                  </a:lnTo>
                  <a:lnTo>
                    <a:pt x="402336" y="29387"/>
                  </a:lnTo>
                  <a:lnTo>
                    <a:pt x="398780" y="25831"/>
                  </a:lnTo>
                  <a:lnTo>
                    <a:pt x="394843" y="25831"/>
                  </a:lnTo>
                  <a:lnTo>
                    <a:pt x="402336" y="29641"/>
                  </a:lnTo>
                  <a:lnTo>
                    <a:pt x="402336" y="33832"/>
                  </a:lnTo>
                  <a:lnTo>
                    <a:pt x="398780" y="33832"/>
                  </a:lnTo>
                  <a:lnTo>
                    <a:pt x="386715" y="29895"/>
                  </a:lnTo>
                  <a:lnTo>
                    <a:pt x="383171" y="29895"/>
                  </a:lnTo>
                  <a:lnTo>
                    <a:pt x="375361" y="27927"/>
                  </a:lnTo>
                  <a:lnTo>
                    <a:pt x="374497" y="27762"/>
                  </a:lnTo>
                  <a:lnTo>
                    <a:pt x="370713" y="25831"/>
                  </a:lnTo>
                  <a:lnTo>
                    <a:pt x="364705" y="25831"/>
                  </a:lnTo>
                  <a:lnTo>
                    <a:pt x="354317" y="23787"/>
                  </a:lnTo>
                  <a:lnTo>
                    <a:pt x="352348" y="23609"/>
                  </a:lnTo>
                  <a:lnTo>
                    <a:pt x="350520" y="21767"/>
                  </a:lnTo>
                  <a:lnTo>
                    <a:pt x="336791" y="21767"/>
                  </a:lnTo>
                  <a:lnTo>
                    <a:pt x="336791" y="14351"/>
                  </a:lnTo>
                  <a:lnTo>
                    <a:pt x="350520" y="17830"/>
                  </a:lnTo>
                  <a:lnTo>
                    <a:pt x="353568" y="17830"/>
                  </a:lnTo>
                  <a:lnTo>
                    <a:pt x="353568" y="22021"/>
                  </a:lnTo>
                  <a:lnTo>
                    <a:pt x="355092" y="22021"/>
                  </a:lnTo>
                  <a:lnTo>
                    <a:pt x="355092" y="18008"/>
                  </a:lnTo>
                  <a:lnTo>
                    <a:pt x="366649" y="21767"/>
                  </a:lnTo>
                  <a:lnTo>
                    <a:pt x="368808" y="21767"/>
                  </a:lnTo>
                  <a:lnTo>
                    <a:pt x="368808" y="25069"/>
                  </a:lnTo>
                  <a:lnTo>
                    <a:pt x="370332" y="25069"/>
                  </a:lnTo>
                  <a:lnTo>
                    <a:pt x="370332" y="21767"/>
                  </a:lnTo>
                  <a:lnTo>
                    <a:pt x="370713" y="21767"/>
                  </a:lnTo>
                  <a:lnTo>
                    <a:pt x="370332" y="21678"/>
                  </a:lnTo>
                  <a:lnTo>
                    <a:pt x="370332" y="17741"/>
                  </a:lnTo>
                  <a:lnTo>
                    <a:pt x="370713" y="17830"/>
                  </a:lnTo>
                  <a:lnTo>
                    <a:pt x="371055" y="17868"/>
                  </a:lnTo>
                  <a:lnTo>
                    <a:pt x="370332" y="17678"/>
                  </a:lnTo>
                  <a:lnTo>
                    <a:pt x="370332" y="17449"/>
                  </a:lnTo>
                  <a:lnTo>
                    <a:pt x="369468" y="17449"/>
                  </a:lnTo>
                  <a:lnTo>
                    <a:pt x="369189" y="17386"/>
                  </a:lnTo>
                  <a:lnTo>
                    <a:pt x="368808" y="17449"/>
                  </a:lnTo>
                  <a:lnTo>
                    <a:pt x="368808" y="21310"/>
                  </a:lnTo>
                  <a:lnTo>
                    <a:pt x="355092" y="17957"/>
                  </a:lnTo>
                  <a:lnTo>
                    <a:pt x="355092" y="14401"/>
                  </a:lnTo>
                  <a:lnTo>
                    <a:pt x="353568" y="14401"/>
                  </a:lnTo>
                  <a:lnTo>
                    <a:pt x="353568" y="17627"/>
                  </a:lnTo>
                  <a:lnTo>
                    <a:pt x="336791" y="14236"/>
                  </a:lnTo>
                  <a:lnTo>
                    <a:pt x="336791" y="10172"/>
                  </a:lnTo>
                  <a:lnTo>
                    <a:pt x="354584" y="13766"/>
                  </a:lnTo>
                  <a:lnTo>
                    <a:pt x="369189" y="17449"/>
                  </a:lnTo>
                  <a:lnTo>
                    <a:pt x="355612" y="13766"/>
                  </a:lnTo>
                  <a:lnTo>
                    <a:pt x="343547" y="10985"/>
                  </a:lnTo>
                  <a:lnTo>
                    <a:pt x="336791" y="10033"/>
                  </a:lnTo>
                  <a:lnTo>
                    <a:pt x="336791" y="9829"/>
                  </a:lnTo>
                  <a:lnTo>
                    <a:pt x="335597" y="9829"/>
                  </a:lnTo>
                  <a:lnTo>
                    <a:pt x="335597" y="22047"/>
                  </a:lnTo>
                  <a:lnTo>
                    <a:pt x="335368" y="22021"/>
                  </a:lnTo>
                  <a:lnTo>
                    <a:pt x="335521" y="22021"/>
                  </a:lnTo>
                  <a:lnTo>
                    <a:pt x="335597" y="9829"/>
                  </a:lnTo>
                  <a:lnTo>
                    <a:pt x="335407" y="9829"/>
                  </a:lnTo>
                  <a:lnTo>
                    <a:pt x="334518" y="9702"/>
                  </a:lnTo>
                  <a:lnTo>
                    <a:pt x="335140" y="9829"/>
                  </a:lnTo>
                  <a:lnTo>
                    <a:pt x="333756" y="9829"/>
                  </a:lnTo>
                  <a:lnTo>
                    <a:pt x="333756" y="21399"/>
                  </a:lnTo>
                  <a:lnTo>
                    <a:pt x="333756" y="21704"/>
                  </a:lnTo>
                  <a:lnTo>
                    <a:pt x="333756" y="21856"/>
                  </a:lnTo>
                  <a:lnTo>
                    <a:pt x="332486" y="21602"/>
                  </a:lnTo>
                  <a:lnTo>
                    <a:pt x="333756" y="21704"/>
                  </a:lnTo>
                  <a:lnTo>
                    <a:pt x="333756" y="21399"/>
                  </a:lnTo>
                  <a:lnTo>
                    <a:pt x="326390" y="17830"/>
                  </a:lnTo>
                  <a:lnTo>
                    <a:pt x="312089" y="17830"/>
                  </a:lnTo>
                  <a:lnTo>
                    <a:pt x="300837" y="15862"/>
                  </a:lnTo>
                  <a:lnTo>
                    <a:pt x="300240" y="15786"/>
                  </a:lnTo>
                  <a:lnTo>
                    <a:pt x="294259" y="13766"/>
                  </a:lnTo>
                  <a:lnTo>
                    <a:pt x="294132" y="13766"/>
                  </a:lnTo>
                  <a:lnTo>
                    <a:pt x="294132" y="6781"/>
                  </a:lnTo>
                  <a:lnTo>
                    <a:pt x="292608" y="6781"/>
                  </a:lnTo>
                  <a:lnTo>
                    <a:pt x="292608" y="13766"/>
                  </a:lnTo>
                  <a:lnTo>
                    <a:pt x="284988" y="13766"/>
                  </a:lnTo>
                  <a:lnTo>
                    <a:pt x="275844" y="12560"/>
                  </a:lnTo>
                  <a:lnTo>
                    <a:pt x="275844" y="2032"/>
                  </a:lnTo>
                  <a:lnTo>
                    <a:pt x="294259" y="5638"/>
                  </a:lnTo>
                  <a:lnTo>
                    <a:pt x="310934" y="5638"/>
                  </a:lnTo>
                  <a:lnTo>
                    <a:pt x="305638" y="4622"/>
                  </a:lnTo>
                  <a:lnTo>
                    <a:pt x="294259" y="1701"/>
                  </a:lnTo>
                  <a:lnTo>
                    <a:pt x="275844" y="1701"/>
                  </a:lnTo>
                  <a:lnTo>
                    <a:pt x="275844" y="698"/>
                  </a:lnTo>
                  <a:lnTo>
                    <a:pt x="274320" y="698"/>
                  </a:lnTo>
                  <a:lnTo>
                    <a:pt x="274320" y="1701"/>
                  </a:lnTo>
                  <a:lnTo>
                    <a:pt x="274193" y="1701"/>
                  </a:lnTo>
                  <a:lnTo>
                    <a:pt x="274320" y="1727"/>
                  </a:lnTo>
                  <a:lnTo>
                    <a:pt x="274320" y="12357"/>
                  </a:lnTo>
                  <a:lnTo>
                    <a:pt x="269544" y="11722"/>
                  </a:lnTo>
                  <a:lnTo>
                    <a:pt x="256019" y="10934"/>
                  </a:lnTo>
                  <a:lnTo>
                    <a:pt x="256019" y="6045"/>
                  </a:lnTo>
                  <a:lnTo>
                    <a:pt x="274193" y="9702"/>
                  </a:lnTo>
                  <a:lnTo>
                    <a:pt x="266065" y="5638"/>
                  </a:lnTo>
                  <a:lnTo>
                    <a:pt x="256019" y="5638"/>
                  </a:lnTo>
                  <a:lnTo>
                    <a:pt x="256019" y="698"/>
                  </a:lnTo>
                  <a:lnTo>
                    <a:pt x="252984" y="698"/>
                  </a:lnTo>
                  <a:lnTo>
                    <a:pt x="252984" y="1562"/>
                  </a:lnTo>
                  <a:lnTo>
                    <a:pt x="252984" y="1701"/>
                  </a:lnTo>
                  <a:lnTo>
                    <a:pt x="252984" y="10756"/>
                  </a:lnTo>
                  <a:lnTo>
                    <a:pt x="239268" y="9944"/>
                  </a:lnTo>
                  <a:lnTo>
                    <a:pt x="239268" y="1701"/>
                  </a:lnTo>
                  <a:lnTo>
                    <a:pt x="252984" y="1701"/>
                  </a:lnTo>
                  <a:lnTo>
                    <a:pt x="252984" y="1562"/>
                  </a:lnTo>
                  <a:lnTo>
                    <a:pt x="250037" y="1130"/>
                  </a:lnTo>
                  <a:lnTo>
                    <a:pt x="240423" y="177"/>
                  </a:lnTo>
                  <a:lnTo>
                    <a:pt x="237744" y="139"/>
                  </a:lnTo>
                  <a:lnTo>
                    <a:pt x="237744" y="1701"/>
                  </a:lnTo>
                  <a:lnTo>
                    <a:pt x="237744" y="9855"/>
                  </a:lnTo>
                  <a:lnTo>
                    <a:pt x="237490" y="9829"/>
                  </a:lnTo>
                  <a:lnTo>
                    <a:pt x="233426" y="9829"/>
                  </a:lnTo>
                  <a:lnTo>
                    <a:pt x="220713" y="10464"/>
                  </a:lnTo>
                  <a:lnTo>
                    <a:pt x="217932" y="10756"/>
                  </a:lnTo>
                  <a:lnTo>
                    <a:pt x="217932" y="1701"/>
                  </a:lnTo>
                  <a:lnTo>
                    <a:pt x="237744" y="1701"/>
                  </a:lnTo>
                  <a:lnTo>
                    <a:pt x="237744" y="139"/>
                  </a:lnTo>
                  <a:lnTo>
                    <a:pt x="228549" y="0"/>
                  </a:lnTo>
                  <a:lnTo>
                    <a:pt x="217932" y="1689"/>
                  </a:lnTo>
                  <a:lnTo>
                    <a:pt x="217932" y="698"/>
                  </a:lnTo>
                  <a:lnTo>
                    <a:pt x="216408" y="698"/>
                  </a:lnTo>
                  <a:lnTo>
                    <a:pt x="216408" y="10922"/>
                  </a:lnTo>
                  <a:lnTo>
                    <a:pt x="198120" y="12827"/>
                  </a:lnTo>
                  <a:lnTo>
                    <a:pt x="198120" y="6578"/>
                  </a:lnTo>
                  <a:lnTo>
                    <a:pt x="201803" y="5638"/>
                  </a:lnTo>
                  <a:lnTo>
                    <a:pt x="198120" y="5638"/>
                  </a:lnTo>
                  <a:lnTo>
                    <a:pt x="198120" y="698"/>
                  </a:lnTo>
                  <a:lnTo>
                    <a:pt x="196596" y="698"/>
                  </a:lnTo>
                  <a:lnTo>
                    <a:pt x="196596" y="5638"/>
                  </a:lnTo>
                  <a:lnTo>
                    <a:pt x="189738" y="5638"/>
                  </a:lnTo>
                  <a:lnTo>
                    <a:pt x="185674" y="9702"/>
                  </a:lnTo>
                  <a:lnTo>
                    <a:pt x="196596" y="6959"/>
                  </a:lnTo>
                  <a:lnTo>
                    <a:pt x="196596" y="12992"/>
                  </a:lnTo>
                  <a:lnTo>
                    <a:pt x="193802" y="13271"/>
                  </a:lnTo>
                  <a:lnTo>
                    <a:pt x="183692" y="13766"/>
                  </a:lnTo>
                  <a:lnTo>
                    <a:pt x="178308" y="13766"/>
                  </a:lnTo>
                  <a:lnTo>
                    <a:pt x="178308" y="3505"/>
                  </a:lnTo>
                  <a:lnTo>
                    <a:pt x="185674" y="1701"/>
                  </a:lnTo>
                  <a:lnTo>
                    <a:pt x="178308" y="1701"/>
                  </a:lnTo>
                  <a:lnTo>
                    <a:pt x="178308" y="698"/>
                  </a:lnTo>
                  <a:lnTo>
                    <a:pt x="176784" y="698"/>
                  </a:lnTo>
                  <a:lnTo>
                    <a:pt x="176784" y="1701"/>
                  </a:lnTo>
                  <a:lnTo>
                    <a:pt x="173609" y="1701"/>
                  </a:lnTo>
                  <a:lnTo>
                    <a:pt x="165608" y="5638"/>
                  </a:lnTo>
                  <a:lnTo>
                    <a:pt x="169545" y="5638"/>
                  </a:lnTo>
                  <a:lnTo>
                    <a:pt x="176784" y="3873"/>
                  </a:lnTo>
                  <a:lnTo>
                    <a:pt x="176784" y="13766"/>
                  </a:lnTo>
                  <a:lnTo>
                    <a:pt x="169545" y="13766"/>
                  </a:lnTo>
                  <a:lnTo>
                    <a:pt x="168224" y="15125"/>
                  </a:lnTo>
                  <a:lnTo>
                    <a:pt x="163512" y="15862"/>
                  </a:lnTo>
                  <a:lnTo>
                    <a:pt x="161544" y="16205"/>
                  </a:lnTo>
                  <a:lnTo>
                    <a:pt x="161544" y="9829"/>
                  </a:lnTo>
                  <a:lnTo>
                    <a:pt x="161544" y="6781"/>
                  </a:lnTo>
                  <a:lnTo>
                    <a:pt x="141732" y="6781"/>
                  </a:lnTo>
                  <a:lnTo>
                    <a:pt x="141478" y="6781"/>
                  </a:lnTo>
                  <a:lnTo>
                    <a:pt x="140208" y="6781"/>
                  </a:lnTo>
                  <a:lnTo>
                    <a:pt x="140208" y="7112"/>
                  </a:lnTo>
                  <a:lnTo>
                    <a:pt x="130035" y="9677"/>
                  </a:lnTo>
                  <a:lnTo>
                    <a:pt x="116776" y="12204"/>
                  </a:lnTo>
                  <a:lnTo>
                    <a:pt x="105791" y="13982"/>
                  </a:lnTo>
                  <a:lnTo>
                    <a:pt x="101219" y="14655"/>
                  </a:lnTo>
                  <a:lnTo>
                    <a:pt x="95135" y="17068"/>
                  </a:lnTo>
                  <a:lnTo>
                    <a:pt x="83032" y="20320"/>
                  </a:lnTo>
                  <a:lnTo>
                    <a:pt x="76962" y="22656"/>
                  </a:lnTo>
                  <a:lnTo>
                    <a:pt x="64897" y="22656"/>
                  </a:lnTo>
                  <a:lnTo>
                    <a:pt x="56896" y="26593"/>
                  </a:lnTo>
                  <a:lnTo>
                    <a:pt x="52832" y="26593"/>
                  </a:lnTo>
                  <a:lnTo>
                    <a:pt x="44831" y="30530"/>
                  </a:lnTo>
                  <a:lnTo>
                    <a:pt x="40767" y="30530"/>
                  </a:lnTo>
                  <a:lnTo>
                    <a:pt x="24638" y="38531"/>
                  </a:lnTo>
                  <a:lnTo>
                    <a:pt x="20701" y="42468"/>
                  </a:lnTo>
                  <a:lnTo>
                    <a:pt x="16637" y="42468"/>
                  </a:lnTo>
                  <a:lnTo>
                    <a:pt x="12573" y="46405"/>
                  </a:lnTo>
                  <a:lnTo>
                    <a:pt x="8636" y="50342"/>
                  </a:lnTo>
                  <a:lnTo>
                    <a:pt x="4572" y="54343"/>
                  </a:lnTo>
                  <a:lnTo>
                    <a:pt x="4572" y="58216"/>
                  </a:lnTo>
                  <a:lnTo>
                    <a:pt x="4572" y="61772"/>
                  </a:lnTo>
                  <a:lnTo>
                    <a:pt x="4064" y="62280"/>
                  </a:lnTo>
                  <a:lnTo>
                    <a:pt x="0" y="70281"/>
                  </a:lnTo>
                  <a:lnTo>
                    <a:pt x="4064" y="74345"/>
                  </a:lnTo>
                  <a:lnTo>
                    <a:pt x="4064" y="98475"/>
                  </a:lnTo>
                  <a:lnTo>
                    <a:pt x="0" y="102539"/>
                  </a:lnTo>
                  <a:lnTo>
                    <a:pt x="4064" y="110667"/>
                  </a:lnTo>
                  <a:lnTo>
                    <a:pt x="4064" y="154990"/>
                  </a:lnTo>
                  <a:lnTo>
                    <a:pt x="0" y="158927"/>
                  </a:lnTo>
                  <a:lnTo>
                    <a:pt x="4064" y="162991"/>
                  </a:lnTo>
                  <a:lnTo>
                    <a:pt x="4064" y="259765"/>
                  </a:lnTo>
                  <a:lnTo>
                    <a:pt x="466852" y="259765"/>
                  </a:lnTo>
                  <a:lnTo>
                    <a:pt x="466852" y="78409"/>
                  </a:lnTo>
                  <a:lnTo>
                    <a:pt x="470916" y="70281"/>
                  </a:lnTo>
                  <a:close/>
                </a:path>
              </a:pathLst>
            </a:custGeom>
            <a:solidFill>
              <a:srgbClr val="006F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205984" y="3055619"/>
              <a:ext cx="593090" cy="181610"/>
            </a:xfrm>
            <a:custGeom>
              <a:avLst/>
              <a:gdLst/>
              <a:ahLst/>
              <a:cxnLst/>
              <a:rect l="l" t="t" r="r" b="b"/>
              <a:pathLst>
                <a:path w="593089" h="181610">
                  <a:moveTo>
                    <a:pt x="112903" y="24130"/>
                  </a:moveTo>
                  <a:lnTo>
                    <a:pt x="108927" y="16319"/>
                  </a:lnTo>
                  <a:lnTo>
                    <a:pt x="108839" y="16129"/>
                  </a:lnTo>
                  <a:lnTo>
                    <a:pt x="84023" y="19177"/>
                  </a:lnTo>
                  <a:lnTo>
                    <a:pt x="58483" y="22606"/>
                  </a:lnTo>
                  <a:lnTo>
                    <a:pt x="32931" y="26809"/>
                  </a:lnTo>
                  <a:lnTo>
                    <a:pt x="8128" y="32131"/>
                  </a:lnTo>
                  <a:lnTo>
                    <a:pt x="4064" y="32131"/>
                  </a:lnTo>
                  <a:lnTo>
                    <a:pt x="0" y="36195"/>
                  </a:lnTo>
                  <a:lnTo>
                    <a:pt x="0" y="48260"/>
                  </a:lnTo>
                  <a:lnTo>
                    <a:pt x="12065" y="48260"/>
                  </a:lnTo>
                  <a:lnTo>
                    <a:pt x="36893" y="42887"/>
                  </a:lnTo>
                  <a:lnTo>
                    <a:pt x="62484" y="38671"/>
                  </a:lnTo>
                  <a:lnTo>
                    <a:pt x="88061" y="35229"/>
                  </a:lnTo>
                  <a:lnTo>
                    <a:pt x="112903" y="32131"/>
                  </a:lnTo>
                  <a:lnTo>
                    <a:pt x="104902" y="32131"/>
                  </a:lnTo>
                  <a:lnTo>
                    <a:pt x="104902" y="24130"/>
                  </a:lnTo>
                  <a:lnTo>
                    <a:pt x="112903" y="24130"/>
                  </a:lnTo>
                  <a:close/>
                </a:path>
                <a:path w="593089" h="181610">
                  <a:moveTo>
                    <a:pt x="121031" y="12065"/>
                  </a:moveTo>
                  <a:lnTo>
                    <a:pt x="116967" y="12065"/>
                  </a:lnTo>
                  <a:lnTo>
                    <a:pt x="108839" y="16129"/>
                  </a:lnTo>
                  <a:lnTo>
                    <a:pt x="121031" y="12065"/>
                  </a:lnTo>
                  <a:close/>
                </a:path>
                <a:path w="593089" h="181610">
                  <a:moveTo>
                    <a:pt x="592836" y="44196"/>
                  </a:moveTo>
                  <a:lnTo>
                    <a:pt x="568096" y="33108"/>
                  </a:lnTo>
                  <a:lnTo>
                    <a:pt x="565734" y="37909"/>
                  </a:lnTo>
                  <a:lnTo>
                    <a:pt x="564642" y="37439"/>
                  </a:lnTo>
                  <a:lnTo>
                    <a:pt x="564642" y="32131"/>
                  </a:lnTo>
                  <a:lnTo>
                    <a:pt x="568096" y="33108"/>
                  </a:lnTo>
                  <a:lnTo>
                    <a:pt x="568579" y="32131"/>
                  </a:lnTo>
                  <a:lnTo>
                    <a:pt x="517258" y="16129"/>
                  </a:lnTo>
                  <a:lnTo>
                    <a:pt x="459740" y="8001"/>
                  </a:lnTo>
                  <a:lnTo>
                    <a:pt x="412851" y="4000"/>
                  </a:lnTo>
                  <a:lnTo>
                    <a:pt x="369557" y="1257"/>
                  </a:lnTo>
                  <a:lnTo>
                    <a:pt x="326644" y="0"/>
                  </a:lnTo>
                  <a:lnTo>
                    <a:pt x="322580" y="0"/>
                  </a:lnTo>
                  <a:lnTo>
                    <a:pt x="299618" y="190"/>
                  </a:lnTo>
                  <a:lnTo>
                    <a:pt x="250571" y="1511"/>
                  </a:lnTo>
                  <a:lnTo>
                    <a:pt x="187134" y="5092"/>
                  </a:lnTo>
                  <a:lnTo>
                    <a:pt x="121031" y="12065"/>
                  </a:lnTo>
                  <a:lnTo>
                    <a:pt x="121031" y="24130"/>
                  </a:lnTo>
                  <a:lnTo>
                    <a:pt x="112903" y="24130"/>
                  </a:lnTo>
                  <a:lnTo>
                    <a:pt x="112903" y="32131"/>
                  </a:lnTo>
                  <a:lnTo>
                    <a:pt x="121031" y="28067"/>
                  </a:lnTo>
                  <a:lnTo>
                    <a:pt x="124968" y="28067"/>
                  </a:lnTo>
                  <a:lnTo>
                    <a:pt x="188785" y="21170"/>
                  </a:lnTo>
                  <a:lnTo>
                    <a:pt x="251053" y="17627"/>
                  </a:lnTo>
                  <a:lnTo>
                    <a:pt x="299681" y="16319"/>
                  </a:lnTo>
                  <a:lnTo>
                    <a:pt x="331724" y="16294"/>
                  </a:lnTo>
                  <a:lnTo>
                    <a:pt x="346138" y="16751"/>
                  </a:lnTo>
                  <a:lnTo>
                    <a:pt x="389623" y="19456"/>
                  </a:lnTo>
                  <a:lnTo>
                    <a:pt x="411353" y="20066"/>
                  </a:lnTo>
                  <a:lnTo>
                    <a:pt x="420357" y="20701"/>
                  </a:lnTo>
                  <a:lnTo>
                    <a:pt x="429006" y="22110"/>
                  </a:lnTo>
                  <a:lnTo>
                    <a:pt x="436880" y="23507"/>
                  </a:lnTo>
                  <a:lnTo>
                    <a:pt x="443611" y="24130"/>
                  </a:lnTo>
                  <a:lnTo>
                    <a:pt x="455676" y="24130"/>
                  </a:lnTo>
                  <a:lnTo>
                    <a:pt x="483946" y="27800"/>
                  </a:lnTo>
                  <a:lnTo>
                    <a:pt x="507123" y="32131"/>
                  </a:lnTo>
                  <a:lnTo>
                    <a:pt x="526021" y="36525"/>
                  </a:lnTo>
                  <a:lnTo>
                    <a:pt x="540385" y="40132"/>
                  </a:lnTo>
                  <a:lnTo>
                    <a:pt x="544449" y="40132"/>
                  </a:lnTo>
                  <a:lnTo>
                    <a:pt x="551954" y="43954"/>
                  </a:lnTo>
                  <a:lnTo>
                    <a:pt x="553275" y="102514"/>
                  </a:lnTo>
                  <a:lnTo>
                    <a:pt x="544398" y="99441"/>
                  </a:lnTo>
                  <a:lnTo>
                    <a:pt x="514705" y="92456"/>
                  </a:lnTo>
                  <a:lnTo>
                    <a:pt x="459740" y="84328"/>
                  </a:lnTo>
                  <a:lnTo>
                    <a:pt x="413359" y="80327"/>
                  </a:lnTo>
                  <a:lnTo>
                    <a:pt x="371271" y="77584"/>
                  </a:lnTo>
                  <a:lnTo>
                    <a:pt x="330708" y="76327"/>
                  </a:lnTo>
                  <a:lnTo>
                    <a:pt x="326644" y="76327"/>
                  </a:lnTo>
                  <a:lnTo>
                    <a:pt x="301396" y="76517"/>
                  </a:lnTo>
                  <a:lnTo>
                    <a:pt x="251561" y="77838"/>
                  </a:lnTo>
                  <a:lnTo>
                    <a:pt x="188849" y="81419"/>
                  </a:lnTo>
                  <a:lnTo>
                    <a:pt x="124968" y="88392"/>
                  </a:lnTo>
                  <a:lnTo>
                    <a:pt x="121031" y="88392"/>
                  </a:lnTo>
                  <a:lnTo>
                    <a:pt x="112903" y="92456"/>
                  </a:lnTo>
                  <a:lnTo>
                    <a:pt x="116967" y="92456"/>
                  </a:lnTo>
                  <a:lnTo>
                    <a:pt x="121031" y="96393"/>
                  </a:lnTo>
                  <a:lnTo>
                    <a:pt x="121031" y="100457"/>
                  </a:lnTo>
                  <a:lnTo>
                    <a:pt x="112903" y="100457"/>
                  </a:lnTo>
                  <a:lnTo>
                    <a:pt x="112903" y="92456"/>
                  </a:lnTo>
                  <a:lnTo>
                    <a:pt x="108839" y="92456"/>
                  </a:lnTo>
                  <a:lnTo>
                    <a:pt x="104902" y="96393"/>
                  </a:lnTo>
                  <a:lnTo>
                    <a:pt x="104902" y="108508"/>
                  </a:lnTo>
                  <a:lnTo>
                    <a:pt x="120980" y="108508"/>
                  </a:lnTo>
                  <a:lnTo>
                    <a:pt x="124968" y="104521"/>
                  </a:lnTo>
                  <a:lnTo>
                    <a:pt x="163487" y="100457"/>
                  </a:lnTo>
                  <a:lnTo>
                    <a:pt x="211518" y="96393"/>
                  </a:lnTo>
                  <a:lnTo>
                    <a:pt x="254571" y="93967"/>
                  </a:lnTo>
                  <a:lnTo>
                    <a:pt x="303657" y="92646"/>
                  </a:lnTo>
                  <a:lnTo>
                    <a:pt x="335724" y="92621"/>
                  </a:lnTo>
                  <a:lnTo>
                    <a:pt x="350075" y="93078"/>
                  </a:lnTo>
                  <a:lnTo>
                    <a:pt x="391909" y="95783"/>
                  </a:lnTo>
                  <a:lnTo>
                    <a:pt x="411353" y="96393"/>
                  </a:lnTo>
                  <a:lnTo>
                    <a:pt x="420357" y="98742"/>
                  </a:lnTo>
                  <a:lnTo>
                    <a:pt x="429006" y="99949"/>
                  </a:lnTo>
                  <a:lnTo>
                    <a:pt x="438010" y="100457"/>
                  </a:lnTo>
                  <a:lnTo>
                    <a:pt x="459740" y="100457"/>
                  </a:lnTo>
                  <a:lnTo>
                    <a:pt x="487108" y="104127"/>
                  </a:lnTo>
                  <a:lnTo>
                    <a:pt x="509155" y="108508"/>
                  </a:lnTo>
                  <a:lnTo>
                    <a:pt x="526656" y="112877"/>
                  </a:lnTo>
                  <a:lnTo>
                    <a:pt x="540385" y="116459"/>
                  </a:lnTo>
                  <a:lnTo>
                    <a:pt x="548513" y="116459"/>
                  </a:lnTo>
                  <a:lnTo>
                    <a:pt x="552450" y="120523"/>
                  </a:lnTo>
                  <a:lnTo>
                    <a:pt x="553681" y="120523"/>
                  </a:lnTo>
                  <a:lnTo>
                    <a:pt x="554990" y="178181"/>
                  </a:lnTo>
                  <a:lnTo>
                    <a:pt x="592836" y="181356"/>
                  </a:lnTo>
                  <a:lnTo>
                    <a:pt x="591527" y="128524"/>
                  </a:lnTo>
                  <a:lnTo>
                    <a:pt x="592836" y="128524"/>
                  </a:lnTo>
                  <a:lnTo>
                    <a:pt x="592836" y="120523"/>
                  </a:lnTo>
                  <a:lnTo>
                    <a:pt x="591286" y="118986"/>
                  </a:lnTo>
                  <a:lnTo>
                    <a:pt x="589610" y="51384"/>
                  </a:lnTo>
                  <a:lnTo>
                    <a:pt x="592836" y="48260"/>
                  </a:lnTo>
                  <a:lnTo>
                    <a:pt x="592836" y="441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105400" y="2820923"/>
              <a:ext cx="70485" cy="27940"/>
            </a:xfrm>
            <a:custGeom>
              <a:avLst/>
              <a:gdLst/>
              <a:ahLst/>
              <a:cxnLst/>
              <a:rect l="l" t="t" r="r" b="b"/>
              <a:pathLst>
                <a:path w="70485" h="27939">
                  <a:moveTo>
                    <a:pt x="3035" y="0"/>
                  </a:moveTo>
                  <a:lnTo>
                    <a:pt x="0" y="0"/>
                  </a:lnTo>
                  <a:lnTo>
                    <a:pt x="0" y="19812"/>
                  </a:lnTo>
                  <a:lnTo>
                    <a:pt x="3035" y="19812"/>
                  </a:lnTo>
                  <a:lnTo>
                    <a:pt x="3035" y="0"/>
                  </a:lnTo>
                  <a:close/>
                </a:path>
                <a:path w="70485" h="27939">
                  <a:moveTo>
                    <a:pt x="38100" y="4572"/>
                  </a:moveTo>
                  <a:lnTo>
                    <a:pt x="36576" y="4572"/>
                  </a:lnTo>
                  <a:lnTo>
                    <a:pt x="36576" y="22860"/>
                  </a:lnTo>
                  <a:lnTo>
                    <a:pt x="38100" y="22860"/>
                  </a:lnTo>
                  <a:lnTo>
                    <a:pt x="38100" y="4572"/>
                  </a:lnTo>
                  <a:close/>
                </a:path>
                <a:path w="70485" h="27939">
                  <a:moveTo>
                    <a:pt x="70104" y="7620"/>
                  </a:moveTo>
                  <a:lnTo>
                    <a:pt x="68580" y="7620"/>
                  </a:lnTo>
                  <a:lnTo>
                    <a:pt x="68580" y="27432"/>
                  </a:lnTo>
                  <a:lnTo>
                    <a:pt x="70104" y="27432"/>
                  </a:lnTo>
                  <a:lnTo>
                    <a:pt x="70104" y="7620"/>
                  </a:lnTo>
                  <a:close/>
                </a:path>
              </a:pathLst>
            </a:custGeom>
            <a:solidFill>
              <a:srgbClr val="006F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977384" y="2814827"/>
              <a:ext cx="99060" cy="26034"/>
            </a:xfrm>
            <a:custGeom>
              <a:avLst/>
              <a:gdLst/>
              <a:ahLst/>
              <a:cxnLst/>
              <a:rect l="l" t="t" r="r" b="b"/>
              <a:pathLst>
                <a:path w="99060" h="26035">
                  <a:moveTo>
                    <a:pt x="1524" y="6096"/>
                  </a:moveTo>
                  <a:lnTo>
                    <a:pt x="0" y="6096"/>
                  </a:lnTo>
                  <a:lnTo>
                    <a:pt x="0" y="25908"/>
                  </a:lnTo>
                  <a:lnTo>
                    <a:pt x="1524" y="25908"/>
                  </a:lnTo>
                  <a:lnTo>
                    <a:pt x="1524" y="6096"/>
                  </a:lnTo>
                  <a:close/>
                </a:path>
                <a:path w="99060" h="26035">
                  <a:moveTo>
                    <a:pt x="36563" y="0"/>
                  </a:moveTo>
                  <a:lnTo>
                    <a:pt x="32004" y="0"/>
                  </a:lnTo>
                  <a:lnTo>
                    <a:pt x="32004" y="21336"/>
                  </a:lnTo>
                  <a:lnTo>
                    <a:pt x="36563" y="21336"/>
                  </a:lnTo>
                  <a:lnTo>
                    <a:pt x="36563" y="0"/>
                  </a:lnTo>
                  <a:close/>
                </a:path>
                <a:path w="99060" h="26035">
                  <a:moveTo>
                    <a:pt x="68567" y="0"/>
                  </a:moveTo>
                  <a:lnTo>
                    <a:pt x="64008" y="0"/>
                  </a:lnTo>
                  <a:lnTo>
                    <a:pt x="64008" y="21336"/>
                  </a:lnTo>
                  <a:lnTo>
                    <a:pt x="68567" y="21336"/>
                  </a:lnTo>
                  <a:lnTo>
                    <a:pt x="68567" y="0"/>
                  </a:lnTo>
                  <a:close/>
                </a:path>
                <a:path w="99060" h="26035">
                  <a:moveTo>
                    <a:pt x="99060" y="6096"/>
                  </a:moveTo>
                  <a:lnTo>
                    <a:pt x="97536" y="6096"/>
                  </a:lnTo>
                  <a:lnTo>
                    <a:pt x="97536" y="21336"/>
                  </a:lnTo>
                  <a:lnTo>
                    <a:pt x="99060" y="21336"/>
                  </a:lnTo>
                  <a:lnTo>
                    <a:pt x="99060" y="6096"/>
                  </a:lnTo>
                  <a:close/>
                </a:path>
              </a:pathLst>
            </a:custGeom>
            <a:solidFill>
              <a:srgbClr val="006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943855" y="2820923"/>
              <a:ext cx="1905" cy="20320"/>
            </a:xfrm>
            <a:custGeom>
              <a:avLst/>
              <a:gdLst/>
              <a:ahLst/>
              <a:cxnLst/>
              <a:rect l="l" t="t" r="r" b="b"/>
              <a:pathLst>
                <a:path w="1904" h="20319">
                  <a:moveTo>
                    <a:pt x="1524" y="0"/>
                  </a:moveTo>
                  <a:lnTo>
                    <a:pt x="0" y="0"/>
                  </a:lnTo>
                  <a:lnTo>
                    <a:pt x="0" y="19812"/>
                  </a:lnTo>
                  <a:lnTo>
                    <a:pt x="1524" y="19812"/>
                  </a:lnTo>
                  <a:lnTo>
                    <a:pt x="1524" y="0"/>
                  </a:lnTo>
                  <a:close/>
                </a:path>
              </a:pathLst>
            </a:custGeom>
            <a:solidFill>
              <a:srgbClr val="006F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375147" y="2897123"/>
              <a:ext cx="32384" cy="12700"/>
            </a:xfrm>
            <a:custGeom>
              <a:avLst/>
              <a:gdLst/>
              <a:ahLst/>
              <a:cxnLst/>
              <a:rect l="l" t="t" r="r" b="b"/>
              <a:pathLst>
                <a:path w="32385" h="12700">
                  <a:moveTo>
                    <a:pt x="27939" y="0"/>
                  </a:moveTo>
                  <a:lnTo>
                    <a:pt x="0" y="0"/>
                  </a:lnTo>
                  <a:lnTo>
                    <a:pt x="24002" y="12191"/>
                  </a:lnTo>
                  <a:lnTo>
                    <a:pt x="24002" y="8127"/>
                  </a:lnTo>
                  <a:lnTo>
                    <a:pt x="20065" y="4063"/>
                  </a:lnTo>
                  <a:lnTo>
                    <a:pt x="32003" y="4063"/>
                  </a:lnTo>
                  <a:lnTo>
                    <a:pt x="27939" y="0"/>
                  </a:lnTo>
                  <a:close/>
                </a:path>
              </a:pathLst>
            </a:custGeom>
            <a:solidFill>
              <a:srgbClr val="006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915977" y="2814827"/>
              <a:ext cx="483870" cy="94615"/>
            </a:xfrm>
            <a:custGeom>
              <a:avLst/>
              <a:gdLst/>
              <a:ahLst/>
              <a:cxnLst/>
              <a:rect l="l" t="t" r="r" b="b"/>
              <a:pathLst>
                <a:path w="483870" h="94614">
                  <a:moveTo>
                    <a:pt x="196492" y="24701"/>
                  </a:moveTo>
                  <a:lnTo>
                    <a:pt x="141823" y="24701"/>
                  </a:lnTo>
                  <a:lnTo>
                    <a:pt x="276653" y="39750"/>
                  </a:lnTo>
                  <a:lnTo>
                    <a:pt x="290260" y="41021"/>
                  </a:lnTo>
                  <a:lnTo>
                    <a:pt x="380324" y="61916"/>
                  </a:lnTo>
                  <a:lnTo>
                    <a:pt x="398972" y="65786"/>
                  </a:lnTo>
                  <a:lnTo>
                    <a:pt x="406486" y="67121"/>
                  </a:lnTo>
                  <a:lnTo>
                    <a:pt x="419657" y="70373"/>
                  </a:lnTo>
                  <a:lnTo>
                    <a:pt x="433565" y="74412"/>
                  </a:lnTo>
                  <a:lnTo>
                    <a:pt x="460424" y="84772"/>
                  </a:lnTo>
                  <a:lnTo>
                    <a:pt x="473888" y="90213"/>
                  </a:lnTo>
                  <a:lnTo>
                    <a:pt x="483554" y="94487"/>
                  </a:lnTo>
                  <a:lnTo>
                    <a:pt x="479490" y="90424"/>
                  </a:lnTo>
                  <a:lnTo>
                    <a:pt x="463361" y="82169"/>
                  </a:lnTo>
                  <a:lnTo>
                    <a:pt x="459424" y="78105"/>
                  </a:lnTo>
                  <a:lnTo>
                    <a:pt x="447359" y="73913"/>
                  </a:lnTo>
                  <a:lnTo>
                    <a:pt x="439231" y="69850"/>
                  </a:lnTo>
                  <a:lnTo>
                    <a:pt x="427166" y="65786"/>
                  </a:lnTo>
                  <a:lnTo>
                    <a:pt x="411037" y="61595"/>
                  </a:lnTo>
                  <a:lnTo>
                    <a:pt x="403036" y="61595"/>
                  </a:lnTo>
                  <a:lnTo>
                    <a:pt x="395890" y="58610"/>
                  </a:lnTo>
                  <a:lnTo>
                    <a:pt x="353420" y="49341"/>
                  </a:lnTo>
                  <a:lnTo>
                    <a:pt x="350919" y="49341"/>
                  </a:lnTo>
                  <a:lnTo>
                    <a:pt x="341216" y="46271"/>
                  </a:lnTo>
                  <a:lnTo>
                    <a:pt x="332090" y="43624"/>
                  </a:lnTo>
                  <a:lnTo>
                    <a:pt x="322518" y="41021"/>
                  </a:lnTo>
                  <a:lnTo>
                    <a:pt x="314102" y="40386"/>
                  </a:lnTo>
                  <a:lnTo>
                    <a:pt x="304210" y="39096"/>
                  </a:lnTo>
                  <a:lnTo>
                    <a:pt x="294175" y="37591"/>
                  </a:lnTo>
                  <a:lnTo>
                    <a:pt x="290260" y="36957"/>
                  </a:lnTo>
                  <a:lnTo>
                    <a:pt x="280149" y="34607"/>
                  </a:lnTo>
                  <a:lnTo>
                    <a:pt x="270773" y="33527"/>
                  </a:lnTo>
                  <a:lnTo>
                    <a:pt x="272018" y="33527"/>
                  </a:lnTo>
                  <a:lnTo>
                    <a:pt x="261452" y="32956"/>
                  </a:lnTo>
                  <a:lnTo>
                    <a:pt x="258394" y="32956"/>
                  </a:lnTo>
                  <a:lnTo>
                    <a:pt x="247998" y="30470"/>
                  </a:lnTo>
                  <a:lnTo>
                    <a:pt x="237475" y="29225"/>
                  </a:lnTo>
                  <a:lnTo>
                    <a:pt x="229214" y="28767"/>
                  </a:lnTo>
                  <a:lnTo>
                    <a:pt x="226200" y="28767"/>
                  </a:lnTo>
                  <a:lnTo>
                    <a:pt x="214046" y="26352"/>
                  </a:lnTo>
                  <a:lnTo>
                    <a:pt x="203757" y="25146"/>
                  </a:lnTo>
                  <a:lnTo>
                    <a:pt x="196492" y="24701"/>
                  </a:lnTo>
                  <a:close/>
                </a:path>
                <a:path w="483870" h="94614">
                  <a:moveTo>
                    <a:pt x="455233" y="68438"/>
                  </a:moveTo>
                  <a:lnTo>
                    <a:pt x="463361" y="73913"/>
                  </a:lnTo>
                  <a:lnTo>
                    <a:pt x="471489" y="78105"/>
                  </a:lnTo>
                  <a:lnTo>
                    <a:pt x="483554" y="86233"/>
                  </a:lnTo>
                  <a:lnTo>
                    <a:pt x="483554" y="82169"/>
                  </a:lnTo>
                  <a:lnTo>
                    <a:pt x="479490" y="82169"/>
                  </a:lnTo>
                  <a:lnTo>
                    <a:pt x="463361" y="69850"/>
                  </a:lnTo>
                  <a:lnTo>
                    <a:pt x="459424" y="69850"/>
                  </a:lnTo>
                  <a:lnTo>
                    <a:pt x="455233" y="68438"/>
                  </a:lnTo>
                  <a:close/>
                </a:path>
                <a:path w="483870" h="94614">
                  <a:moveTo>
                    <a:pt x="405972" y="42154"/>
                  </a:moveTo>
                  <a:lnTo>
                    <a:pt x="405799" y="42154"/>
                  </a:lnTo>
                  <a:lnTo>
                    <a:pt x="443295" y="57531"/>
                  </a:lnTo>
                  <a:lnTo>
                    <a:pt x="451296" y="57531"/>
                  </a:lnTo>
                  <a:lnTo>
                    <a:pt x="463361" y="65786"/>
                  </a:lnTo>
                  <a:lnTo>
                    <a:pt x="471489" y="69850"/>
                  </a:lnTo>
                  <a:lnTo>
                    <a:pt x="483554" y="73913"/>
                  </a:lnTo>
                  <a:lnTo>
                    <a:pt x="480656" y="71862"/>
                  </a:lnTo>
                  <a:lnTo>
                    <a:pt x="443295" y="53467"/>
                  </a:lnTo>
                  <a:lnTo>
                    <a:pt x="410987" y="42965"/>
                  </a:lnTo>
                  <a:lnTo>
                    <a:pt x="405972" y="42154"/>
                  </a:lnTo>
                  <a:close/>
                </a:path>
                <a:path w="483870" h="94614">
                  <a:moveTo>
                    <a:pt x="451296" y="65786"/>
                  </a:moveTo>
                  <a:lnTo>
                    <a:pt x="447359" y="65786"/>
                  </a:lnTo>
                  <a:lnTo>
                    <a:pt x="455233" y="68438"/>
                  </a:lnTo>
                  <a:lnTo>
                    <a:pt x="451296" y="65786"/>
                  </a:lnTo>
                  <a:close/>
                </a:path>
                <a:path w="483870" h="94614">
                  <a:moveTo>
                    <a:pt x="427166" y="57531"/>
                  </a:moveTo>
                  <a:lnTo>
                    <a:pt x="435294" y="61595"/>
                  </a:lnTo>
                  <a:lnTo>
                    <a:pt x="443295" y="65786"/>
                  </a:lnTo>
                  <a:lnTo>
                    <a:pt x="447359" y="65786"/>
                  </a:lnTo>
                  <a:lnTo>
                    <a:pt x="439231" y="61595"/>
                  </a:lnTo>
                  <a:lnTo>
                    <a:pt x="427166" y="57531"/>
                  </a:lnTo>
                  <a:close/>
                </a:path>
                <a:path w="483870" h="94614">
                  <a:moveTo>
                    <a:pt x="403226" y="49341"/>
                  </a:moveTo>
                  <a:lnTo>
                    <a:pt x="404538" y="49994"/>
                  </a:lnTo>
                  <a:lnTo>
                    <a:pt x="409052" y="51879"/>
                  </a:lnTo>
                  <a:lnTo>
                    <a:pt x="416591" y="54526"/>
                  </a:lnTo>
                  <a:lnTo>
                    <a:pt x="427166" y="57531"/>
                  </a:lnTo>
                  <a:lnTo>
                    <a:pt x="403226" y="49341"/>
                  </a:lnTo>
                  <a:close/>
                </a:path>
                <a:path w="483870" h="94614">
                  <a:moveTo>
                    <a:pt x="386907" y="45212"/>
                  </a:moveTo>
                  <a:lnTo>
                    <a:pt x="378906" y="45212"/>
                  </a:lnTo>
                  <a:lnTo>
                    <a:pt x="395295" y="49341"/>
                  </a:lnTo>
                  <a:lnTo>
                    <a:pt x="403296" y="49341"/>
                  </a:lnTo>
                  <a:lnTo>
                    <a:pt x="386907" y="45212"/>
                  </a:lnTo>
                  <a:close/>
                </a:path>
                <a:path w="483870" h="94614">
                  <a:moveTo>
                    <a:pt x="350829" y="36957"/>
                  </a:moveTo>
                  <a:lnTo>
                    <a:pt x="352880" y="37591"/>
                  </a:lnTo>
                  <a:lnTo>
                    <a:pt x="377808" y="44890"/>
                  </a:lnTo>
                  <a:lnTo>
                    <a:pt x="369410" y="42154"/>
                  </a:lnTo>
                  <a:lnTo>
                    <a:pt x="360284" y="39512"/>
                  </a:lnTo>
                  <a:lnTo>
                    <a:pt x="350829" y="36957"/>
                  </a:lnTo>
                  <a:close/>
                </a:path>
                <a:path w="483870" h="94614">
                  <a:moveTo>
                    <a:pt x="386907" y="36957"/>
                  </a:moveTo>
                  <a:lnTo>
                    <a:pt x="386176" y="36957"/>
                  </a:lnTo>
                  <a:lnTo>
                    <a:pt x="393128" y="39096"/>
                  </a:lnTo>
                  <a:lnTo>
                    <a:pt x="398972" y="41021"/>
                  </a:lnTo>
                  <a:lnTo>
                    <a:pt x="405972" y="42154"/>
                  </a:lnTo>
                  <a:lnTo>
                    <a:pt x="405799" y="42154"/>
                  </a:lnTo>
                  <a:lnTo>
                    <a:pt x="403036" y="41021"/>
                  </a:lnTo>
                  <a:lnTo>
                    <a:pt x="386907" y="36957"/>
                  </a:lnTo>
                  <a:close/>
                </a:path>
                <a:path w="483870" h="94614">
                  <a:moveTo>
                    <a:pt x="322995" y="32956"/>
                  </a:moveTo>
                  <a:lnTo>
                    <a:pt x="322844" y="32956"/>
                  </a:lnTo>
                  <a:lnTo>
                    <a:pt x="325780" y="33527"/>
                  </a:lnTo>
                  <a:lnTo>
                    <a:pt x="333567" y="34925"/>
                  </a:lnTo>
                  <a:lnTo>
                    <a:pt x="342877" y="36322"/>
                  </a:lnTo>
                  <a:lnTo>
                    <a:pt x="350712" y="36957"/>
                  </a:lnTo>
                  <a:lnTo>
                    <a:pt x="322995" y="32956"/>
                  </a:lnTo>
                  <a:close/>
                </a:path>
                <a:path w="483870" h="94614">
                  <a:moveTo>
                    <a:pt x="351141" y="28767"/>
                  </a:moveTo>
                  <a:lnTo>
                    <a:pt x="350935" y="28767"/>
                  </a:lnTo>
                  <a:lnTo>
                    <a:pt x="378906" y="36957"/>
                  </a:lnTo>
                  <a:lnTo>
                    <a:pt x="386176" y="36957"/>
                  </a:lnTo>
                  <a:lnTo>
                    <a:pt x="379572" y="34925"/>
                  </a:lnTo>
                  <a:lnTo>
                    <a:pt x="363342" y="30626"/>
                  </a:lnTo>
                  <a:lnTo>
                    <a:pt x="351141" y="28767"/>
                  </a:lnTo>
                  <a:close/>
                </a:path>
                <a:path w="483870" h="94614">
                  <a:moveTo>
                    <a:pt x="72070" y="24701"/>
                  </a:moveTo>
                  <a:lnTo>
                    <a:pt x="36327" y="24701"/>
                  </a:lnTo>
                  <a:lnTo>
                    <a:pt x="16251" y="28767"/>
                  </a:lnTo>
                  <a:lnTo>
                    <a:pt x="446" y="28767"/>
                  </a:lnTo>
                  <a:lnTo>
                    <a:pt x="446" y="32956"/>
                  </a:lnTo>
                  <a:lnTo>
                    <a:pt x="0" y="32956"/>
                  </a:lnTo>
                  <a:lnTo>
                    <a:pt x="30641" y="28767"/>
                  </a:lnTo>
                  <a:lnTo>
                    <a:pt x="54827" y="25927"/>
                  </a:lnTo>
                  <a:lnTo>
                    <a:pt x="72070" y="24701"/>
                  </a:lnTo>
                  <a:close/>
                </a:path>
                <a:path w="483870" h="94614">
                  <a:moveTo>
                    <a:pt x="264821" y="21781"/>
                  </a:moveTo>
                  <a:lnTo>
                    <a:pt x="264568" y="21781"/>
                  </a:lnTo>
                  <a:lnTo>
                    <a:pt x="275901" y="24701"/>
                  </a:lnTo>
                  <a:lnTo>
                    <a:pt x="290490" y="28767"/>
                  </a:lnTo>
                  <a:lnTo>
                    <a:pt x="290935" y="28767"/>
                  </a:lnTo>
                  <a:lnTo>
                    <a:pt x="297014" y="29356"/>
                  </a:lnTo>
                  <a:lnTo>
                    <a:pt x="307913" y="30797"/>
                  </a:lnTo>
                  <a:lnTo>
                    <a:pt x="322991" y="32956"/>
                  </a:lnTo>
                  <a:lnTo>
                    <a:pt x="322692" y="32956"/>
                  </a:lnTo>
                  <a:lnTo>
                    <a:pt x="314102" y="29835"/>
                  </a:lnTo>
                  <a:lnTo>
                    <a:pt x="303388" y="27193"/>
                  </a:lnTo>
                  <a:lnTo>
                    <a:pt x="294175" y="25338"/>
                  </a:lnTo>
                  <a:lnTo>
                    <a:pt x="290615" y="24701"/>
                  </a:lnTo>
                  <a:lnTo>
                    <a:pt x="291271" y="24701"/>
                  </a:lnTo>
                  <a:lnTo>
                    <a:pt x="280149" y="24003"/>
                  </a:lnTo>
                  <a:lnTo>
                    <a:pt x="269670" y="22606"/>
                  </a:lnTo>
                  <a:lnTo>
                    <a:pt x="264821" y="21781"/>
                  </a:lnTo>
                  <a:close/>
                </a:path>
                <a:path w="483870" h="94614">
                  <a:moveTo>
                    <a:pt x="290260" y="16383"/>
                  </a:moveTo>
                  <a:lnTo>
                    <a:pt x="297014" y="17672"/>
                  </a:lnTo>
                  <a:lnTo>
                    <a:pt x="308139" y="20574"/>
                  </a:lnTo>
                  <a:lnTo>
                    <a:pt x="322738" y="24701"/>
                  </a:lnTo>
                  <a:lnTo>
                    <a:pt x="322958" y="24701"/>
                  </a:lnTo>
                  <a:lnTo>
                    <a:pt x="351166" y="28767"/>
                  </a:lnTo>
                  <a:lnTo>
                    <a:pt x="350956" y="28767"/>
                  </a:lnTo>
                  <a:lnTo>
                    <a:pt x="343534" y="26777"/>
                  </a:lnTo>
                  <a:lnTo>
                    <a:pt x="326789" y="22606"/>
                  </a:lnTo>
                  <a:lnTo>
                    <a:pt x="306510" y="18307"/>
                  </a:lnTo>
                  <a:lnTo>
                    <a:pt x="290260" y="16383"/>
                  </a:lnTo>
                  <a:close/>
                </a:path>
                <a:path w="483870" h="94614">
                  <a:moveTo>
                    <a:pt x="157418" y="20574"/>
                  </a:moveTo>
                  <a:lnTo>
                    <a:pt x="97093" y="20574"/>
                  </a:lnTo>
                  <a:lnTo>
                    <a:pt x="90973" y="21209"/>
                  </a:lnTo>
                  <a:lnTo>
                    <a:pt x="81472" y="22606"/>
                  </a:lnTo>
                  <a:lnTo>
                    <a:pt x="68515" y="24701"/>
                  </a:lnTo>
                  <a:lnTo>
                    <a:pt x="194988" y="24701"/>
                  </a:lnTo>
                  <a:lnTo>
                    <a:pt x="181260" y="24003"/>
                  </a:lnTo>
                  <a:lnTo>
                    <a:pt x="169530" y="22606"/>
                  </a:lnTo>
                  <a:lnTo>
                    <a:pt x="160825" y="21209"/>
                  </a:lnTo>
                  <a:lnTo>
                    <a:pt x="157418" y="20574"/>
                  </a:lnTo>
                  <a:close/>
                </a:path>
                <a:path w="483870" h="94614">
                  <a:moveTo>
                    <a:pt x="258129" y="20574"/>
                  </a:moveTo>
                  <a:lnTo>
                    <a:pt x="261452" y="21209"/>
                  </a:lnTo>
                  <a:lnTo>
                    <a:pt x="264821" y="21781"/>
                  </a:lnTo>
                  <a:lnTo>
                    <a:pt x="258129" y="20574"/>
                  </a:lnTo>
                  <a:close/>
                </a:path>
                <a:path w="483870" h="94614">
                  <a:moveTo>
                    <a:pt x="16575" y="16383"/>
                  </a:moveTo>
                  <a:lnTo>
                    <a:pt x="446" y="20574"/>
                  </a:lnTo>
                  <a:lnTo>
                    <a:pt x="4510" y="20574"/>
                  </a:lnTo>
                  <a:lnTo>
                    <a:pt x="16575" y="16383"/>
                  </a:lnTo>
                  <a:close/>
                </a:path>
                <a:path w="483870" h="94614">
                  <a:moveTo>
                    <a:pt x="225871" y="16383"/>
                  </a:moveTo>
                  <a:lnTo>
                    <a:pt x="236001" y="18805"/>
                  </a:lnTo>
                  <a:lnTo>
                    <a:pt x="246524" y="20050"/>
                  </a:lnTo>
                  <a:lnTo>
                    <a:pt x="255965" y="20574"/>
                  </a:lnTo>
                  <a:lnTo>
                    <a:pt x="258129" y="20574"/>
                  </a:lnTo>
                  <a:lnTo>
                    <a:pt x="247998" y="19919"/>
                  </a:lnTo>
                  <a:lnTo>
                    <a:pt x="237475" y="18478"/>
                  </a:lnTo>
                  <a:lnTo>
                    <a:pt x="229214" y="17037"/>
                  </a:lnTo>
                  <a:lnTo>
                    <a:pt x="225871" y="16383"/>
                  </a:lnTo>
                  <a:close/>
                </a:path>
                <a:path w="483870" h="94614">
                  <a:moveTo>
                    <a:pt x="63533" y="12582"/>
                  </a:moveTo>
                  <a:lnTo>
                    <a:pt x="40705" y="16383"/>
                  </a:lnTo>
                  <a:lnTo>
                    <a:pt x="44769" y="16383"/>
                  </a:lnTo>
                  <a:lnTo>
                    <a:pt x="63533" y="12582"/>
                  </a:lnTo>
                  <a:close/>
                </a:path>
                <a:path w="483870" h="94614">
                  <a:moveTo>
                    <a:pt x="160825" y="12382"/>
                  </a:moveTo>
                  <a:lnTo>
                    <a:pt x="157991" y="12382"/>
                  </a:lnTo>
                  <a:lnTo>
                    <a:pt x="193740" y="16383"/>
                  </a:lnTo>
                  <a:lnTo>
                    <a:pt x="181260" y="14033"/>
                  </a:lnTo>
                  <a:lnTo>
                    <a:pt x="170765" y="12954"/>
                  </a:lnTo>
                  <a:lnTo>
                    <a:pt x="172018" y="12954"/>
                  </a:lnTo>
                  <a:lnTo>
                    <a:pt x="160825" y="12382"/>
                  </a:lnTo>
                  <a:close/>
                </a:path>
                <a:path w="483870" h="94614">
                  <a:moveTo>
                    <a:pt x="282453" y="15225"/>
                  </a:moveTo>
                  <a:lnTo>
                    <a:pt x="290342" y="16383"/>
                  </a:lnTo>
                  <a:lnTo>
                    <a:pt x="287022" y="15855"/>
                  </a:lnTo>
                  <a:lnTo>
                    <a:pt x="287344" y="15855"/>
                  </a:lnTo>
                  <a:lnTo>
                    <a:pt x="282453" y="15225"/>
                  </a:lnTo>
                  <a:close/>
                </a:path>
                <a:path w="483870" h="94614">
                  <a:moveTo>
                    <a:pt x="287344" y="15855"/>
                  </a:moveTo>
                  <a:lnTo>
                    <a:pt x="287022" y="15855"/>
                  </a:lnTo>
                  <a:lnTo>
                    <a:pt x="290260" y="16383"/>
                  </a:lnTo>
                  <a:lnTo>
                    <a:pt x="287344" y="15855"/>
                  </a:lnTo>
                  <a:close/>
                </a:path>
                <a:path w="483870" h="94614">
                  <a:moveTo>
                    <a:pt x="238226" y="9185"/>
                  </a:moveTo>
                  <a:lnTo>
                    <a:pt x="246524" y="10287"/>
                  </a:lnTo>
                  <a:lnTo>
                    <a:pt x="254785" y="11684"/>
                  </a:lnTo>
                  <a:lnTo>
                    <a:pt x="258463" y="12382"/>
                  </a:lnTo>
                  <a:lnTo>
                    <a:pt x="258797" y="12382"/>
                  </a:lnTo>
                  <a:lnTo>
                    <a:pt x="264810" y="12954"/>
                  </a:lnTo>
                  <a:lnTo>
                    <a:pt x="287344" y="15855"/>
                  </a:lnTo>
                  <a:lnTo>
                    <a:pt x="264531" y="12382"/>
                  </a:lnTo>
                  <a:lnTo>
                    <a:pt x="242736" y="9525"/>
                  </a:lnTo>
                  <a:lnTo>
                    <a:pt x="238226" y="9185"/>
                  </a:lnTo>
                  <a:close/>
                </a:path>
                <a:path w="483870" h="94614">
                  <a:moveTo>
                    <a:pt x="67606" y="12382"/>
                  </a:moveTo>
                  <a:lnTo>
                    <a:pt x="64521" y="12382"/>
                  </a:lnTo>
                  <a:lnTo>
                    <a:pt x="63533" y="12582"/>
                  </a:lnTo>
                  <a:lnTo>
                    <a:pt x="67606" y="12382"/>
                  </a:lnTo>
                  <a:close/>
                </a:path>
                <a:path w="483870" h="94614">
                  <a:moveTo>
                    <a:pt x="225871" y="8255"/>
                  </a:moveTo>
                  <a:lnTo>
                    <a:pt x="238226" y="9185"/>
                  </a:lnTo>
                  <a:lnTo>
                    <a:pt x="236001" y="8890"/>
                  </a:lnTo>
                  <a:lnTo>
                    <a:pt x="225871" y="8255"/>
                  </a:lnTo>
                  <a:close/>
                </a:path>
                <a:path w="483870" h="94614">
                  <a:moveTo>
                    <a:pt x="49017" y="4063"/>
                  </a:moveTo>
                  <a:lnTo>
                    <a:pt x="40705" y="4063"/>
                  </a:lnTo>
                  <a:lnTo>
                    <a:pt x="16575" y="8255"/>
                  </a:lnTo>
                  <a:lnTo>
                    <a:pt x="20512" y="8255"/>
                  </a:lnTo>
                  <a:lnTo>
                    <a:pt x="38647" y="5197"/>
                  </a:lnTo>
                  <a:lnTo>
                    <a:pt x="49017" y="4063"/>
                  </a:lnTo>
                  <a:close/>
                </a:path>
                <a:path w="483870" h="94614">
                  <a:moveTo>
                    <a:pt x="193740" y="4063"/>
                  </a:moveTo>
                  <a:lnTo>
                    <a:pt x="184035" y="4063"/>
                  </a:lnTo>
                  <a:lnTo>
                    <a:pt x="197693" y="5651"/>
                  </a:lnTo>
                  <a:lnTo>
                    <a:pt x="217443" y="7536"/>
                  </a:lnTo>
                  <a:lnTo>
                    <a:pt x="225871" y="8255"/>
                  </a:lnTo>
                  <a:lnTo>
                    <a:pt x="193740" y="4063"/>
                  </a:lnTo>
                  <a:close/>
                </a:path>
                <a:path w="483870" h="94614">
                  <a:moveTo>
                    <a:pt x="97093" y="0"/>
                  </a:moveTo>
                  <a:lnTo>
                    <a:pt x="93029" y="0"/>
                  </a:lnTo>
                  <a:lnTo>
                    <a:pt x="83966" y="700"/>
                  </a:lnTo>
                  <a:lnTo>
                    <a:pt x="62819" y="2555"/>
                  </a:lnTo>
                  <a:lnTo>
                    <a:pt x="49017" y="4063"/>
                  </a:lnTo>
                  <a:lnTo>
                    <a:pt x="64835" y="4063"/>
                  </a:lnTo>
                  <a:lnTo>
                    <a:pt x="73304" y="3429"/>
                  </a:lnTo>
                  <a:lnTo>
                    <a:pt x="84012" y="2032"/>
                  </a:lnTo>
                  <a:lnTo>
                    <a:pt x="97093" y="0"/>
                  </a:lnTo>
                  <a:close/>
                </a:path>
                <a:path w="483870" h="94614">
                  <a:moveTo>
                    <a:pt x="157418" y="0"/>
                  </a:moveTo>
                  <a:lnTo>
                    <a:pt x="125287" y="0"/>
                  </a:lnTo>
                  <a:lnTo>
                    <a:pt x="132657" y="700"/>
                  </a:lnTo>
                  <a:lnTo>
                    <a:pt x="132477" y="700"/>
                  </a:lnTo>
                  <a:lnTo>
                    <a:pt x="142829" y="2032"/>
                  </a:lnTo>
                  <a:lnTo>
                    <a:pt x="157418" y="4063"/>
                  </a:lnTo>
                  <a:lnTo>
                    <a:pt x="184035" y="4063"/>
                  </a:lnTo>
                  <a:lnTo>
                    <a:pt x="174918" y="3004"/>
                  </a:lnTo>
                  <a:lnTo>
                    <a:pt x="157418" y="0"/>
                  </a:lnTo>
                  <a:close/>
                </a:path>
              </a:pathLst>
            </a:custGeom>
            <a:solidFill>
              <a:srgbClr val="006F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205984" y="2833115"/>
              <a:ext cx="175260" cy="64135"/>
            </a:xfrm>
            <a:custGeom>
              <a:avLst/>
              <a:gdLst/>
              <a:ahLst/>
              <a:cxnLst/>
              <a:rect l="l" t="t" r="r" b="b"/>
              <a:pathLst>
                <a:path w="175260" h="64135">
                  <a:moveTo>
                    <a:pt x="1524" y="0"/>
                  </a:moveTo>
                  <a:lnTo>
                    <a:pt x="0" y="0"/>
                  </a:lnTo>
                  <a:lnTo>
                    <a:pt x="0" y="18288"/>
                  </a:lnTo>
                  <a:lnTo>
                    <a:pt x="1524" y="18288"/>
                  </a:lnTo>
                  <a:lnTo>
                    <a:pt x="1524" y="0"/>
                  </a:lnTo>
                  <a:close/>
                </a:path>
                <a:path w="175260" h="64135">
                  <a:moveTo>
                    <a:pt x="35052" y="3048"/>
                  </a:moveTo>
                  <a:lnTo>
                    <a:pt x="33528" y="3048"/>
                  </a:lnTo>
                  <a:lnTo>
                    <a:pt x="33528" y="24384"/>
                  </a:lnTo>
                  <a:lnTo>
                    <a:pt x="35052" y="24384"/>
                  </a:lnTo>
                  <a:lnTo>
                    <a:pt x="35052" y="3048"/>
                  </a:lnTo>
                  <a:close/>
                </a:path>
                <a:path w="175260" h="64135">
                  <a:moveTo>
                    <a:pt x="62484" y="10668"/>
                  </a:moveTo>
                  <a:lnTo>
                    <a:pt x="60960" y="10668"/>
                  </a:lnTo>
                  <a:lnTo>
                    <a:pt x="60960" y="32004"/>
                  </a:lnTo>
                  <a:lnTo>
                    <a:pt x="62484" y="32004"/>
                  </a:lnTo>
                  <a:lnTo>
                    <a:pt x="62484" y="10668"/>
                  </a:lnTo>
                  <a:close/>
                </a:path>
                <a:path w="175260" h="64135">
                  <a:moveTo>
                    <a:pt x="89916" y="18288"/>
                  </a:moveTo>
                  <a:lnTo>
                    <a:pt x="88392" y="18288"/>
                  </a:lnTo>
                  <a:lnTo>
                    <a:pt x="88392" y="36576"/>
                  </a:lnTo>
                  <a:lnTo>
                    <a:pt x="89916" y="36576"/>
                  </a:lnTo>
                  <a:lnTo>
                    <a:pt x="89916" y="18288"/>
                  </a:lnTo>
                  <a:close/>
                </a:path>
                <a:path w="175260" h="64135">
                  <a:moveTo>
                    <a:pt x="114300" y="24384"/>
                  </a:moveTo>
                  <a:lnTo>
                    <a:pt x="112776" y="24384"/>
                  </a:lnTo>
                  <a:lnTo>
                    <a:pt x="112776" y="44196"/>
                  </a:lnTo>
                  <a:lnTo>
                    <a:pt x="114300" y="44196"/>
                  </a:lnTo>
                  <a:lnTo>
                    <a:pt x="114300" y="24384"/>
                  </a:lnTo>
                  <a:close/>
                </a:path>
                <a:path w="175260" h="64135">
                  <a:moveTo>
                    <a:pt x="138684" y="32004"/>
                  </a:moveTo>
                  <a:lnTo>
                    <a:pt x="132588" y="32004"/>
                  </a:lnTo>
                  <a:lnTo>
                    <a:pt x="132588" y="47244"/>
                  </a:lnTo>
                  <a:lnTo>
                    <a:pt x="138684" y="47244"/>
                  </a:lnTo>
                  <a:lnTo>
                    <a:pt x="138684" y="32004"/>
                  </a:lnTo>
                  <a:close/>
                </a:path>
                <a:path w="175260" h="64135">
                  <a:moveTo>
                    <a:pt x="156959" y="39624"/>
                  </a:moveTo>
                  <a:lnTo>
                    <a:pt x="153924" y="39624"/>
                  </a:lnTo>
                  <a:lnTo>
                    <a:pt x="153924" y="54864"/>
                  </a:lnTo>
                  <a:lnTo>
                    <a:pt x="156959" y="54864"/>
                  </a:lnTo>
                  <a:lnTo>
                    <a:pt x="156959" y="39624"/>
                  </a:lnTo>
                  <a:close/>
                </a:path>
                <a:path w="175260" h="64135">
                  <a:moveTo>
                    <a:pt x="175260" y="44196"/>
                  </a:moveTo>
                  <a:lnTo>
                    <a:pt x="173736" y="44196"/>
                  </a:lnTo>
                  <a:lnTo>
                    <a:pt x="173736" y="64008"/>
                  </a:lnTo>
                  <a:lnTo>
                    <a:pt x="175260" y="64008"/>
                  </a:lnTo>
                  <a:lnTo>
                    <a:pt x="175260" y="44196"/>
                  </a:lnTo>
                  <a:close/>
                </a:path>
              </a:pathLst>
            </a:custGeom>
            <a:solidFill>
              <a:srgbClr val="006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399531" y="2872739"/>
              <a:ext cx="36830" cy="81280"/>
            </a:xfrm>
            <a:custGeom>
              <a:avLst/>
              <a:gdLst/>
              <a:ahLst/>
              <a:cxnLst/>
              <a:rect l="l" t="t" r="r" b="b"/>
              <a:pathLst>
                <a:path w="36829" h="81280">
                  <a:moveTo>
                    <a:pt x="8127" y="32258"/>
                  </a:moveTo>
                  <a:lnTo>
                    <a:pt x="4095" y="32258"/>
                  </a:lnTo>
                  <a:lnTo>
                    <a:pt x="0" y="36322"/>
                  </a:lnTo>
                  <a:lnTo>
                    <a:pt x="16255" y="48513"/>
                  </a:lnTo>
                  <a:lnTo>
                    <a:pt x="16255" y="80772"/>
                  </a:lnTo>
                  <a:lnTo>
                    <a:pt x="28447" y="80772"/>
                  </a:lnTo>
                  <a:lnTo>
                    <a:pt x="28447" y="76708"/>
                  </a:lnTo>
                  <a:lnTo>
                    <a:pt x="24383" y="76708"/>
                  </a:lnTo>
                  <a:lnTo>
                    <a:pt x="24383" y="68707"/>
                  </a:lnTo>
                  <a:lnTo>
                    <a:pt x="28447" y="64643"/>
                  </a:lnTo>
                  <a:lnTo>
                    <a:pt x="28447" y="60579"/>
                  </a:lnTo>
                  <a:lnTo>
                    <a:pt x="32512" y="60579"/>
                  </a:lnTo>
                  <a:lnTo>
                    <a:pt x="32512" y="56514"/>
                  </a:lnTo>
                  <a:lnTo>
                    <a:pt x="28447" y="52450"/>
                  </a:lnTo>
                  <a:lnTo>
                    <a:pt x="28447" y="48513"/>
                  </a:lnTo>
                  <a:lnTo>
                    <a:pt x="24383" y="48513"/>
                  </a:lnTo>
                  <a:lnTo>
                    <a:pt x="24383" y="40386"/>
                  </a:lnTo>
                  <a:lnTo>
                    <a:pt x="20319" y="40386"/>
                  </a:lnTo>
                  <a:lnTo>
                    <a:pt x="16255" y="36322"/>
                  </a:lnTo>
                  <a:lnTo>
                    <a:pt x="8127" y="36322"/>
                  </a:lnTo>
                  <a:lnTo>
                    <a:pt x="8127" y="32258"/>
                  </a:lnTo>
                  <a:close/>
                </a:path>
                <a:path w="36829" h="81280">
                  <a:moveTo>
                    <a:pt x="32512" y="60579"/>
                  </a:moveTo>
                  <a:lnTo>
                    <a:pt x="28447" y="60579"/>
                  </a:lnTo>
                  <a:lnTo>
                    <a:pt x="28447" y="76708"/>
                  </a:lnTo>
                  <a:lnTo>
                    <a:pt x="32512" y="72644"/>
                  </a:lnTo>
                  <a:lnTo>
                    <a:pt x="36575" y="68707"/>
                  </a:lnTo>
                  <a:lnTo>
                    <a:pt x="32512" y="68707"/>
                  </a:lnTo>
                  <a:lnTo>
                    <a:pt x="32512" y="60579"/>
                  </a:lnTo>
                  <a:close/>
                </a:path>
                <a:path w="36829" h="81280">
                  <a:moveTo>
                    <a:pt x="32512" y="40386"/>
                  </a:moveTo>
                  <a:lnTo>
                    <a:pt x="24383" y="40386"/>
                  </a:lnTo>
                  <a:lnTo>
                    <a:pt x="28447" y="44450"/>
                  </a:lnTo>
                  <a:lnTo>
                    <a:pt x="24383" y="44450"/>
                  </a:lnTo>
                  <a:lnTo>
                    <a:pt x="24383" y="48513"/>
                  </a:lnTo>
                  <a:lnTo>
                    <a:pt x="28447" y="48513"/>
                  </a:lnTo>
                  <a:lnTo>
                    <a:pt x="32512" y="44450"/>
                  </a:lnTo>
                  <a:lnTo>
                    <a:pt x="32512" y="40386"/>
                  </a:lnTo>
                  <a:close/>
                </a:path>
                <a:path w="36829" h="81280">
                  <a:moveTo>
                    <a:pt x="20319" y="32258"/>
                  </a:moveTo>
                  <a:lnTo>
                    <a:pt x="12191" y="32258"/>
                  </a:lnTo>
                  <a:lnTo>
                    <a:pt x="20319" y="40386"/>
                  </a:lnTo>
                  <a:lnTo>
                    <a:pt x="28447" y="40386"/>
                  </a:lnTo>
                  <a:lnTo>
                    <a:pt x="28447" y="36322"/>
                  </a:lnTo>
                  <a:lnTo>
                    <a:pt x="20319" y="36322"/>
                  </a:lnTo>
                  <a:lnTo>
                    <a:pt x="20319" y="32258"/>
                  </a:lnTo>
                  <a:close/>
                </a:path>
                <a:path w="36829" h="81280">
                  <a:moveTo>
                    <a:pt x="12191" y="24257"/>
                  </a:moveTo>
                  <a:lnTo>
                    <a:pt x="8127" y="28321"/>
                  </a:lnTo>
                  <a:lnTo>
                    <a:pt x="8127" y="36322"/>
                  </a:lnTo>
                  <a:lnTo>
                    <a:pt x="12191" y="36322"/>
                  </a:lnTo>
                  <a:lnTo>
                    <a:pt x="12191" y="32258"/>
                  </a:lnTo>
                  <a:lnTo>
                    <a:pt x="24383" y="32258"/>
                  </a:lnTo>
                  <a:lnTo>
                    <a:pt x="20319" y="28321"/>
                  </a:lnTo>
                  <a:lnTo>
                    <a:pt x="12191" y="28321"/>
                  </a:lnTo>
                  <a:lnTo>
                    <a:pt x="12191" y="24257"/>
                  </a:lnTo>
                  <a:close/>
                </a:path>
                <a:path w="36829" h="81280">
                  <a:moveTo>
                    <a:pt x="24383" y="8127"/>
                  </a:moveTo>
                  <a:lnTo>
                    <a:pt x="24383" y="32258"/>
                  </a:lnTo>
                  <a:lnTo>
                    <a:pt x="20319" y="32258"/>
                  </a:lnTo>
                  <a:lnTo>
                    <a:pt x="20319" y="36322"/>
                  </a:lnTo>
                  <a:lnTo>
                    <a:pt x="28447" y="36322"/>
                  </a:lnTo>
                  <a:lnTo>
                    <a:pt x="28447" y="28321"/>
                  </a:lnTo>
                  <a:lnTo>
                    <a:pt x="24383" y="8127"/>
                  </a:lnTo>
                  <a:close/>
                </a:path>
                <a:path w="36829" h="81280">
                  <a:moveTo>
                    <a:pt x="16255" y="24257"/>
                  </a:moveTo>
                  <a:lnTo>
                    <a:pt x="12191" y="24257"/>
                  </a:lnTo>
                  <a:lnTo>
                    <a:pt x="12191" y="28321"/>
                  </a:lnTo>
                  <a:lnTo>
                    <a:pt x="16255" y="28321"/>
                  </a:lnTo>
                  <a:lnTo>
                    <a:pt x="16255" y="24257"/>
                  </a:lnTo>
                  <a:close/>
                </a:path>
                <a:path w="36829" h="81280">
                  <a:moveTo>
                    <a:pt x="20319" y="16129"/>
                  </a:moveTo>
                  <a:lnTo>
                    <a:pt x="12191" y="16129"/>
                  </a:lnTo>
                  <a:lnTo>
                    <a:pt x="12191" y="20193"/>
                  </a:lnTo>
                  <a:lnTo>
                    <a:pt x="20319" y="20193"/>
                  </a:lnTo>
                  <a:lnTo>
                    <a:pt x="20319" y="16129"/>
                  </a:lnTo>
                  <a:close/>
                </a:path>
                <a:path w="36829" h="81280">
                  <a:moveTo>
                    <a:pt x="0" y="0"/>
                  </a:moveTo>
                  <a:lnTo>
                    <a:pt x="20319" y="4063"/>
                  </a:lnTo>
                  <a:lnTo>
                    <a:pt x="24383" y="40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F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91658" y="2884931"/>
              <a:ext cx="5080" cy="17145"/>
            </a:xfrm>
            <a:custGeom>
              <a:avLst/>
              <a:gdLst/>
              <a:ahLst/>
              <a:cxnLst/>
              <a:rect l="l" t="t" r="r" b="b"/>
              <a:pathLst>
                <a:path w="5079" h="17144">
                  <a:moveTo>
                    <a:pt x="4825" y="0"/>
                  </a:moveTo>
                  <a:lnTo>
                    <a:pt x="0" y="0"/>
                  </a:lnTo>
                  <a:lnTo>
                    <a:pt x="0" y="16763"/>
                  </a:lnTo>
                  <a:lnTo>
                    <a:pt x="4825" y="16763"/>
                  </a:lnTo>
                  <a:lnTo>
                    <a:pt x="4825" y="0"/>
                  </a:lnTo>
                  <a:close/>
                </a:path>
              </a:pathLst>
            </a:custGeom>
            <a:solidFill>
              <a:srgbClr val="006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195316" y="2566479"/>
              <a:ext cx="216535" cy="358140"/>
            </a:xfrm>
            <a:custGeom>
              <a:avLst/>
              <a:gdLst/>
              <a:ahLst/>
              <a:cxnLst/>
              <a:rect l="l" t="t" r="r" b="b"/>
              <a:pathLst>
                <a:path w="216535" h="358139">
                  <a:moveTo>
                    <a:pt x="13192" y="16127"/>
                  </a:moveTo>
                  <a:lnTo>
                    <a:pt x="11972" y="16127"/>
                  </a:lnTo>
                  <a:lnTo>
                    <a:pt x="0" y="24066"/>
                  </a:lnTo>
                  <a:lnTo>
                    <a:pt x="0" y="108648"/>
                  </a:lnTo>
                  <a:lnTo>
                    <a:pt x="16001" y="108648"/>
                  </a:lnTo>
                  <a:lnTo>
                    <a:pt x="16001" y="144843"/>
                  </a:lnTo>
                  <a:lnTo>
                    <a:pt x="8000" y="148780"/>
                  </a:lnTo>
                  <a:lnTo>
                    <a:pt x="8000" y="156908"/>
                  </a:lnTo>
                  <a:lnTo>
                    <a:pt x="16001" y="160845"/>
                  </a:lnTo>
                  <a:lnTo>
                    <a:pt x="16001" y="209232"/>
                  </a:lnTo>
                  <a:lnTo>
                    <a:pt x="8000" y="213169"/>
                  </a:lnTo>
                  <a:lnTo>
                    <a:pt x="8000" y="221297"/>
                  </a:lnTo>
                  <a:lnTo>
                    <a:pt x="16001" y="221297"/>
                  </a:lnTo>
                  <a:lnTo>
                    <a:pt x="12126" y="300432"/>
                  </a:lnTo>
                  <a:lnTo>
                    <a:pt x="12064" y="301688"/>
                  </a:lnTo>
                  <a:lnTo>
                    <a:pt x="8000" y="305752"/>
                  </a:lnTo>
                  <a:lnTo>
                    <a:pt x="208407" y="358076"/>
                  </a:lnTo>
                  <a:lnTo>
                    <a:pt x="208407" y="273621"/>
                  </a:lnTo>
                  <a:lnTo>
                    <a:pt x="216408" y="273621"/>
                  </a:lnTo>
                  <a:lnTo>
                    <a:pt x="216408" y="269557"/>
                  </a:lnTo>
                  <a:lnTo>
                    <a:pt x="208407" y="269557"/>
                  </a:lnTo>
                  <a:lnTo>
                    <a:pt x="212282" y="119038"/>
                  </a:lnTo>
                  <a:lnTo>
                    <a:pt x="212344" y="116649"/>
                  </a:lnTo>
                  <a:lnTo>
                    <a:pt x="216408" y="116649"/>
                  </a:lnTo>
                  <a:lnTo>
                    <a:pt x="216408" y="104584"/>
                  </a:lnTo>
                  <a:lnTo>
                    <a:pt x="8000" y="104584"/>
                  </a:lnTo>
                  <a:lnTo>
                    <a:pt x="8000" y="68389"/>
                  </a:lnTo>
                  <a:lnTo>
                    <a:pt x="212344" y="68389"/>
                  </a:lnTo>
                  <a:lnTo>
                    <a:pt x="212344" y="56324"/>
                  </a:lnTo>
                  <a:lnTo>
                    <a:pt x="184404" y="56324"/>
                  </a:lnTo>
                  <a:lnTo>
                    <a:pt x="184404" y="48196"/>
                  </a:lnTo>
                  <a:lnTo>
                    <a:pt x="152273" y="48196"/>
                  </a:lnTo>
                  <a:lnTo>
                    <a:pt x="116768" y="44321"/>
                  </a:lnTo>
                  <a:lnTo>
                    <a:pt x="116265" y="44321"/>
                  </a:lnTo>
                  <a:lnTo>
                    <a:pt x="108204" y="36131"/>
                  </a:lnTo>
                  <a:lnTo>
                    <a:pt x="84200" y="36131"/>
                  </a:lnTo>
                  <a:lnTo>
                    <a:pt x="17067" y="32131"/>
                  </a:lnTo>
                  <a:lnTo>
                    <a:pt x="16001" y="32131"/>
                  </a:lnTo>
                  <a:lnTo>
                    <a:pt x="16001" y="16280"/>
                  </a:lnTo>
                  <a:lnTo>
                    <a:pt x="13192" y="16127"/>
                  </a:lnTo>
                  <a:close/>
                </a:path>
                <a:path w="216535" h="358139">
                  <a:moveTo>
                    <a:pt x="160274" y="72326"/>
                  </a:moveTo>
                  <a:lnTo>
                    <a:pt x="24003" y="72326"/>
                  </a:lnTo>
                  <a:lnTo>
                    <a:pt x="20066" y="80454"/>
                  </a:lnTo>
                  <a:lnTo>
                    <a:pt x="16001" y="84391"/>
                  </a:lnTo>
                  <a:lnTo>
                    <a:pt x="16001" y="104584"/>
                  </a:lnTo>
                  <a:lnTo>
                    <a:pt x="212344" y="104584"/>
                  </a:lnTo>
                  <a:lnTo>
                    <a:pt x="212344" y="100520"/>
                  </a:lnTo>
                  <a:lnTo>
                    <a:pt x="172338" y="100520"/>
                  </a:lnTo>
                  <a:lnTo>
                    <a:pt x="170453" y="89945"/>
                  </a:lnTo>
                  <a:lnTo>
                    <a:pt x="166306" y="82407"/>
                  </a:lnTo>
                  <a:lnTo>
                    <a:pt x="162159" y="77892"/>
                  </a:lnTo>
                  <a:lnTo>
                    <a:pt x="160274" y="76390"/>
                  </a:lnTo>
                  <a:lnTo>
                    <a:pt x="160274" y="72326"/>
                  </a:lnTo>
                  <a:close/>
                </a:path>
                <a:path w="216535" h="358139">
                  <a:moveTo>
                    <a:pt x="212344" y="68389"/>
                  </a:moveTo>
                  <a:lnTo>
                    <a:pt x="28067" y="68389"/>
                  </a:lnTo>
                  <a:lnTo>
                    <a:pt x="28067" y="72326"/>
                  </a:lnTo>
                  <a:lnTo>
                    <a:pt x="176275" y="72326"/>
                  </a:lnTo>
                  <a:lnTo>
                    <a:pt x="176275" y="100520"/>
                  </a:lnTo>
                  <a:lnTo>
                    <a:pt x="212344" y="100520"/>
                  </a:lnTo>
                  <a:lnTo>
                    <a:pt x="212344" y="68389"/>
                  </a:lnTo>
                  <a:close/>
                </a:path>
                <a:path w="216535" h="358139">
                  <a:moveTo>
                    <a:pt x="12064" y="68389"/>
                  </a:moveTo>
                  <a:lnTo>
                    <a:pt x="8000" y="68389"/>
                  </a:lnTo>
                  <a:lnTo>
                    <a:pt x="20066" y="80454"/>
                  </a:lnTo>
                  <a:lnTo>
                    <a:pt x="12064" y="68389"/>
                  </a:lnTo>
                  <a:close/>
                </a:path>
                <a:path w="216535" h="358139">
                  <a:moveTo>
                    <a:pt x="204814" y="20002"/>
                  </a:moveTo>
                  <a:lnTo>
                    <a:pt x="120269" y="20002"/>
                  </a:lnTo>
                  <a:lnTo>
                    <a:pt x="176275" y="24066"/>
                  </a:lnTo>
                  <a:lnTo>
                    <a:pt x="188341" y="24066"/>
                  </a:lnTo>
                  <a:lnTo>
                    <a:pt x="188341" y="56324"/>
                  </a:lnTo>
                  <a:lnTo>
                    <a:pt x="212344" y="56324"/>
                  </a:lnTo>
                  <a:lnTo>
                    <a:pt x="212344" y="36131"/>
                  </a:lnTo>
                  <a:lnTo>
                    <a:pt x="211343" y="32131"/>
                  </a:lnTo>
                  <a:lnTo>
                    <a:pt x="211226" y="31664"/>
                  </a:lnTo>
                  <a:lnTo>
                    <a:pt x="206359" y="21542"/>
                  </a:lnTo>
                  <a:lnTo>
                    <a:pt x="204814" y="20002"/>
                  </a:lnTo>
                  <a:close/>
                </a:path>
                <a:path w="216535" h="358139">
                  <a:moveTo>
                    <a:pt x="168338" y="32131"/>
                  </a:moveTo>
                  <a:lnTo>
                    <a:pt x="156337" y="32131"/>
                  </a:lnTo>
                  <a:lnTo>
                    <a:pt x="156337" y="40195"/>
                  </a:lnTo>
                  <a:lnTo>
                    <a:pt x="152273" y="48196"/>
                  </a:lnTo>
                  <a:lnTo>
                    <a:pt x="184404" y="48196"/>
                  </a:lnTo>
                  <a:lnTo>
                    <a:pt x="184404" y="40195"/>
                  </a:lnTo>
                  <a:lnTo>
                    <a:pt x="172338" y="40195"/>
                  </a:lnTo>
                  <a:lnTo>
                    <a:pt x="172338" y="36131"/>
                  </a:lnTo>
                  <a:lnTo>
                    <a:pt x="168338" y="32131"/>
                  </a:lnTo>
                  <a:close/>
                </a:path>
                <a:path w="216535" h="358139">
                  <a:moveTo>
                    <a:pt x="113268" y="0"/>
                  </a:moveTo>
                  <a:lnTo>
                    <a:pt x="111607" y="0"/>
                  </a:lnTo>
                  <a:lnTo>
                    <a:pt x="109007" y="250"/>
                  </a:lnTo>
                  <a:lnTo>
                    <a:pt x="101234" y="2444"/>
                  </a:lnTo>
                  <a:lnTo>
                    <a:pt x="91961" y="8401"/>
                  </a:lnTo>
                  <a:lnTo>
                    <a:pt x="84200" y="20002"/>
                  </a:lnTo>
                  <a:lnTo>
                    <a:pt x="84200" y="36131"/>
                  </a:lnTo>
                  <a:lnTo>
                    <a:pt x="108204" y="36131"/>
                  </a:lnTo>
                  <a:lnTo>
                    <a:pt x="108204" y="20002"/>
                  </a:lnTo>
                  <a:lnTo>
                    <a:pt x="204814" y="20002"/>
                  </a:lnTo>
                  <a:lnTo>
                    <a:pt x="195466" y="10681"/>
                  </a:lnTo>
                  <a:lnTo>
                    <a:pt x="176275" y="4000"/>
                  </a:lnTo>
                  <a:lnTo>
                    <a:pt x="113268" y="0"/>
                  </a:lnTo>
                  <a:close/>
                </a:path>
                <a:path w="216535" h="358139">
                  <a:moveTo>
                    <a:pt x="17067" y="16127"/>
                  </a:moveTo>
                  <a:lnTo>
                    <a:pt x="16001" y="16127"/>
                  </a:lnTo>
                  <a:lnTo>
                    <a:pt x="16001" y="16280"/>
                  </a:lnTo>
                  <a:lnTo>
                    <a:pt x="84201" y="20002"/>
                  </a:lnTo>
                  <a:lnTo>
                    <a:pt x="17067" y="16127"/>
                  </a:lnTo>
                  <a:close/>
                </a:path>
              </a:pathLst>
            </a:custGeom>
            <a:solidFill>
              <a:srgbClr val="006F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291327" y="2634995"/>
              <a:ext cx="64135" cy="262255"/>
            </a:xfrm>
            <a:custGeom>
              <a:avLst/>
              <a:gdLst/>
              <a:ahLst/>
              <a:cxnLst/>
              <a:rect l="l" t="t" r="r" b="b"/>
              <a:pathLst>
                <a:path w="64135" h="262255">
                  <a:moveTo>
                    <a:pt x="0" y="0"/>
                  </a:moveTo>
                  <a:lnTo>
                    <a:pt x="0" y="4063"/>
                  </a:lnTo>
                  <a:lnTo>
                    <a:pt x="16001" y="4063"/>
                  </a:lnTo>
                  <a:lnTo>
                    <a:pt x="18351" y="6328"/>
                  </a:lnTo>
                  <a:lnTo>
                    <a:pt x="19558" y="13128"/>
                  </a:lnTo>
                  <a:lnTo>
                    <a:pt x="19893" y="21701"/>
                  </a:lnTo>
                  <a:lnTo>
                    <a:pt x="20002" y="24477"/>
                  </a:lnTo>
                  <a:lnTo>
                    <a:pt x="20066" y="76580"/>
                  </a:lnTo>
                  <a:lnTo>
                    <a:pt x="3937" y="76580"/>
                  </a:lnTo>
                  <a:lnTo>
                    <a:pt x="8000" y="80644"/>
                  </a:lnTo>
                  <a:lnTo>
                    <a:pt x="20066" y="80644"/>
                  </a:lnTo>
                  <a:lnTo>
                    <a:pt x="20066" y="145161"/>
                  </a:lnTo>
                  <a:lnTo>
                    <a:pt x="3937" y="145161"/>
                  </a:lnTo>
                  <a:lnTo>
                    <a:pt x="8000" y="149225"/>
                  </a:lnTo>
                  <a:lnTo>
                    <a:pt x="20066" y="149225"/>
                  </a:lnTo>
                  <a:lnTo>
                    <a:pt x="16065" y="248487"/>
                  </a:lnTo>
                  <a:lnTo>
                    <a:pt x="16001" y="250062"/>
                  </a:lnTo>
                  <a:lnTo>
                    <a:pt x="64008" y="262127"/>
                  </a:lnTo>
                  <a:lnTo>
                    <a:pt x="64008" y="52450"/>
                  </a:lnTo>
                  <a:lnTo>
                    <a:pt x="63007" y="39165"/>
                  </a:lnTo>
                  <a:lnTo>
                    <a:pt x="56007" y="21701"/>
                  </a:lnTo>
                  <a:lnTo>
                    <a:pt x="37004" y="64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398160" y="2593339"/>
              <a:ext cx="6350" cy="316230"/>
            </a:xfrm>
            <a:custGeom>
              <a:avLst/>
              <a:gdLst/>
              <a:ahLst/>
              <a:cxnLst/>
              <a:rect l="l" t="t" r="r" b="b"/>
              <a:pathLst>
                <a:path w="6350" h="316230">
                  <a:moveTo>
                    <a:pt x="5905" y="3810"/>
                  </a:moveTo>
                  <a:lnTo>
                    <a:pt x="3848" y="3810"/>
                  </a:lnTo>
                  <a:lnTo>
                    <a:pt x="3848" y="0"/>
                  </a:lnTo>
                  <a:lnTo>
                    <a:pt x="1993" y="0"/>
                  </a:lnTo>
                  <a:lnTo>
                    <a:pt x="1993" y="3810"/>
                  </a:lnTo>
                  <a:lnTo>
                    <a:pt x="1968" y="16510"/>
                  </a:lnTo>
                  <a:lnTo>
                    <a:pt x="0" y="16510"/>
                  </a:lnTo>
                  <a:lnTo>
                    <a:pt x="0" y="316230"/>
                  </a:lnTo>
                  <a:lnTo>
                    <a:pt x="3937" y="316230"/>
                  </a:lnTo>
                  <a:lnTo>
                    <a:pt x="3937" y="16510"/>
                  </a:lnTo>
                  <a:lnTo>
                    <a:pt x="5905" y="16510"/>
                  </a:lnTo>
                  <a:lnTo>
                    <a:pt x="5905" y="3810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956047" y="2232967"/>
              <a:ext cx="174625" cy="1016635"/>
            </a:xfrm>
            <a:custGeom>
              <a:avLst/>
              <a:gdLst/>
              <a:ahLst/>
              <a:cxnLst/>
              <a:rect l="l" t="t" r="r" b="b"/>
              <a:pathLst>
                <a:path w="174625" h="1016635">
                  <a:moveTo>
                    <a:pt x="145923" y="790013"/>
                  </a:moveTo>
                  <a:lnTo>
                    <a:pt x="4063" y="790013"/>
                  </a:lnTo>
                  <a:lnTo>
                    <a:pt x="20319" y="793950"/>
                  </a:lnTo>
                  <a:lnTo>
                    <a:pt x="16330" y="1012136"/>
                  </a:lnTo>
                  <a:lnTo>
                    <a:pt x="16255" y="1016200"/>
                  </a:lnTo>
                  <a:lnTo>
                    <a:pt x="141859" y="1012136"/>
                  </a:lnTo>
                  <a:lnTo>
                    <a:pt x="141859" y="798014"/>
                  </a:lnTo>
                  <a:lnTo>
                    <a:pt x="143165" y="798014"/>
                  </a:lnTo>
                  <a:lnTo>
                    <a:pt x="149463" y="797014"/>
                  </a:lnTo>
                  <a:lnTo>
                    <a:pt x="157235" y="794638"/>
                  </a:lnTo>
                  <a:lnTo>
                    <a:pt x="158557" y="793950"/>
                  </a:lnTo>
                  <a:lnTo>
                    <a:pt x="137794" y="793950"/>
                  </a:lnTo>
                  <a:lnTo>
                    <a:pt x="145923" y="790013"/>
                  </a:lnTo>
                  <a:close/>
                </a:path>
                <a:path w="174625" h="1016635">
                  <a:moveTo>
                    <a:pt x="166115" y="785949"/>
                  </a:moveTo>
                  <a:lnTo>
                    <a:pt x="162051" y="790013"/>
                  </a:lnTo>
                  <a:lnTo>
                    <a:pt x="154050" y="793950"/>
                  </a:lnTo>
                  <a:lnTo>
                    <a:pt x="158557" y="793950"/>
                  </a:lnTo>
                  <a:lnTo>
                    <a:pt x="166115" y="790013"/>
                  </a:lnTo>
                  <a:lnTo>
                    <a:pt x="166115" y="785949"/>
                  </a:lnTo>
                  <a:close/>
                </a:path>
                <a:path w="174625" h="1016635">
                  <a:moveTo>
                    <a:pt x="157987" y="785949"/>
                  </a:moveTo>
                  <a:lnTo>
                    <a:pt x="16255" y="785949"/>
                  </a:lnTo>
                  <a:lnTo>
                    <a:pt x="20319" y="790013"/>
                  </a:lnTo>
                  <a:lnTo>
                    <a:pt x="154050" y="790013"/>
                  </a:lnTo>
                  <a:lnTo>
                    <a:pt x="157987" y="785949"/>
                  </a:lnTo>
                  <a:close/>
                </a:path>
                <a:path w="174625" h="1016635">
                  <a:moveTo>
                    <a:pt x="8127" y="79331"/>
                  </a:moveTo>
                  <a:lnTo>
                    <a:pt x="7883" y="80400"/>
                  </a:lnTo>
                  <a:lnTo>
                    <a:pt x="4063" y="103197"/>
                  </a:lnTo>
                  <a:lnTo>
                    <a:pt x="0" y="111198"/>
                  </a:lnTo>
                  <a:lnTo>
                    <a:pt x="4063" y="115262"/>
                  </a:lnTo>
                  <a:lnTo>
                    <a:pt x="8127" y="123390"/>
                  </a:lnTo>
                  <a:lnTo>
                    <a:pt x="24256" y="127327"/>
                  </a:lnTo>
                  <a:lnTo>
                    <a:pt x="24256" y="305127"/>
                  </a:lnTo>
                  <a:lnTo>
                    <a:pt x="20381" y="615291"/>
                  </a:lnTo>
                  <a:lnTo>
                    <a:pt x="20319" y="765756"/>
                  </a:lnTo>
                  <a:lnTo>
                    <a:pt x="8127" y="765756"/>
                  </a:lnTo>
                  <a:lnTo>
                    <a:pt x="0" y="769693"/>
                  </a:lnTo>
                  <a:lnTo>
                    <a:pt x="0" y="777821"/>
                  </a:lnTo>
                  <a:lnTo>
                    <a:pt x="8127" y="785949"/>
                  </a:lnTo>
                  <a:lnTo>
                    <a:pt x="166115" y="785949"/>
                  </a:lnTo>
                  <a:lnTo>
                    <a:pt x="166115" y="773757"/>
                  </a:lnTo>
                  <a:lnTo>
                    <a:pt x="141859" y="765756"/>
                  </a:lnTo>
                  <a:lnTo>
                    <a:pt x="141859" y="749500"/>
                  </a:lnTo>
                  <a:lnTo>
                    <a:pt x="149860" y="145049"/>
                  </a:lnTo>
                  <a:lnTo>
                    <a:pt x="149987" y="135455"/>
                  </a:lnTo>
                  <a:lnTo>
                    <a:pt x="154348" y="134441"/>
                  </a:lnTo>
                  <a:lnTo>
                    <a:pt x="163639" y="130391"/>
                  </a:lnTo>
                  <a:lnTo>
                    <a:pt x="166678" y="127327"/>
                  </a:lnTo>
                  <a:lnTo>
                    <a:pt x="154050" y="127327"/>
                  </a:lnTo>
                  <a:lnTo>
                    <a:pt x="162051" y="123390"/>
                  </a:lnTo>
                  <a:lnTo>
                    <a:pt x="16255" y="123390"/>
                  </a:lnTo>
                  <a:lnTo>
                    <a:pt x="16255" y="119326"/>
                  </a:lnTo>
                  <a:lnTo>
                    <a:pt x="166115" y="119326"/>
                  </a:lnTo>
                  <a:lnTo>
                    <a:pt x="166115" y="115262"/>
                  </a:lnTo>
                  <a:lnTo>
                    <a:pt x="8127" y="115262"/>
                  </a:lnTo>
                  <a:lnTo>
                    <a:pt x="4063" y="111198"/>
                  </a:lnTo>
                  <a:lnTo>
                    <a:pt x="173668" y="111198"/>
                  </a:lnTo>
                  <a:lnTo>
                    <a:pt x="174243" y="107134"/>
                  </a:lnTo>
                  <a:lnTo>
                    <a:pt x="170179" y="107134"/>
                  </a:lnTo>
                  <a:lnTo>
                    <a:pt x="168721" y="104614"/>
                  </a:lnTo>
                  <a:lnTo>
                    <a:pt x="164607" y="99069"/>
                  </a:lnTo>
                  <a:lnTo>
                    <a:pt x="160007" y="95069"/>
                  </a:lnTo>
                  <a:lnTo>
                    <a:pt x="8127" y="95069"/>
                  </a:lnTo>
                  <a:lnTo>
                    <a:pt x="8127" y="79331"/>
                  </a:lnTo>
                  <a:close/>
                </a:path>
                <a:path w="174625" h="1016635">
                  <a:moveTo>
                    <a:pt x="20319" y="749500"/>
                  </a:moveTo>
                  <a:lnTo>
                    <a:pt x="0" y="753564"/>
                  </a:lnTo>
                  <a:lnTo>
                    <a:pt x="0" y="757628"/>
                  </a:lnTo>
                  <a:lnTo>
                    <a:pt x="8127" y="753564"/>
                  </a:lnTo>
                  <a:lnTo>
                    <a:pt x="20319" y="749500"/>
                  </a:lnTo>
                  <a:close/>
                </a:path>
                <a:path w="174625" h="1016635">
                  <a:moveTo>
                    <a:pt x="141859" y="749500"/>
                  </a:moveTo>
                  <a:lnTo>
                    <a:pt x="149078" y="750770"/>
                  </a:lnTo>
                  <a:lnTo>
                    <a:pt x="157035" y="753564"/>
                  </a:lnTo>
                  <a:lnTo>
                    <a:pt x="163468" y="756358"/>
                  </a:lnTo>
                  <a:lnTo>
                    <a:pt x="166115" y="757628"/>
                  </a:lnTo>
                  <a:lnTo>
                    <a:pt x="164040" y="756358"/>
                  </a:lnTo>
                  <a:lnTo>
                    <a:pt x="158559" y="753564"/>
                  </a:lnTo>
                  <a:lnTo>
                    <a:pt x="150792" y="750770"/>
                  </a:lnTo>
                  <a:lnTo>
                    <a:pt x="141859" y="749500"/>
                  </a:lnTo>
                  <a:close/>
                </a:path>
                <a:path w="174625" h="1016635">
                  <a:moveTo>
                    <a:pt x="173668" y="111198"/>
                  </a:moveTo>
                  <a:lnTo>
                    <a:pt x="170179" y="111198"/>
                  </a:lnTo>
                  <a:lnTo>
                    <a:pt x="170179" y="119326"/>
                  </a:lnTo>
                  <a:lnTo>
                    <a:pt x="166115" y="119326"/>
                  </a:lnTo>
                  <a:lnTo>
                    <a:pt x="166115" y="123390"/>
                  </a:lnTo>
                  <a:lnTo>
                    <a:pt x="162051" y="127327"/>
                  </a:lnTo>
                  <a:lnTo>
                    <a:pt x="166678" y="127327"/>
                  </a:lnTo>
                  <a:lnTo>
                    <a:pt x="172168" y="121792"/>
                  </a:lnTo>
                  <a:lnTo>
                    <a:pt x="173668" y="111198"/>
                  </a:lnTo>
                  <a:close/>
                </a:path>
                <a:path w="174625" h="1016635">
                  <a:moveTo>
                    <a:pt x="166115" y="119326"/>
                  </a:moveTo>
                  <a:lnTo>
                    <a:pt x="24256" y="119326"/>
                  </a:lnTo>
                  <a:lnTo>
                    <a:pt x="28321" y="123390"/>
                  </a:lnTo>
                  <a:lnTo>
                    <a:pt x="162051" y="123390"/>
                  </a:lnTo>
                  <a:lnTo>
                    <a:pt x="166115" y="119326"/>
                  </a:lnTo>
                  <a:close/>
                </a:path>
                <a:path w="174625" h="1016635">
                  <a:moveTo>
                    <a:pt x="170179" y="111198"/>
                  </a:moveTo>
                  <a:lnTo>
                    <a:pt x="8127" y="111198"/>
                  </a:lnTo>
                  <a:lnTo>
                    <a:pt x="12191" y="115262"/>
                  </a:lnTo>
                  <a:lnTo>
                    <a:pt x="166115" y="115262"/>
                  </a:lnTo>
                  <a:lnTo>
                    <a:pt x="170179" y="111198"/>
                  </a:lnTo>
                  <a:close/>
                </a:path>
                <a:path w="174625" h="1016635">
                  <a:moveTo>
                    <a:pt x="150702" y="71153"/>
                  </a:moveTo>
                  <a:lnTo>
                    <a:pt x="155511" y="74352"/>
                  </a:lnTo>
                  <a:lnTo>
                    <a:pt x="161881" y="79331"/>
                  </a:lnTo>
                  <a:lnTo>
                    <a:pt x="170179" y="86941"/>
                  </a:lnTo>
                  <a:lnTo>
                    <a:pt x="170179" y="107134"/>
                  </a:lnTo>
                  <a:lnTo>
                    <a:pt x="174243" y="107134"/>
                  </a:lnTo>
                  <a:lnTo>
                    <a:pt x="174243" y="86941"/>
                  </a:lnTo>
                  <a:lnTo>
                    <a:pt x="172150" y="84992"/>
                  </a:lnTo>
                  <a:lnTo>
                    <a:pt x="166639" y="80400"/>
                  </a:lnTo>
                  <a:lnTo>
                    <a:pt x="158867" y="75047"/>
                  </a:lnTo>
                  <a:lnTo>
                    <a:pt x="150702" y="71153"/>
                  </a:lnTo>
                  <a:close/>
                </a:path>
                <a:path w="174625" h="1016635">
                  <a:moveTo>
                    <a:pt x="67216" y="0"/>
                  </a:moveTo>
                  <a:lnTo>
                    <a:pt x="28321" y="10233"/>
                  </a:lnTo>
                  <a:lnTo>
                    <a:pt x="26560" y="11610"/>
                  </a:lnTo>
                  <a:lnTo>
                    <a:pt x="23288" y="15249"/>
                  </a:lnTo>
                  <a:lnTo>
                    <a:pt x="21516" y="20413"/>
                  </a:lnTo>
                  <a:lnTo>
                    <a:pt x="24256" y="26362"/>
                  </a:lnTo>
                  <a:lnTo>
                    <a:pt x="24256" y="82877"/>
                  </a:lnTo>
                  <a:lnTo>
                    <a:pt x="12191" y="86941"/>
                  </a:lnTo>
                  <a:lnTo>
                    <a:pt x="8127" y="95069"/>
                  </a:lnTo>
                  <a:lnTo>
                    <a:pt x="160007" y="95069"/>
                  </a:lnTo>
                  <a:lnTo>
                    <a:pt x="158232" y="93525"/>
                  </a:lnTo>
                  <a:lnTo>
                    <a:pt x="149987" y="91005"/>
                  </a:lnTo>
                  <a:lnTo>
                    <a:pt x="149987" y="26362"/>
                  </a:lnTo>
                  <a:lnTo>
                    <a:pt x="154050" y="18234"/>
                  </a:lnTo>
                  <a:lnTo>
                    <a:pt x="145923" y="10233"/>
                  </a:lnTo>
                  <a:lnTo>
                    <a:pt x="134387" y="6822"/>
                  </a:lnTo>
                  <a:lnTo>
                    <a:pt x="105362" y="1137"/>
                  </a:lnTo>
                  <a:lnTo>
                    <a:pt x="67216" y="0"/>
                  </a:lnTo>
                  <a:close/>
                </a:path>
                <a:path w="174625" h="1016635">
                  <a:moveTo>
                    <a:pt x="24256" y="66748"/>
                  </a:moveTo>
                  <a:lnTo>
                    <a:pt x="8127" y="74876"/>
                  </a:lnTo>
                  <a:lnTo>
                    <a:pt x="8127" y="78940"/>
                  </a:lnTo>
                  <a:lnTo>
                    <a:pt x="12191" y="74876"/>
                  </a:lnTo>
                  <a:lnTo>
                    <a:pt x="24256" y="66748"/>
                  </a:lnTo>
                  <a:close/>
                </a:path>
              </a:pathLst>
            </a:custGeom>
            <a:solidFill>
              <a:srgbClr val="006F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965192" y="2985515"/>
              <a:ext cx="157480" cy="17145"/>
            </a:xfrm>
            <a:custGeom>
              <a:avLst/>
              <a:gdLst/>
              <a:ahLst/>
              <a:cxnLst/>
              <a:rect l="l" t="t" r="r" b="b"/>
              <a:pathLst>
                <a:path w="157479" h="17144">
                  <a:moveTo>
                    <a:pt x="1524" y="0"/>
                  </a:moveTo>
                  <a:lnTo>
                    <a:pt x="0" y="0"/>
                  </a:lnTo>
                  <a:lnTo>
                    <a:pt x="0" y="7302"/>
                  </a:lnTo>
                  <a:lnTo>
                    <a:pt x="0" y="16764"/>
                  </a:lnTo>
                  <a:lnTo>
                    <a:pt x="1524" y="16764"/>
                  </a:lnTo>
                  <a:lnTo>
                    <a:pt x="1524" y="6972"/>
                  </a:lnTo>
                  <a:lnTo>
                    <a:pt x="1524" y="0"/>
                  </a:lnTo>
                  <a:close/>
                </a:path>
                <a:path w="157479" h="17144">
                  <a:moveTo>
                    <a:pt x="156972" y="12192"/>
                  </a:moveTo>
                  <a:lnTo>
                    <a:pt x="153733" y="11010"/>
                  </a:lnTo>
                  <a:lnTo>
                    <a:pt x="146304" y="8382"/>
                  </a:lnTo>
                  <a:lnTo>
                    <a:pt x="144780" y="7899"/>
                  </a:lnTo>
                  <a:lnTo>
                    <a:pt x="144780" y="0"/>
                  </a:lnTo>
                  <a:lnTo>
                    <a:pt x="143256" y="0"/>
                  </a:lnTo>
                  <a:lnTo>
                    <a:pt x="143256" y="7416"/>
                  </a:lnTo>
                  <a:lnTo>
                    <a:pt x="138112" y="5765"/>
                  </a:lnTo>
                  <a:lnTo>
                    <a:pt x="132588" y="4572"/>
                  </a:lnTo>
                  <a:lnTo>
                    <a:pt x="143256" y="7912"/>
                  </a:lnTo>
                  <a:lnTo>
                    <a:pt x="143256" y="16764"/>
                  </a:lnTo>
                  <a:lnTo>
                    <a:pt x="144780" y="16764"/>
                  </a:lnTo>
                  <a:lnTo>
                    <a:pt x="144780" y="8382"/>
                  </a:lnTo>
                  <a:lnTo>
                    <a:pt x="156972" y="12192"/>
                  </a:lnTo>
                  <a:close/>
                </a:path>
              </a:pathLst>
            </a:custGeom>
            <a:solidFill>
              <a:srgbClr val="006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965192" y="2255519"/>
              <a:ext cx="154305" cy="977265"/>
            </a:xfrm>
            <a:custGeom>
              <a:avLst/>
              <a:gdLst/>
              <a:ahLst/>
              <a:cxnLst/>
              <a:rect l="l" t="t" r="r" b="b"/>
              <a:pathLst>
                <a:path w="154304" h="977264">
                  <a:moveTo>
                    <a:pt x="153924" y="74739"/>
                  </a:moveTo>
                  <a:lnTo>
                    <a:pt x="149974" y="74739"/>
                  </a:lnTo>
                  <a:lnTo>
                    <a:pt x="125603" y="62484"/>
                  </a:lnTo>
                  <a:lnTo>
                    <a:pt x="109728" y="62484"/>
                  </a:lnTo>
                  <a:lnTo>
                    <a:pt x="109728" y="0"/>
                  </a:lnTo>
                  <a:lnTo>
                    <a:pt x="73152" y="0"/>
                  </a:lnTo>
                  <a:lnTo>
                    <a:pt x="89027" y="7874"/>
                  </a:lnTo>
                  <a:lnTo>
                    <a:pt x="89027" y="62484"/>
                  </a:lnTo>
                  <a:lnTo>
                    <a:pt x="32385" y="62484"/>
                  </a:lnTo>
                  <a:lnTo>
                    <a:pt x="24257" y="66548"/>
                  </a:lnTo>
                  <a:lnTo>
                    <a:pt x="8128" y="66548"/>
                  </a:lnTo>
                  <a:lnTo>
                    <a:pt x="8128" y="70612"/>
                  </a:lnTo>
                  <a:lnTo>
                    <a:pt x="4064" y="70612"/>
                  </a:lnTo>
                  <a:lnTo>
                    <a:pt x="4064" y="78740"/>
                  </a:lnTo>
                  <a:lnTo>
                    <a:pt x="8128" y="78740"/>
                  </a:lnTo>
                  <a:lnTo>
                    <a:pt x="12192" y="82804"/>
                  </a:lnTo>
                  <a:lnTo>
                    <a:pt x="12192" y="78740"/>
                  </a:lnTo>
                  <a:lnTo>
                    <a:pt x="20193" y="78740"/>
                  </a:lnTo>
                  <a:lnTo>
                    <a:pt x="28498" y="76390"/>
                  </a:lnTo>
                  <a:lnTo>
                    <a:pt x="40995" y="75196"/>
                  </a:lnTo>
                  <a:lnTo>
                    <a:pt x="57277" y="74739"/>
                  </a:lnTo>
                  <a:lnTo>
                    <a:pt x="89027" y="74739"/>
                  </a:lnTo>
                  <a:lnTo>
                    <a:pt x="89027" y="747268"/>
                  </a:lnTo>
                  <a:lnTo>
                    <a:pt x="16256" y="747268"/>
                  </a:lnTo>
                  <a:lnTo>
                    <a:pt x="12192" y="751332"/>
                  </a:lnTo>
                  <a:lnTo>
                    <a:pt x="4064" y="751332"/>
                  </a:lnTo>
                  <a:lnTo>
                    <a:pt x="0" y="755396"/>
                  </a:lnTo>
                  <a:lnTo>
                    <a:pt x="0" y="759460"/>
                  </a:lnTo>
                  <a:lnTo>
                    <a:pt x="4064" y="759460"/>
                  </a:lnTo>
                  <a:lnTo>
                    <a:pt x="4064" y="763524"/>
                  </a:lnTo>
                  <a:lnTo>
                    <a:pt x="12192" y="763524"/>
                  </a:lnTo>
                  <a:lnTo>
                    <a:pt x="12192" y="759460"/>
                  </a:lnTo>
                  <a:lnTo>
                    <a:pt x="16256" y="759460"/>
                  </a:lnTo>
                  <a:lnTo>
                    <a:pt x="24561" y="758825"/>
                  </a:lnTo>
                  <a:lnTo>
                    <a:pt x="37452" y="757428"/>
                  </a:lnTo>
                  <a:lnTo>
                    <a:pt x="54927" y="756031"/>
                  </a:lnTo>
                  <a:lnTo>
                    <a:pt x="76962" y="755396"/>
                  </a:lnTo>
                  <a:lnTo>
                    <a:pt x="89027" y="755954"/>
                  </a:lnTo>
                  <a:lnTo>
                    <a:pt x="89027" y="969010"/>
                  </a:lnTo>
                  <a:lnTo>
                    <a:pt x="109728" y="976884"/>
                  </a:lnTo>
                  <a:lnTo>
                    <a:pt x="109728" y="758482"/>
                  </a:lnTo>
                  <a:lnTo>
                    <a:pt x="112268" y="758825"/>
                  </a:lnTo>
                  <a:lnTo>
                    <a:pt x="121539" y="759460"/>
                  </a:lnTo>
                  <a:lnTo>
                    <a:pt x="137668" y="759460"/>
                  </a:lnTo>
                  <a:lnTo>
                    <a:pt x="137668" y="763524"/>
                  </a:lnTo>
                  <a:lnTo>
                    <a:pt x="145796" y="763524"/>
                  </a:lnTo>
                  <a:lnTo>
                    <a:pt x="145796" y="759460"/>
                  </a:lnTo>
                  <a:lnTo>
                    <a:pt x="149860" y="759460"/>
                  </a:lnTo>
                  <a:lnTo>
                    <a:pt x="149860" y="755396"/>
                  </a:lnTo>
                  <a:lnTo>
                    <a:pt x="145796" y="751332"/>
                  </a:lnTo>
                  <a:lnTo>
                    <a:pt x="141732" y="751332"/>
                  </a:lnTo>
                  <a:lnTo>
                    <a:pt x="137668" y="747268"/>
                  </a:lnTo>
                  <a:lnTo>
                    <a:pt x="109728" y="747268"/>
                  </a:lnTo>
                  <a:lnTo>
                    <a:pt x="109728" y="74739"/>
                  </a:lnTo>
                  <a:lnTo>
                    <a:pt x="121742" y="74739"/>
                  </a:lnTo>
                  <a:lnTo>
                    <a:pt x="129324" y="77089"/>
                  </a:lnTo>
                  <a:lnTo>
                    <a:pt x="135191" y="78740"/>
                  </a:lnTo>
                  <a:lnTo>
                    <a:pt x="140284" y="80391"/>
                  </a:lnTo>
                  <a:lnTo>
                    <a:pt x="145796" y="82804"/>
                  </a:lnTo>
                  <a:lnTo>
                    <a:pt x="149860" y="86741"/>
                  </a:lnTo>
                  <a:lnTo>
                    <a:pt x="153924" y="82804"/>
                  </a:lnTo>
                  <a:lnTo>
                    <a:pt x="153924" y="747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650740" y="2825495"/>
              <a:ext cx="778510" cy="439420"/>
            </a:xfrm>
            <a:custGeom>
              <a:avLst/>
              <a:gdLst/>
              <a:ahLst/>
              <a:cxnLst/>
              <a:rect l="l" t="t" r="r" b="b"/>
              <a:pathLst>
                <a:path w="778510" h="439420">
                  <a:moveTo>
                    <a:pt x="778383" y="106108"/>
                  </a:moveTo>
                  <a:lnTo>
                    <a:pt x="749173" y="79375"/>
                  </a:lnTo>
                  <a:lnTo>
                    <a:pt x="704964" y="60579"/>
                  </a:lnTo>
                  <a:lnTo>
                    <a:pt x="664591" y="46990"/>
                  </a:lnTo>
                  <a:lnTo>
                    <a:pt x="625767" y="38417"/>
                  </a:lnTo>
                  <a:lnTo>
                    <a:pt x="543636" y="24282"/>
                  </a:lnTo>
                  <a:lnTo>
                    <a:pt x="503389" y="18796"/>
                  </a:lnTo>
                  <a:lnTo>
                    <a:pt x="503542" y="18796"/>
                  </a:lnTo>
                  <a:lnTo>
                    <a:pt x="449389" y="13195"/>
                  </a:lnTo>
                  <a:lnTo>
                    <a:pt x="396087" y="10731"/>
                  </a:lnTo>
                  <a:lnTo>
                    <a:pt x="365442" y="10731"/>
                  </a:lnTo>
                  <a:lnTo>
                    <a:pt x="344297" y="11176"/>
                  </a:lnTo>
                  <a:lnTo>
                    <a:pt x="323151" y="12382"/>
                  </a:lnTo>
                  <a:lnTo>
                    <a:pt x="302006" y="14732"/>
                  </a:lnTo>
                  <a:lnTo>
                    <a:pt x="286994" y="15367"/>
                  </a:lnTo>
                  <a:lnTo>
                    <a:pt x="265684" y="17449"/>
                  </a:lnTo>
                  <a:lnTo>
                    <a:pt x="265684" y="0"/>
                  </a:lnTo>
                  <a:lnTo>
                    <a:pt x="255562" y="2286"/>
                  </a:lnTo>
                  <a:lnTo>
                    <a:pt x="245084" y="3454"/>
                  </a:lnTo>
                  <a:lnTo>
                    <a:pt x="235699" y="3937"/>
                  </a:lnTo>
                  <a:lnTo>
                    <a:pt x="235204" y="3937"/>
                  </a:lnTo>
                  <a:lnTo>
                    <a:pt x="235204" y="3048"/>
                  </a:lnTo>
                  <a:lnTo>
                    <a:pt x="233680" y="3048"/>
                  </a:lnTo>
                  <a:lnTo>
                    <a:pt x="233680" y="3937"/>
                  </a:lnTo>
                  <a:lnTo>
                    <a:pt x="233553" y="3937"/>
                  </a:lnTo>
                  <a:lnTo>
                    <a:pt x="214503" y="7543"/>
                  </a:lnTo>
                  <a:lnTo>
                    <a:pt x="165481" y="16002"/>
                  </a:lnTo>
                  <a:lnTo>
                    <a:pt x="158076" y="18961"/>
                  </a:lnTo>
                  <a:lnTo>
                    <a:pt x="148412" y="21932"/>
                  </a:lnTo>
                  <a:lnTo>
                    <a:pt x="137236" y="24917"/>
                  </a:lnTo>
                  <a:lnTo>
                    <a:pt x="93345" y="35814"/>
                  </a:lnTo>
                  <a:lnTo>
                    <a:pt x="87198" y="38227"/>
                  </a:lnTo>
                  <a:lnTo>
                    <a:pt x="80733" y="39865"/>
                  </a:lnTo>
                  <a:lnTo>
                    <a:pt x="73545" y="41478"/>
                  </a:lnTo>
                  <a:lnTo>
                    <a:pt x="65278" y="43815"/>
                  </a:lnTo>
                  <a:lnTo>
                    <a:pt x="56413" y="49060"/>
                  </a:lnTo>
                  <a:lnTo>
                    <a:pt x="48679" y="52793"/>
                  </a:lnTo>
                  <a:lnTo>
                    <a:pt x="43218" y="55016"/>
                  </a:lnTo>
                  <a:lnTo>
                    <a:pt x="41148" y="55753"/>
                  </a:lnTo>
                  <a:lnTo>
                    <a:pt x="33147" y="59817"/>
                  </a:lnTo>
                  <a:lnTo>
                    <a:pt x="25146" y="63754"/>
                  </a:lnTo>
                  <a:lnTo>
                    <a:pt x="21082" y="67818"/>
                  </a:lnTo>
                  <a:lnTo>
                    <a:pt x="9144" y="75692"/>
                  </a:lnTo>
                  <a:lnTo>
                    <a:pt x="5080" y="79756"/>
                  </a:lnTo>
                  <a:lnTo>
                    <a:pt x="5080" y="100037"/>
                  </a:lnTo>
                  <a:lnTo>
                    <a:pt x="2273" y="104394"/>
                  </a:lnTo>
                  <a:lnTo>
                    <a:pt x="1435" y="112166"/>
                  </a:lnTo>
                  <a:lnTo>
                    <a:pt x="2895" y="117741"/>
                  </a:lnTo>
                  <a:lnTo>
                    <a:pt x="3937" y="119761"/>
                  </a:lnTo>
                  <a:lnTo>
                    <a:pt x="3937" y="160147"/>
                  </a:lnTo>
                  <a:lnTo>
                    <a:pt x="0" y="164211"/>
                  </a:lnTo>
                  <a:lnTo>
                    <a:pt x="3937" y="176276"/>
                  </a:lnTo>
                  <a:lnTo>
                    <a:pt x="3937" y="253111"/>
                  </a:lnTo>
                  <a:lnTo>
                    <a:pt x="0" y="257048"/>
                  </a:lnTo>
                  <a:lnTo>
                    <a:pt x="3937" y="261112"/>
                  </a:lnTo>
                  <a:lnTo>
                    <a:pt x="3937" y="358140"/>
                  </a:lnTo>
                  <a:lnTo>
                    <a:pt x="7937" y="437654"/>
                  </a:lnTo>
                  <a:lnTo>
                    <a:pt x="8001" y="438912"/>
                  </a:lnTo>
                  <a:lnTo>
                    <a:pt x="773303" y="438912"/>
                  </a:lnTo>
                  <a:lnTo>
                    <a:pt x="773303" y="265176"/>
                  </a:lnTo>
                  <a:lnTo>
                    <a:pt x="777367" y="257048"/>
                  </a:lnTo>
                  <a:lnTo>
                    <a:pt x="773303" y="253111"/>
                  </a:lnTo>
                  <a:lnTo>
                    <a:pt x="773303" y="176276"/>
                  </a:lnTo>
                  <a:lnTo>
                    <a:pt x="777367" y="168275"/>
                  </a:lnTo>
                  <a:lnTo>
                    <a:pt x="773303" y="160147"/>
                  </a:lnTo>
                  <a:lnTo>
                    <a:pt x="773303" y="119761"/>
                  </a:lnTo>
                  <a:lnTo>
                    <a:pt x="774992" y="117741"/>
                  </a:lnTo>
                  <a:lnTo>
                    <a:pt x="777824" y="112674"/>
                  </a:lnTo>
                  <a:lnTo>
                    <a:pt x="778383" y="106108"/>
                  </a:lnTo>
                  <a:close/>
                </a:path>
              </a:pathLst>
            </a:custGeom>
            <a:solidFill>
              <a:srgbClr val="006F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904232" y="2840735"/>
              <a:ext cx="510540" cy="416559"/>
            </a:xfrm>
            <a:custGeom>
              <a:avLst/>
              <a:gdLst/>
              <a:ahLst/>
              <a:cxnLst/>
              <a:rect l="l" t="t" r="r" b="b"/>
              <a:pathLst>
                <a:path w="510539" h="416560">
                  <a:moveTo>
                    <a:pt x="132715" y="0"/>
                  </a:moveTo>
                  <a:lnTo>
                    <a:pt x="104521" y="0"/>
                  </a:lnTo>
                  <a:lnTo>
                    <a:pt x="82600" y="762"/>
                  </a:lnTo>
                  <a:lnTo>
                    <a:pt x="61810" y="3035"/>
                  </a:lnTo>
                  <a:lnTo>
                    <a:pt x="4064" y="12065"/>
                  </a:lnTo>
                  <a:lnTo>
                    <a:pt x="2514" y="13614"/>
                  </a:lnTo>
                  <a:lnTo>
                    <a:pt x="0" y="16256"/>
                  </a:lnTo>
                  <a:lnTo>
                    <a:pt x="0" y="24320"/>
                  </a:lnTo>
                  <a:lnTo>
                    <a:pt x="7569" y="24320"/>
                  </a:lnTo>
                  <a:lnTo>
                    <a:pt x="40627" y="19558"/>
                  </a:lnTo>
                  <a:lnTo>
                    <a:pt x="63830" y="17145"/>
                  </a:lnTo>
                  <a:lnTo>
                    <a:pt x="83235" y="16256"/>
                  </a:lnTo>
                  <a:lnTo>
                    <a:pt x="124587" y="16256"/>
                  </a:lnTo>
                  <a:lnTo>
                    <a:pt x="124587" y="8128"/>
                  </a:lnTo>
                  <a:lnTo>
                    <a:pt x="132715" y="8128"/>
                  </a:lnTo>
                  <a:lnTo>
                    <a:pt x="132715" y="0"/>
                  </a:lnTo>
                  <a:close/>
                </a:path>
                <a:path w="510539" h="416560">
                  <a:moveTo>
                    <a:pt x="148717" y="84899"/>
                  </a:moveTo>
                  <a:lnTo>
                    <a:pt x="144780" y="84709"/>
                  </a:lnTo>
                  <a:lnTo>
                    <a:pt x="140716" y="84709"/>
                  </a:lnTo>
                  <a:lnTo>
                    <a:pt x="132715" y="84709"/>
                  </a:lnTo>
                  <a:lnTo>
                    <a:pt x="102362" y="87706"/>
                  </a:lnTo>
                  <a:lnTo>
                    <a:pt x="36195" y="92837"/>
                  </a:lnTo>
                  <a:lnTo>
                    <a:pt x="32131" y="92837"/>
                  </a:lnTo>
                  <a:lnTo>
                    <a:pt x="28194" y="96901"/>
                  </a:lnTo>
                  <a:lnTo>
                    <a:pt x="28194" y="104902"/>
                  </a:lnTo>
                  <a:lnTo>
                    <a:pt x="32131" y="108966"/>
                  </a:lnTo>
                  <a:lnTo>
                    <a:pt x="36195" y="104902"/>
                  </a:lnTo>
                  <a:lnTo>
                    <a:pt x="72390" y="104902"/>
                  </a:lnTo>
                  <a:lnTo>
                    <a:pt x="88011" y="102628"/>
                  </a:lnTo>
                  <a:lnTo>
                    <a:pt x="104025" y="101460"/>
                  </a:lnTo>
                  <a:lnTo>
                    <a:pt x="117729" y="101079"/>
                  </a:lnTo>
                  <a:lnTo>
                    <a:pt x="140716" y="101079"/>
                  </a:lnTo>
                  <a:lnTo>
                    <a:pt x="144780" y="101079"/>
                  </a:lnTo>
                  <a:lnTo>
                    <a:pt x="144780" y="88773"/>
                  </a:lnTo>
                  <a:lnTo>
                    <a:pt x="148717" y="88773"/>
                  </a:lnTo>
                  <a:lnTo>
                    <a:pt x="148717" y="84899"/>
                  </a:lnTo>
                  <a:close/>
                </a:path>
                <a:path w="510539" h="416560">
                  <a:moveTo>
                    <a:pt x="152781" y="84709"/>
                  </a:moveTo>
                  <a:lnTo>
                    <a:pt x="148717" y="84709"/>
                  </a:lnTo>
                  <a:lnTo>
                    <a:pt x="148717" y="84899"/>
                  </a:lnTo>
                  <a:lnTo>
                    <a:pt x="152781" y="85102"/>
                  </a:lnTo>
                  <a:lnTo>
                    <a:pt x="152781" y="84709"/>
                  </a:lnTo>
                  <a:close/>
                </a:path>
                <a:path w="510539" h="416560">
                  <a:moveTo>
                    <a:pt x="510540" y="84709"/>
                  </a:moveTo>
                  <a:lnTo>
                    <a:pt x="506476" y="80772"/>
                  </a:lnTo>
                  <a:lnTo>
                    <a:pt x="502539" y="76708"/>
                  </a:lnTo>
                  <a:lnTo>
                    <a:pt x="490474" y="68580"/>
                  </a:lnTo>
                  <a:lnTo>
                    <a:pt x="489153" y="71208"/>
                  </a:lnTo>
                  <a:lnTo>
                    <a:pt x="490474" y="72644"/>
                  </a:lnTo>
                  <a:lnTo>
                    <a:pt x="488327" y="74790"/>
                  </a:lnTo>
                  <a:lnTo>
                    <a:pt x="487629" y="74269"/>
                  </a:lnTo>
                  <a:lnTo>
                    <a:pt x="489153" y="71208"/>
                  </a:lnTo>
                  <a:lnTo>
                    <a:pt x="486308" y="68097"/>
                  </a:lnTo>
                  <a:lnTo>
                    <a:pt x="446316" y="49949"/>
                  </a:lnTo>
                  <a:lnTo>
                    <a:pt x="406019" y="36322"/>
                  </a:lnTo>
                  <a:lnTo>
                    <a:pt x="368846" y="27749"/>
                  </a:lnTo>
                  <a:lnTo>
                    <a:pt x="302361" y="16256"/>
                  </a:lnTo>
                  <a:lnTo>
                    <a:pt x="286613" y="13614"/>
                  </a:lnTo>
                  <a:lnTo>
                    <a:pt x="249186" y="8128"/>
                  </a:lnTo>
                  <a:lnTo>
                    <a:pt x="249339" y="8128"/>
                  </a:lnTo>
                  <a:lnTo>
                    <a:pt x="198081" y="2527"/>
                  </a:lnTo>
                  <a:lnTo>
                    <a:pt x="144780" y="0"/>
                  </a:lnTo>
                  <a:lnTo>
                    <a:pt x="140716" y="0"/>
                  </a:lnTo>
                  <a:lnTo>
                    <a:pt x="140716" y="8128"/>
                  </a:lnTo>
                  <a:lnTo>
                    <a:pt x="132715" y="8128"/>
                  </a:lnTo>
                  <a:lnTo>
                    <a:pt x="132715" y="16256"/>
                  </a:lnTo>
                  <a:lnTo>
                    <a:pt x="149377" y="16256"/>
                  </a:lnTo>
                  <a:lnTo>
                    <a:pt x="170065" y="16827"/>
                  </a:lnTo>
                  <a:lnTo>
                    <a:pt x="196481" y="18669"/>
                  </a:lnTo>
                  <a:lnTo>
                    <a:pt x="222161" y="21272"/>
                  </a:lnTo>
                  <a:lnTo>
                    <a:pt x="245706" y="24320"/>
                  </a:lnTo>
                  <a:lnTo>
                    <a:pt x="256552" y="24320"/>
                  </a:lnTo>
                  <a:lnTo>
                    <a:pt x="266776" y="24752"/>
                  </a:lnTo>
                  <a:lnTo>
                    <a:pt x="276250" y="25920"/>
                  </a:lnTo>
                  <a:lnTo>
                    <a:pt x="285369" y="28194"/>
                  </a:lnTo>
                  <a:lnTo>
                    <a:pt x="297434" y="28194"/>
                  </a:lnTo>
                  <a:lnTo>
                    <a:pt x="330161" y="34798"/>
                  </a:lnTo>
                  <a:lnTo>
                    <a:pt x="347789" y="39052"/>
                  </a:lnTo>
                  <a:lnTo>
                    <a:pt x="365760" y="44450"/>
                  </a:lnTo>
                  <a:lnTo>
                    <a:pt x="373888" y="44450"/>
                  </a:lnTo>
                  <a:lnTo>
                    <a:pt x="385953" y="48387"/>
                  </a:lnTo>
                  <a:lnTo>
                    <a:pt x="389890" y="48387"/>
                  </a:lnTo>
                  <a:lnTo>
                    <a:pt x="398018" y="52451"/>
                  </a:lnTo>
                  <a:lnTo>
                    <a:pt x="401955" y="52451"/>
                  </a:lnTo>
                  <a:lnTo>
                    <a:pt x="423926" y="58470"/>
                  </a:lnTo>
                  <a:lnTo>
                    <a:pt x="441718" y="64071"/>
                  </a:lnTo>
                  <a:lnTo>
                    <a:pt x="466344" y="72644"/>
                  </a:lnTo>
                  <a:lnTo>
                    <a:pt x="474345" y="76708"/>
                  </a:lnTo>
                  <a:lnTo>
                    <a:pt x="478409" y="80772"/>
                  </a:lnTo>
                  <a:lnTo>
                    <a:pt x="480060" y="80772"/>
                  </a:lnTo>
                  <a:lnTo>
                    <a:pt x="480060" y="149479"/>
                  </a:lnTo>
                  <a:lnTo>
                    <a:pt x="472338" y="145288"/>
                  </a:lnTo>
                  <a:lnTo>
                    <a:pt x="446316" y="134683"/>
                  </a:lnTo>
                  <a:lnTo>
                    <a:pt x="406019" y="121031"/>
                  </a:lnTo>
                  <a:lnTo>
                    <a:pt x="368846" y="112483"/>
                  </a:lnTo>
                  <a:lnTo>
                    <a:pt x="302221" y="101079"/>
                  </a:lnTo>
                  <a:lnTo>
                    <a:pt x="286613" y="98425"/>
                  </a:lnTo>
                  <a:lnTo>
                    <a:pt x="248754" y="92837"/>
                  </a:lnTo>
                  <a:lnTo>
                    <a:pt x="198081" y="87249"/>
                  </a:lnTo>
                  <a:lnTo>
                    <a:pt x="152781" y="85102"/>
                  </a:lnTo>
                  <a:lnTo>
                    <a:pt x="152781" y="88773"/>
                  </a:lnTo>
                  <a:lnTo>
                    <a:pt x="156718" y="88773"/>
                  </a:lnTo>
                  <a:lnTo>
                    <a:pt x="156718" y="96901"/>
                  </a:lnTo>
                  <a:lnTo>
                    <a:pt x="152666" y="101079"/>
                  </a:lnTo>
                  <a:lnTo>
                    <a:pt x="148717" y="101079"/>
                  </a:lnTo>
                  <a:lnTo>
                    <a:pt x="170065" y="101650"/>
                  </a:lnTo>
                  <a:lnTo>
                    <a:pt x="196481" y="103441"/>
                  </a:lnTo>
                  <a:lnTo>
                    <a:pt x="222161" y="106006"/>
                  </a:lnTo>
                  <a:lnTo>
                    <a:pt x="245237" y="108966"/>
                  </a:lnTo>
                  <a:lnTo>
                    <a:pt x="256552" y="109601"/>
                  </a:lnTo>
                  <a:lnTo>
                    <a:pt x="266776" y="110998"/>
                  </a:lnTo>
                  <a:lnTo>
                    <a:pt x="276796" y="112483"/>
                  </a:lnTo>
                  <a:lnTo>
                    <a:pt x="277393" y="112483"/>
                  </a:lnTo>
                  <a:lnTo>
                    <a:pt x="285369" y="113030"/>
                  </a:lnTo>
                  <a:lnTo>
                    <a:pt x="297434" y="113030"/>
                  </a:lnTo>
                  <a:lnTo>
                    <a:pt x="330161" y="119570"/>
                  </a:lnTo>
                  <a:lnTo>
                    <a:pt x="347789" y="123786"/>
                  </a:lnTo>
                  <a:lnTo>
                    <a:pt x="365760" y="129159"/>
                  </a:lnTo>
                  <a:lnTo>
                    <a:pt x="373888" y="129159"/>
                  </a:lnTo>
                  <a:lnTo>
                    <a:pt x="385953" y="133223"/>
                  </a:lnTo>
                  <a:lnTo>
                    <a:pt x="389890" y="133223"/>
                  </a:lnTo>
                  <a:lnTo>
                    <a:pt x="398018" y="137287"/>
                  </a:lnTo>
                  <a:lnTo>
                    <a:pt x="401955" y="137287"/>
                  </a:lnTo>
                  <a:lnTo>
                    <a:pt x="423926" y="143256"/>
                  </a:lnTo>
                  <a:lnTo>
                    <a:pt x="441718" y="148856"/>
                  </a:lnTo>
                  <a:lnTo>
                    <a:pt x="466344" y="157353"/>
                  </a:lnTo>
                  <a:lnTo>
                    <a:pt x="474345" y="161417"/>
                  </a:lnTo>
                  <a:lnTo>
                    <a:pt x="478409" y="165481"/>
                  </a:lnTo>
                  <a:lnTo>
                    <a:pt x="480060" y="165481"/>
                  </a:lnTo>
                  <a:lnTo>
                    <a:pt x="480060" y="250393"/>
                  </a:lnTo>
                  <a:lnTo>
                    <a:pt x="472338" y="246214"/>
                  </a:lnTo>
                  <a:lnTo>
                    <a:pt x="446316" y="235623"/>
                  </a:lnTo>
                  <a:lnTo>
                    <a:pt x="406019" y="221996"/>
                  </a:lnTo>
                  <a:lnTo>
                    <a:pt x="368846" y="213423"/>
                  </a:lnTo>
                  <a:lnTo>
                    <a:pt x="301498" y="201803"/>
                  </a:lnTo>
                  <a:lnTo>
                    <a:pt x="286613" y="199288"/>
                  </a:lnTo>
                  <a:lnTo>
                    <a:pt x="248754" y="193738"/>
                  </a:lnTo>
                  <a:lnTo>
                    <a:pt x="198081" y="188201"/>
                  </a:lnTo>
                  <a:lnTo>
                    <a:pt x="144780" y="185674"/>
                  </a:lnTo>
                  <a:lnTo>
                    <a:pt x="140716" y="185674"/>
                  </a:lnTo>
                  <a:lnTo>
                    <a:pt x="132715" y="185674"/>
                  </a:lnTo>
                  <a:lnTo>
                    <a:pt x="84455" y="189738"/>
                  </a:lnTo>
                  <a:lnTo>
                    <a:pt x="80391" y="189738"/>
                  </a:lnTo>
                  <a:lnTo>
                    <a:pt x="80391" y="201803"/>
                  </a:lnTo>
                  <a:lnTo>
                    <a:pt x="132715" y="201803"/>
                  </a:lnTo>
                  <a:lnTo>
                    <a:pt x="144780" y="201803"/>
                  </a:lnTo>
                  <a:lnTo>
                    <a:pt x="170065" y="202501"/>
                  </a:lnTo>
                  <a:lnTo>
                    <a:pt x="196481" y="204343"/>
                  </a:lnTo>
                  <a:lnTo>
                    <a:pt x="222161" y="206946"/>
                  </a:lnTo>
                  <a:lnTo>
                    <a:pt x="245237" y="209931"/>
                  </a:lnTo>
                  <a:lnTo>
                    <a:pt x="256552" y="210553"/>
                  </a:lnTo>
                  <a:lnTo>
                    <a:pt x="266776" y="211899"/>
                  </a:lnTo>
                  <a:lnTo>
                    <a:pt x="276250" y="213258"/>
                  </a:lnTo>
                  <a:lnTo>
                    <a:pt x="285369" y="213868"/>
                  </a:lnTo>
                  <a:lnTo>
                    <a:pt x="297434" y="213868"/>
                  </a:lnTo>
                  <a:lnTo>
                    <a:pt x="330161" y="220459"/>
                  </a:lnTo>
                  <a:lnTo>
                    <a:pt x="347789" y="224675"/>
                  </a:lnTo>
                  <a:lnTo>
                    <a:pt x="365760" y="229997"/>
                  </a:lnTo>
                  <a:lnTo>
                    <a:pt x="373888" y="229997"/>
                  </a:lnTo>
                  <a:lnTo>
                    <a:pt x="385953" y="234061"/>
                  </a:lnTo>
                  <a:lnTo>
                    <a:pt x="389890" y="234061"/>
                  </a:lnTo>
                  <a:lnTo>
                    <a:pt x="398018" y="238125"/>
                  </a:lnTo>
                  <a:lnTo>
                    <a:pt x="401955" y="238125"/>
                  </a:lnTo>
                  <a:lnTo>
                    <a:pt x="423926" y="244144"/>
                  </a:lnTo>
                  <a:lnTo>
                    <a:pt x="441718" y="249745"/>
                  </a:lnTo>
                  <a:lnTo>
                    <a:pt x="466344" y="258318"/>
                  </a:lnTo>
                  <a:lnTo>
                    <a:pt x="474345" y="262382"/>
                  </a:lnTo>
                  <a:lnTo>
                    <a:pt x="478409" y="266319"/>
                  </a:lnTo>
                  <a:lnTo>
                    <a:pt x="480060" y="266319"/>
                  </a:lnTo>
                  <a:lnTo>
                    <a:pt x="480060" y="335153"/>
                  </a:lnTo>
                  <a:lnTo>
                    <a:pt x="472338" y="330962"/>
                  </a:lnTo>
                  <a:lnTo>
                    <a:pt x="446316" y="320357"/>
                  </a:lnTo>
                  <a:lnTo>
                    <a:pt x="406196" y="306768"/>
                  </a:lnTo>
                  <a:lnTo>
                    <a:pt x="368846" y="298132"/>
                  </a:lnTo>
                  <a:lnTo>
                    <a:pt x="301498" y="286512"/>
                  </a:lnTo>
                  <a:lnTo>
                    <a:pt x="262305" y="284556"/>
                  </a:lnTo>
                  <a:lnTo>
                    <a:pt x="223481" y="283197"/>
                  </a:lnTo>
                  <a:lnTo>
                    <a:pt x="180848" y="282575"/>
                  </a:lnTo>
                  <a:lnTo>
                    <a:pt x="128651" y="282575"/>
                  </a:lnTo>
                  <a:lnTo>
                    <a:pt x="124587" y="286512"/>
                  </a:lnTo>
                  <a:lnTo>
                    <a:pt x="124650" y="294703"/>
                  </a:lnTo>
                  <a:lnTo>
                    <a:pt x="128651" y="298704"/>
                  </a:lnTo>
                  <a:lnTo>
                    <a:pt x="132715" y="298704"/>
                  </a:lnTo>
                  <a:lnTo>
                    <a:pt x="142494" y="296354"/>
                  </a:lnTo>
                  <a:lnTo>
                    <a:pt x="153771" y="295148"/>
                  </a:lnTo>
                  <a:lnTo>
                    <a:pt x="166547" y="294703"/>
                  </a:lnTo>
                  <a:lnTo>
                    <a:pt x="201917" y="294703"/>
                  </a:lnTo>
                  <a:lnTo>
                    <a:pt x="222605" y="295148"/>
                  </a:lnTo>
                  <a:lnTo>
                    <a:pt x="242506" y="296354"/>
                  </a:lnTo>
                  <a:lnTo>
                    <a:pt x="261239" y="298704"/>
                  </a:lnTo>
                  <a:lnTo>
                    <a:pt x="297434" y="298704"/>
                  </a:lnTo>
                  <a:lnTo>
                    <a:pt x="313245" y="302374"/>
                  </a:lnTo>
                  <a:lnTo>
                    <a:pt x="330161" y="306768"/>
                  </a:lnTo>
                  <a:lnTo>
                    <a:pt x="347789" y="311175"/>
                  </a:lnTo>
                  <a:lnTo>
                    <a:pt x="365760" y="314833"/>
                  </a:lnTo>
                  <a:lnTo>
                    <a:pt x="373888" y="314833"/>
                  </a:lnTo>
                  <a:lnTo>
                    <a:pt x="385953" y="318897"/>
                  </a:lnTo>
                  <a:lnTo>
                    <a:pt x="389890" y="318897"/>
                  </a:lnTo>
                  <a:lnTo>
                    <a:pt x="398018" y="322834"/>
                  </a:lnTo>
                  <a:lnTo>
                    <a:pt x="401955" y="322834"/>
                  </a:lnTo>
                  <a:lnTo>
                    <a:pt x="423926" y="328930"/>
                  </a:lnTo>
                  <a:lnTo>
                    <a:pt x="441718" y="335013"/>
                  </a:lnTo>
                  <a:lnTo>
                    <a:pt x="455726" y="341071"/>
                  </a:lnTo>
                  <a:lnTo>
                    <a:pt x="466344" y="347091"/>
                  </a:lnTo>
                  <a:lnTo>
                    <a:pt x="474345" y="347091"/>
                  </a:lnTo>
                  <a:lnTo>
                    <a:pt x="478409" y="351155"/>
                  </a:lnTo>
                  <a:lnTo>
                    <a:pt x="480060" y="351155"/>
                  </a:lnTo>
                  <a:lnTo>
                    <a:pt x="480060" y="416052"/>
                  </a:lnTo>
                  <a:lnTo>
                    <a:pt x="507492" y="416052"/>
                  </a:lnTo>
                  <a:lnTo>
                    <a:pt x="507492" y="362204"/>
                  </a:lnTo>
                  <a:lnTo>
                    <a:pt x="510540" y="359156"/>
                  </a:lnTo>
                  <a:lnTo>
                    <a:pt x="510540" y="355219"/>
                  </a:lnTo>
                  <a:lnTo>
                    <a:pt x="507492" y="355219"/>
                  </a:lnTo>
                  <a:lnTo>
                    <a:pt x="507492" y="277495"/>
                  </a:lnTo>
                  <a:lnTo>
                    <a:pt x="510540" y="274447"/>
                  </a:lnTo>
                  <a:lnTo>
                    <a:pt x="510540" y="270383"/>
                  </a:lnTo>
                  <a:lnTo>
                    <a:pt x="507492" y="267335"/>
                  </a:lnTo>
                  <a:lnTo>
                    <a:pt x="507492" y="176568"/>
                  </a:lnTo>
                  <a:lnTo>
                    <a:pt x="510540" y="173609"/>
                  </a:lnTo>
                  <a:lnTo>
                    <a:pt x="510540" y="169545"/>
                  </a:lnTo>
                  <a:lnTo>
                    <a:pt x="507492" y="166497"/>
                  </a:lnTo>
                  <a:lnTo>
                    <a:pt x="507492" y="91821"/>
                  </a:lnTo>
                  <a:lnTo>
                    <a:pt x="510540" y="88773"/>
                  </a:lnTo>
                  <a:lnTo>
                    <a:pt x="510540" y="847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587239" y="2068067"/>
              <a:ext cx="273050" cy="1169035"/>
            </a:xfrm>
            <a:custGeom>
              <a:avLst/>
              <a:gdLst/>
              <a:ahLst/>
              <a:cxnLst/>
              <a:rect l="l" t="t" r="r" b="b"/>
              <a:pathLst>
                <a:path w="273050" h="1169035">
                  <a:moveTo>
                    <a:pt x="20065" y="537972"/>
                  </a:moveTo>
                  <a:lnTo>
                    <a:pt x="12064" y="537972"/>
                  </a:lnTo>
                  <a:lnTo>
                    <a:pt x="12064" y="558165"/>
                  </a:lnTo>
                  <a:lnTo>
                    <a:pt x="24130" y="558165"/>
                  </a:lnTo>
                  <a:lnTo>
                    <a:pt x="24130" y="610743"/>
                  </a:lnTo>
                  <a:lnTo>
                    <a:pt x="4063" y="610743"/>
                  </a:lnTo>
                  <a:lnTo>
                    <a:pt x="0" y="614807"/>
                  </a:lnTo>
                  <a:lnTo>
                    <a:pt x="0" y="639064"/>
                  </a:lnTo>
                  <a:lnTo>
                    <a:pt x="8000" y="639064"/>
                  </a:lnTo>
                  <a:lnTo>
                    <a:pt x="8000" y="643128"/>
                  </a:lnTo>
                  <a:lnTo>
                    <a:pt x="20065" y="643128"/>
                  </a:lnTo>
                  <a:lnTo>
                    <a:pt x="20065" y="1168908"/>
                  </a:lnTo>
                  <a:lnTo>
                    <a:pt x="256794" y="1168908"/>
                  </a:lnTo>
                  <a:lnTo>
                    <a:pt x="256794" y="881761"/>
                  </a:lnTo>
                  <a:lnTo>
                    <a:pt x="28067" y="881761"/>
                  </a:lnTo>
                  <a:lnTo>
                    <a:pt x="28067" y="845312"/>
                  </a:lnTo>
                  <a:lnTo>
                    <a:pt x="256794" y="845312"/>
                  </a:lnTo>
                  <a:lnTo>
                    <a:pt x="256794" y="841248"/>
                  </a:lnTo>
                  <a:lnTo>
                    <a:pt x="28067" y="841248"/>
                  </a:lnTo>
                  <a:lnTo>
                    <a:pt x="28067" y="780669"/>
                  </a:lnTo>
                  <a:lnTo>
                    <a:pt x="31887" y="655193"/>
                  </a:lnTo>
                  <a:lnTo>
                    <a:pt x="32011" y="651129"/>
                  </a:lnTo>
                  <a:lnTo>
                    <a:pt x="32131" y="647192"/>
                  </a:lnTo>
                  <a:lnTo>
                    <a:pt x="228726" y="647192"/>
                  </a:lnTo>
                  <a:lnTo>
                    <a:pt x="228726" y="626872"/>
                  </a:lnTo>
                  <a:lnTo>
                    <a:pt x="32131" y="626872"/>
                  </a:lnTo>
                  <a:lnTo>
                    <a:pt x="32131" y="578358"/>
                  </a:lnTo>
                  <a:lnTo>
                    <a:pt x="260731" y="578358"/>
                  </a:lnTo>
                  <a:lnTo>
                    <a:pt x="260731" y="574294"/>
                  </a:lnTo>
                  <a:lnTo>
                    <a:pt x="32131" y="574294"/>
                  </a:lnTo>
                  <a:lnTo>
                    <a:pt x="32131" y="554101"/>
                  </a:lnTo>
                  <a:lnTo>
                    <a:pt x="20065" y="554101"/>
                  </a:lnTo>
                  <a:lnTo>
                    <a:pt x="20065" y="537972"/>
                  </a:lnTo>
                  <a:close/>
                </a:path>
                <a:path w="273050" h="1169035">
                  <a:moveTo>
                    <a:pt x="256794" y="845312"/>
                  </a:moveTo>
                  <a:lnTo>
                    <a:pt x="44069" y="845312"/>
                  </a:lnTo>
                  <a:lnTo>
                    <a:pt x="44069" y="865505"/>
                  </a:lnTo>
                  <a:lnTo>
                    <a:pt x="32131" y="865505"/>
                  </a:lnTo>
                  <a:lnTo>
                    <a:pt x="32131" y="877697"/>
                  </a:lnTo>
                  <a:lnTo>
                    <a:pt x="44069" y="877697"/>
                  </a:lnTo>
                  <a:lnTo>
                    <a:pt x="44069" y="881761"/>
                  </a:lnTo>
                  <a:lnTo>
                    <a:pt x="256794" y="881761"/>
                  </a:lnTo>
                  <a:lnTo>
                    <a:pt x="256794" y="845312"/>
                  </a:lnTo>
                  <a:close/>
                </a:path>
                <a:path w="273050" h="1169035">
                  <a:moveTo>
                    <a:pt x="256794" y="655193"/>
                  </a:moveTo>
                  <a:lnTo>
                    <a:pt x="232663" y="655193"/>
                  </a:lnTo>
                  <a:lnTo>
                    <a:pt x="232663" y="667385"/>
                  </a:lnTo>
                  <a:lnTo>
                    <a:pt x="36068" y="667385"/>
                  </a:lnTo>
                  <a:lnTo>
                    <a:pt x="36068" y="679450"/>
                  </a:lnTo>
                  <a:lnTo>
                    <a:pt x="44069" y="679450"/>
                  </a:lnTo>
                  <a:lnTo>
                    <a:pt x="44069" y="719963"/>
                  </a:lnTo>
                  <a:lnTo>
                    <a:pt x="32131" y="719963"/>
                  </a:lnTo>
                  <a:lnTo>
                    <a:pt x="32131" y="768477"/>
                  </a:lnTo>
                  <a:lnTo>
                    <a:pt x="44069" y="768477"/>
                  </a:lnTo>
                  <a:lnTo>
                    <a:pt x="44069" y="841248"/>
                  </a:lnTo>
                  <a:lnTo>
                    <a:pt x="256794" y="841248"/>
                  </a:lnTo>
                  <a:lnTo>
                    <a:pt x="256794" y="812927"/>
                  </a:lnTo>
                  <a:lnTo>
                    <a:pt x="228726" y="812927"/>
                  </a:lnTo>
                  <a:lnTo>
                    <a:pt x="228726" y="671449"/>
                  </a:lnTo>
                  <a:lnTo>
                    <a:pt x="256794" y="671449"/>
                  </a:lnTo>
                  <a:lnTo>
                    <a:pt x="256794" y="655193"/>
                  </a:lnTo>
                  <a:close/>
                </a:path>
                <a:path w="273050" h="1169035">
                  <a:moveTo>
                    <a:pt x="256794" y="671449"/>
                  </a:moveTo>
                  <a:lnTo>
                    <a:pt x="232663" y="671449"/>
                  </a:lnTo>
                  <a:lnTo>
                    <a:pt x="232663" y="812927"/>
                  </a:lnTo>
                  <a:lnTo>
                    <a:pt x="256794" y="812927"/>
                  </a:lnTo>
                  <a:lnTo>
                    <a:pt x="256794" y="671449"/>
                  </a:lnTo>
                  <a:close/>
                </a:path>
                <a:path w="273050" h="1169035">
                  <a:moveTo>
                    <a:pt x="264795" y="647192"/>
                  </a:moveTo>
                  <a:lnTo>
                    <a:pt x="44069" y="647192"/>
                  </a:lnTo>
                  <a:lnTo>
                    <a:pt x="44069" y="667385"/>
                  </a:lnTo>
                  <a:lnTo>
                    <a:pt x="228726" y="667385"/>
                  </a:lnTo>
                  <a:lnTo>
                    <a:pt x="228726" y="655193"/>
                  </a:lnTo>
                  <a:lnTo>
                    <a:pt x="256794" y="655193"/>
                  </a:lnTo>
                  <a:lnTo>
                    <a:pt x="256794" y="651129"/>
                  </a:lnTo>
                  <a:lnTo>
                    <a:pt x="264795" y="651129"/>
                  </a:lnTo>
                  <a:lnTo>
                    <a:pt x="264795" y="647192"/>
                  </a:lnTo>
                  <a:close/>
                </a:path>
                <a:path w="273050" h="1169035">
                  <a:moveTo>
                    <a:pt x="260731" y="578358"/>
                  </a:moveTo>
                  <a:lnTo>
                    <a:pt x="40132" y="578358"/>
                  </a:lnTo>
                  <a:lnTo>
                    <a:pt x="40132" y="594614"/>
                  </a:lnTo>
                  <a:lnTo>
                    <a:pt x="48133" y="594614"/>
                  </a:lnTo>
                  <a:lnTo>
                    <a:pt x="48133" y="610743"/>
                  </a:lnTo>
                  <a:lnTo>
                    <a:pt x="40132" y="610743"/>
                  </a:lnTo>
                  <a:lnTo>
                    <a:pt x="40132" y="622935"/>
                  </a:lnTo>
                  <a:lnTo>
                    <a:pt x="44069" y="622935"/>
                  </a:lnTo>
                  <a:lnTo>
                    <a:pt x="44069" y="626872"/>
                  </a:lnTo>
                  <a:lnTo>
                    <a:pt x="228726" y="626872"/>
                  </a:lnTo>
                  <a:lnTo>
                    <a:pt x="232663" y="630936"/>
                  </a:lnTo>
                  <a:lnTo>
                    <a:pt x="232663" y="647192"/>
                  </a:lnTo>
                  <a:lnTo>
                    <a:pt x="256794" y="647192"/>
                  </a:lnTo>
                  <a:lnTo>
                    <a:pt x="256794" y="643128"/>
                  </a:lnTo>
                  <a:lnTo>
                    <a:pt x="260731" y="643128"/>
                  </a:lnTo>
                  <a:lnTo>
                    <a:pt x="264731" y="603248"/>
                  </a:lnTo>
                  <a:lnTo>
                    <a:pt x="264795" y="602615"/>
                  </a:lnTo>
                  <a:lnTo>
                    <a:pt x="260731" y="602615"/>
                  </a:lnTo>
                  <a:lnTo>
                    <a:pt x="260731" y="578358"/>
                  </a:lnTo>
                  <a:close/>
                </a:path>
                <a:path w="273050" h="1169035">
                  <a:moveTo>
                    <a:pt x="53387" y="16192"/>
                  </a:moveTo>
                  <a:lnTo>
                    <a:pt x="52102" y="16192"/>
                  </a:lnTo>
                  <a:lnTo>
                    <a:pt x="40132" y="24257"/>
                  </a:lnTo>
                  <a:lnTo>
                    <a:pt x="40132" y="117348"/>
                  </a:lnTo>
                  <a:lnTo>
                    <a:pt x="56134" y="117348"/>
                  </a:lnTo>
                  <a:lnTo>
                    <a:pt x="56134" y="157734"/>
                  </a:lnTo>
                  <a:lnTo>
                    <a:pt x="48133" y="161798"/>
                  </a:lnTo>
                  <a:lnTo>
                    <a:pt x="48133" y="169926"/>
                  </a:lnTo>
                  <a:lnTo>
                    <a:pt x="56134" y="173862"/>
                  </a:lnTo>
                  <a:lnTo>
                    <a:pt x="56134" y="226441"/>
                  </a:lnTo>
                  <a:lnTo>
                    <a:pt x="48133" y="226441"/>
                  </a:lnTo>
                  <a:lnTo>
                    <a:pt x="48133" y="234569"/>
                  </a:lnTo>
                  <a:lnTo>
                    <a:pt x="52197" y="238633"/>
                  </a:lnTo>
                  <a:lnTo>
                    <a:pt x="52197" y="323596"/>
                  </a:lnTo>
                  <a:lnTo>
                    <a:pt x="48133" y="327660"/>
                  </a:lnTo>
                  <a:lnTo>
                    <a:pt x="48133" y="335661"/>
                  </a:lnTo>
                  <a:lnTo>
                    <a:pt x="24130" y="335661"/>
                  </a:lnTo>
                  <a:lnTo>
                    <a:pt x="24130" y="343789"/>
                  </a:lnTo>
                  <a:lnTo>
                    <a:pt x="20065" y="343789"/>
                  </a:lnTo>
                  <a:lnTo>
                    <a:pt x="20065" y="351917"/>
                  </a:lnTo>
                  <a:lnTo>
                    <a:pt x="12064" y="351917"/>
                  </a:lnTo>
                  <a:lnTo>
                    <a:pt x="12064" y="368046"/>
                  </a:lnTo>
                  <a:lnTo>
                    <a:pt x="16001" y="368046"/>
                  </a:lnTo>
                  <a:lnTo>
                    <a:pt x="16001" y="376174"/>
                  </a:lnTo>
                  <a:lnTo>
                    <a:pt x="24130" y="376174"/>
                  </a:lnTo>
                  <a:lnTo>
                    <a:pt x="24130" y="380238"/>
                  </a:lnTo>
                  <a:lnTo>
                    <a:pt x="40132" y="380238"/>
                  </a:lnTo>
                  <a:lnTo>
                    <a:pt x="40132" y="384302"/>
                  </a:lnTo>
                  <a:lnTo>
                    <a:pt x="52197" y="384302"/>
                  </a:lnTo>
                  <a:lnTo>
                    <a:pt x="52197" y="404495"/>
                  </a:lnTo>
                  <a:lnTo>
                    <a:pt x="44069" y="408559"/>
                  </a:lnTo>
                  <a:lnTo>
                    <a:pt x="44069" y="412496"/>
                  </a:lnTo>
                  <a:lnTo>
                    <a:pt x="52197" y="416560"/>
                  </a:lnTo>
                  <a:lnTo>
                    <a:pt x="48196" y="480317"/>
                  </a:lnTo>
                  <a:lnTo>
                    <a:pt x="48125" y="481457"/>
                  </a:lnTo>
                  <a:lnTo>
                    <a:pt x="41737" y="481457"/>
                  </a:lnTo>
                  <a:lnTo>
                    <a:pt x="27066" y="482346"/>
                  </a:lnTo>
                  <a:lnTo>
                    <a:pt x="10896" y="484759"/>
                  </a:lnTo>
                  <a:lnTo>
                    <a:pt x="0" y="489458"/>
                  </a:lnTo>
                  <a:lnTo>
                    <a:pt x="0" y="513715"/>
                  </a:lnTo>
                  <a:lnTo>
                    <a:pt x="12064" y="513715"/>
                  </a:lnTo>
                  <a:lnTo>
                    <a:pt x="12064" y="521716"/>
                  </a:lnTo>
                  <a:lnTo>
                    <a:pt x="16001" y="521716"/>
                  </a:lnTo>
                  <a:lnTo>
                    <a:pt x="16001" y="525780"/>
                  </a:lnTo>
                  <a:lnTo>
                    <a:pt x="12064" y="533908"/>
                  </a:lnTo>
                  <a:lnTo>
                    <a:pt x="8000" y="537972"/>
                  </a:lnTo>
                  <a:lnTo>
                    <a:pt x="24130" y="537972"/>
                  </a:lnTo>
                  <a:lnTo>
                    <a:pt x="24130" y="550037"/>
                  </a:lnTo>
                  <a:lnTo>
                    <a:pt x="36068" y="550037"/>
                  </a:lnTo>
                  <a:lnTo>
                    <a:pt x="44069" y="558165"/>
                  </a:lnTo>
                  <a:lnTo>
                    <a:pt x="44069" y="562229"/>
                  </a:lnTo>
                  <a:lnTo>
                    <a:pt x="48133" y="562229"/>
                  </a:lnTo>
                  <a:lnTo>
                    <a:pt x="48133" y="570357"/>
                  </a:lnTo>
                  <a:lnTo>
                    <a:pt x="36068" y="570357"/>
                  </a:lnTo>
                  <a:lnTo>
                    <a:pt x="36068" y="574294"/>
                  </a:lnTo>
                  <a:lnTo>
                    <a:pt x="260731" y="574294"/>
                  </a:lnTo>
                  <a:lnTo>
                    <a:pt x="260731" y="533908"/>
                  </a:lnTo>
                  <a:lnTo>
                    <a:pt x="20065" y="533908"/>
                  </a:lnTo>
                  <a:lnTo>
                    <a:pt x="20065" y="529844"/>
                  </a:lnTo>
                  <a:lnTo>
                    <a:pt x="24130" y="525780"/>
                  </a:lnTo>
                  <a:lnTo>
                    <a:pt x="260731" y="525780"/>
                  </a:lnTo>
                  <a:lnTo>
                    <a:pt x="260731" y="477266"/>
                  </a:lnTo>
                  <a:lnTo>
                    <a:pt x="264795" y="477266"/>
                  </a:lnTo>
                  <a:lnTo>
                    <a:pt x="264795" y="469138"/>
                  </a:lnTo>
                  <a:lnTo>
                    <a:pt x="260731" y="469138"/>
                  </a:lnTo>
                  <a:lnTo>
                    <a:pt x="260731" y="295275"/>
                  </a:lnTo>
                  <a:lnTo>
                    <a:pt x="268732" y="295275"/>
                  </a:lnTo>
                  <a:lnTo>
                    <a:pt x="268732" y="291211"/>
                  </a:lnTo>
                  <a:lnTo>
                    <a:pt x="260731" y="291211"/>
                  </a:lnTo>
                  <a:lnTo>
                    <a:pt x="264731" y="127940"/>
                  </a:lnTo>
                  <a:lnTo>
                    <a:pt x="264795" y="125349"/>
                  </a:lnTo>
                  <a:lnTo>
                    <a:pt x="268732" y="121285"/>
                  </a:lnTo>
                  <a:lnTo>
                    <a:pt x="272796" y="117348"/>
                  </a:lnTo>
                  <a:lnTo>
                    <a:pt x="272796" y="113284"/>
                  </a:lnTo>
                  <a:lnTo>
                    <a:pt x="264795" y="113284"/>
                  </a:lnTo>
                  <a:lnTo>
                    <a:pt x="264795" y="109220"/>
                  </a:lnTo>
                  <a:lnTo>
                    <a:pt x="48133" y="109220"/>
                  </a:lnTo>
                  <a:lnTo>
                    <a:pt x="48133" y="72771"/>
                  </a:lnTo>
                  <a:lnTo>
                    <a:pt x="264795" y="72771"/>
                  </a:lnTo>
                  <a:lnTo>
                    <a:pt x="264795" y="60706"/>
                  </a:lnTo>
                  <a:lnTo>
                    <a:pt x="236727" y="60706"/>
                  </a:lnTo>
                  <a:lnTo>
                    <a:pt x="236727" y="52578"/>
                  </a:lnTo>
                  <a:lnTo>
                    <a:pt x="204597" y="52578"/>
                  </a:lnTo>
                  <a:lnTo>
                    <a:pt x="165092" y="48577"/>
                  </a:lnTo>
                  <a:lnTo>
                    <a:pt x="164559" y="48577"/>
                  </a:lnTo>
                  <a:lnTo>
                    <a:pt x="152400" y="40386"/>
                  </a:lnTo>
                  <a:lnTo>
                    <a:pt x="128397" y="40386"/>
                  </a:lnTo>
                  <a:lnTo>
                    <a:pt x="57263" y="36510"/>
                  </a:lnTo>
                  <a:lnTo>
                    <a:pt x="56134" y="36510"/>
                  </a:lnTo>
                  <a:lnTo>
                    <a:pt x="56134" y="16338"/>
                  </a:lnTo>
                  <a:lnTo>
                    <a:pt x="53387" y="16192"/>
                  </a:lnTo>
                  <a:close/>
                </a:path>
                <a:path w="273050" h="1169035">
                  <a:moveTo>
                    <a:pt x="260731" y="525780"/>
                  </a:moveTo>
                  <a:lnTo>
                    <a:pt x="24130" y="525780"/>
                  </a:lnTo>
                  <a:lnTo>
                    <a:pt x="24130" y="533908"/>
                  </a:lnTo>
                  <a:lnTo>
                    <a:pt x="260731" y="533908"/>
                  </a:lnTo>
                  <a:lnTo>
                    <a:pt x="260731" y="525780"/>
                  </a:lnTo>
                  <a:close/>
                </a:path>
                <a:path w="273050" h="1169035">
                  <a:moveTo>
                    <a:pt x="264795" y="72771"/>
                  </a:moveTo>
                  <a:lnTo>
                    <a:pt x="68199" y="72771"/>
                  </a:lnTo>
                  <a:lnTo>
                    <a:pt x="68199" y="76835"/>
                  </a:lnTo>
                  <a:lnTo>
                    <a:pt x="64135" y="80899"/>
                  </a:lnTo>
                  <a:lnTo>
                    <a:pt x="60198" y="84962"/>
                  </a:lnTo>
                  <a:lnTo>
                    <a:pt x="56134" y="92964"/>
                  </a:lnTo>
                  <a:lnTo>
                    <a:pt x="56134" y="109220"/>
                  </a:lnTo>
                  <a:lnTo>
                    <a:pt x="224662" y="109220"/>
                  </a:lnTo>
                  <a:lnTo>
                    <a:pt x="222162" y="97936"/>
                  </a:lnTo>
                  <a:lnTo>
                    <a:pt x="216662" y="88963"/>
                  </a:lnTo>
                  <a:lnTo>
                    <a:pt x="211161" y="83038"/>
                  </a:lnTo>
                  <a:lnTo>
                    <a:pt x="208661" y="80899"/>
                  </a:lnTo>
                  <a:lnTo>
                    <a:pt x="264795" y="80899"/>
                  </a:lnTo>
                  <a:lnTo>
                    <a:pt x="264795" y="72771"/>
                  </a:lnTo>
                  <a:close/>
                </a:path>
                <a:path w="273050" h="1169035">
                  <a:moveTo>
                    <a:pt x="264795" y="80899"/>
                  </a:moveTo>
                  <a:lnTo>
                    <a:pt x="228726" y="80899"/>
                  </a:lnTo>
                  <a:lnTo>
                    <a:pt x="228726" y="109220"/>
                  </a:lnTo>
                  <a:lnTo>
                    <a:pt x="264795" y="109220"/>
                  </a:lnTo>
                  <a:lnTo>
                    <a:pt x="264795" y="80899"/>
                  </a:lnTo>
                  <a:close/>
                </a:path>
                <a:path w="273050" h="1169035">
                  <a:moveTo>
                    <a:pt x="52197" y="72771"/>
                  </a:moveTo>
                  <a:lnTo>
                    <a:pt x="48133" y="72771"/>
                  </a:lnTo>
                  <a:lnTo>
                    <a:pt x="60198" y="84962"/>
                  </a:lnTo>
                  <a:lnTo>
                    <a:pt x="52197" y="72771"/>
                  </a:lnTo>
                  <a:close/>
                </a:path>
                <a:path w="273050" h="1169035">
                  <a:moveTo>
                    <a:pt x="257794" y="20193"/>
                  </a:moveTo>
                  <a:lnTo>
                    <a:pt x="168529" y="20193"/>
                  </a:lnTo>
                  <a:lnTo>
                    <a:pt x="228726" y="24257"/>
                  </a:lnTo>
                  <a:lnTo>
                    <a:pt x="240664" y="24257"/>
                  </a:lnTo>
                  <a:lnTo>
                    <a:pt x="240664" y="60706"/>
                  </a:lnTo>
                  <a:lnTo>
                    <a:pt x="264795" y="60706"/>
                  </a:lnTo>
                  <a:lnTo>
                    <a:pt x="264795" y="36510"/>
                  </a:lnTo>
                  <a:lnTo>
                    <a:pt x="263659" y="31896"/>
                  </a:lnTo>
                  <a:lnTo>
                    <a:pt x="258762" y="21272"/>
                  </a:lnTo>
                  <a:lnTo>
                    <a:pt x="257794" y="20193"/>
                  </a:lnTo>
                  <a:close/>
                </a:path>
                <a:path w="273050" h="1169035">
                  <a:moveTo>
                    <a:pt x="224662" y="36510"/>
                  </a:moveTo>
                  <a:lnTo>
                    <a:pt x="208629" y="36510"/>
                  </a:lnTo>
                  <a:lnTo>
                    <a:pt x="204597" y="44450"/>
                  </a:lnTo>
                  <a:lnTo>
                    <a:pt x="204597" y="52578"/>
                  </a:lnTo>
                  <a:lnTo>
                    <a:pt x="236727" y="52578"/>
                  </a:lnTo>
                  <a:lnTo>
                    <a:pt x="236727" y="40386"/>
                  </a:lnTo>
                  <a:lnTo>
                    <a:pt x="224662" y="40386"/>
                  </a:lnTo>
                  <a:lnTo>
                    <a:pt x="224662" y="36510"/>
                  </a:lnTo>
                  <a:close/>
                </a:path>
                <a:path w="273050" h="1169035">
                  <a:moveTo>
                    <a:pt x="228726" y="0"/>
                  </a:moveTo>
                  <a:lnTo>
                    <a:pt x="160527" y="0"/>
                  </a:lnTo>
                  <a:lnTo>
                    <a:pt x="156632" y="315"/>
                  </a:lnTo>
                  <a:lnTo>
                    <a:pt x="147462" y="2524"/>
                  </a:lnTo>
                  <a:lnTo>
                    <a:pt x="136792" y="8518"/>
                  </a:lnTo>
                  <a:lnTo>
                    <a:pt x="128397" y="20193"/>
                  </a:lnTo>
                  <a:lnTo>
                    <a:pt x="128397" y="40386"/>
                  </a:lnTo>
                  <a:lnTo>
                    <a:pt x="152400" y="40386"/>
                  </a:lnTo>
                  <a:lnTo>
                    <a:pt x="152400" y="28321"/>
                  </a:lnTo>
                  <a:lnTo>
                    <a:pt x="156463" y="20193"/>
                  </a:lnTo>
                  <a:lnTo>
                    <a:pt x="257794" y="20193"/>
                  </a:lnTo>
                  <a:lnTo>
                    <a:pt x="247864" y="9124"/>
                  </a:lnTo>
                  <a:lnTo>
                    <a:pt x="228726" y="0"/>
                  </a:lnTo>
                  <a:close/>
                </a:path>
                <a:path w="273050" h="1169035">
                  <a:moveTo>
                    <a:pt x="57263" y="16192"/>
                  </a:moveTo>
                  <a:lnTo>
                    <a:pt x="56134" y="16192"/>
                  </a:lnTo>
                  <a:lnTo>
                    <a:pt x="56134" y="16338"/>
                  </a:lnTo>
                  <a:lnTo>
                    <a:pt x="128397" y="20193"/>
                  </a:lnTo>
                  <a:lnTo>
                    <a:pt x="57263" y="16192"/>
                  </a:lnTo>
                  <a:close/>
                </a:path>
              </a:pathLst>
            </a:custGeom>
            <a:solidFill>
              <a:srgbClr val="006F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613148" y="2088895"/>
              <a:ext cx="230504" cy="1176020"/>
            </a:xfrm>
            <a:custGeom>
              <a:avLst/>
              <a:gdLst/>
              <a:ahLst/>
              <a:cxnLst/>
              <a:rect l="l" t="t" r="r" b="b"/>
              <a:pathLst>
                <a:path w="230504" h="1176020">
                  <a:moveTo>
                    <a:pt x="18288" y="974344"/>
                  </a:moveTo>
                  <a:lnTo>
                    <a:pt x="0" y="974344"/>
                  </a:lnTo>
                  <a:lnTo>
                    <a:pt x="0" y="1084072"/>
                  </a:lnTo>
                  <a:lnTo>
                    <a:pt x="18288" y="1084072"/>
                  </a:lnTo>
                  <a:lnTo>
                    <a:pt x="18288" y="974344"/>
                  </a:lnTo>
                  <a:close/>
                </a:path>
                <a:path w="230504" h="1176020">
                  <a:moveTo>
                    <a:pt x="195072" y="161417"/>
                  </a:moveTo>
                  <a:lnTo>
                    <a:pt x="188264" y="100076"/>
                  </a:lnTo>
                  <a:lnTo>
                    <a:pt x="165239" y="59931"/>
                  </a:lnTo>
                  <a:lnTo>
                    <a:pt x="156819" y="56134"/>
                  </a:lnTo>
                  <a:lnTo>
                    <a:pt x="155562" y="55562"/>
                  </a:lnTo>
                  <a:lnTo>
                    <a:pt x="142494" y="52324"/>
                  </a:lnTo>
                  <a:lnTo>
                    <a:pt x="122174" y="52324"/>
                  </a:lnTo>
                  <a:lnTo>
                    <a:pt x="122174" y="56388"/>
                  </a:lnTo>
                  <a:lnTo>
                    <a:pt x="125285" y="56134"/>
                  </a:lnTo>
                  <a:lnTo>
                    <a:pt x="131826" y="57391"/>
                  </a:lnTo>
                  <a:lnTo>
                    <a:pt x="137604" y="63195"/>
                  </a:lnTo>
                  <a:lnTo>
                    <a:pt x="138430" y="76581"/>
                  </a:lnTo>
                  <a:lnTo>
                    <a:pt x="138430" y="141224"/>
                  </a:lnTo>
                  <a:lnTo>
                    <a:pt x="122174" y="141224"/>
                  </a:lnTo>
                  <a:lnTo>
                    <a:pt x="126238" y="145288"/>
                  </a:lnTo>
                  <a:lnTo>
                    <a:pt x="138430" y="145288"/>
                  </a:lnTo>
                  <a:lnTo>
                    <a:pt x="138430" y="205867"/>
                  </a:lnTo>
                  <a:lnTo>
                    <a:pt x="122174" y="205867"/>
                  </a:lnTo>
                  <a:lnTo>
                    <a:pt x="126238" y="209931"/>
                  </a:lnTo>
                  <a:lnTo>
                    <a:pt x="138430" y="209931"/>
                  </a:lnTo>
                  <a:lnTo>
                    <a:pt x="138430" y="314960"/>
                  </a:lnTo>
                  <a:lnTo>
                    <a:pt x="97917" y="314960"/>
                  </a:lnTo>
                  <a:lnTo>
                    <a:pt x="93853" y="322961"/>
                  </a:lnTo>
                  <a:lnTo>
                    <a:pt x="89916" y="322961"/>
                  </a:lnTo>
                  <a:lnTo>
                    <a:pt x="89916" y="331089"/>
                  </a:lnTo>
                  <a:lnTo>
                    <a:pt x="77724" y="331089"/>
                  </a:lnTo>
                  <a:lnTo>
                    <a:pt x="81788" y="335153"/>
                  </a:lnTo>
                  <a:lnTo>
                    <a:pt x="138430" y="335153"/>
                  </a:lnTo>
                  <a:lnTo>
                    <a:pt x="138430" y="387604"/>
                  </a:lnTo>
                  <a:lnTo>
                    <a:pt x="122174" y="387604"/>
                  </a:lnTo>
                  <a:lnTo>
                    <a:pt x="126238" y="391668"/>
                  </a:lnTo>
                  <a:lnTo>
                    <a:pt x="138430" y="391668"/>
                  </a:lnTo>
                  <a:lnTo>
                    <a:pt x="138430" y="460375"/>
                  </a:lnTo>
                  <a:lnTo>
                    <a:pt x="101981" y="460375"/>
                  </a:lnTo>
                  <a:lnTo>
                    <a:pt x="106045" y="464439"/>
                  </a:lnTo>
                  <a:lnTo>
                    <a:pt x="138430" y="464439"/>
                  </a:lnTo>
                  <a:lnTo>
                    <a:pt x="142494" y="1175512"/>
                  </a:lnTo>
                  <a:lnTo>
                    <a:pt x="195072" y="1175512"/>
                  </a:lnTo>
                  <a:lnTo>
                    <a:pt x="195072" y="161417"/>
                  </a:lnTo>
                  <a:close/>
                </a:path>
                <a:path w="230504" h="1176020">
                  <a:moveTo>
                    <a:pt x="230124" y="8001"/>
                  </a:moveTo>
                  <a:lnTo>
                    <a:pt x="226060" y="4064"/>
                  </a:lnTo>
                  <a:lnTo>
                    <a:pt x="221996" y="0"/>
                  </a:lnTo>
                  <a:lnTo>
                    <a:pt x="221996" y="4064"/>
                  </a:lnTo>
                  <a:lnTo>
                    <a:pt x="226060" y="8001"/>
                  </a:lnTo>
                  <a:lnTo>
                    <a:pt x="226060" y="16129"/>
                  </a:lnTo>
                  <a:lnTo>
                    <a:pt x="217932" y="1167892"/>
                  </a:lnTo>
                  <a:lnTo>
                    <a:pt x="221996" y="1167892"/>
                  </a:lnTo>
                  <a:lnTo>
                    <a:pt x="230124" y="16129"/>
                  </a:lnTo>
                  <a:lnTo>
                    <a:pt x="230124" y="80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623815" y="3144011"/>
              <a:ext cx="7620" cy="20320"/>
            </a:xfrm>
            <a:custGeom>
              <a:avLst/>
              <a:gdLst/>
              <a:ahLst/>
              <a:cxnLst/>
              <a:rect l="l" t="t" r="r" b="b"/>
              <a:pathLst>
                <a:path w="7620" h="20319">
                  <a:moveTo>
                    <a:pt x="7620" y="0"/>
                  </a:moveTo>
                  <a:lnTo>
                    <a:pt x="0" y="0"/>
                  </a:lnTo>
                  <a:lnTo>
                    <a:pt x="0" y="19812"/>
                  </a:lnTo>
                  <a:lnTo>
                    <a:pt x="7620" y="19812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006F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623815" y="3002279"/>
              <a:ext cx="7620" cy="48895"/>
            </a:xfrm>
            <a:custGeom>
              <a:avLst/>
              <a:gdLst/>
              <a:ahLst/>
              <a:cxnLst/>
              <a:rect l="l" t="t" r="r" b="b"/>
              <a:pathLst>
                <a:path w="7620" h="48894">
                  <a:moveTo>
                    <a:pt x="7620" y="0"/>
                  </a:moveTo>
                  <a:lnTo>
                    <a:pt x="0" y="0"/>
                  </a:lnTo>
                  <a:lnTo>
                    <a:pt x="0" y="48767"/>
                  </a:lnTo>
                  <a:lnTo>
                    <a:pt x="7620" y="48767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168140" y="2997707"/>
              <a:ext cx="591820" cy="266700"/>
            </a:xfrm>
            <a:custGeom>
              <a:avLst/>
              <a:gdLst/>
              <a:ahLst/>
              <a:cxnLst/>
              <a:rect l="l" t="t" r="r" b="b"/>
              <a:pathLst>
                <a:path w="591820" h="266700">
                  <a:moveTo>
                    <a:pt x="80772" y="0"/>
                  </a:moveTo>
                  <a:lnTo>
                    <a:pt x="40386" y="0"/>
                  </a:lnTo>
                  <a:lnTo>
                    <a:pt x="40386" y="4064"/>
                  </a:lnTo>
                  <a:lnTo>
                    <a:pt x="72644" y="4064"/>
                  </a:lnTo>
                  <a:lnTo>
                    <a:pt x="72644" y="12192"/>
                  </a:lnTo>
                  <a:lnTo>
                    <a:pt x="68707" y="12192"/>
                  </a:lnTo>
                  <a:lnTo>
                    <a:pt x="68707" y="20320"/>
                  </a:lnTo>
                  <a:lnTo>
                    <a:pt x="68707" y="24384"/>
                  </a:lnTo>
                  <a:lnTo>
                    <a:pt x="64643" y="24384"/>
                  </a:lnTo>
                  <a:lnTo>
                    <a:pt x="64643" y="20320"/>
                  </a:lnTo>
                  <a:lnTo>
                    <a:pt x="68707" y="20320"/>
                  </a:lnTo>
                  <a:lnTo>
                    <a:pt x="68707" y="12192"/>
                  </a:lnTo>
                  <a:lnTo>
                    <a:pt x="68707" y="8128"/>
                  </a:lnTo>
                  <a:lnTo>
                    <a:pt x="60579" y="8128"/>
                  </a:lnTo>
                  <a:lnTo>
                    <a:pt x="60579" y="12192"/>
                  </a:lnTo>
                  <a:lnTo>
                    <a:pt x="48514" y="12192"/>
                  </a:lnTo>
                  <a:lnTo>
                    <a:pt x="48514" y="8128"/>
                  </a:lnTo>
                  <a:lnTo>
                    <a:pt x="40386" y="8128"/>
                  </a:lnTo>
                  <a:lnTo>
                    <a:pt x="39624" y="8128"/>
                  </a:lnTo>
                  <a:lnTo>
                    <a:pt x="39624" y="7620"/>
                  </a:lnTo>
                  <a:lnTo>
                    <a:pt x="38100" y="7620"/>
                  </a:lnTo>
                  <a:lnTo>
                    <a:pt x="38100" y="4572"/>
                  </a:lnTo>
                  <a:lnTo>
                    <a:pt x="36576" y="4572"/>
                  </a:lnTo>
                  <a:lnTo>
                    <a:pt x="36576" y="7620"/>
                  </a:lnTo>
                  <a:lnTo>
                    <a:pt x="30467" y="7620"/>
                  </a:lnTo>
                  <a:lnTo>
                    <a:pt x="30467" y="4572"/>
                  </a:lnTo>
                  <a:lnTo>
                    <a:pt x="27432" y="4572"/>
                  </a:lnTo>
                  <a:lnTo>
                    <a:pt x="27432" y="7620"/>
                  </a:lnTo>
                  <a:lnTo>
                    <a:pt x="24384" y="7620"/>
                  </a:lnTo>
                  <a:lnTo>
                    <a:pt x="24384" y="4572"/>
                  </a:lnTo>
                  <a:lnTo>
                    <a:pt x="22860" y="4572"/>
                  </a:lnTo>
                  <a:lnTo>
                    <a:pt x="22860" y="7620"/>
                  </a:lnTo>
                  <a:lnTo>
                    <a:pt x="20193" y="7620"/>
                  </a:lnTo>
                  <a:lnTo>
                    <a:pt x="20193" y="20320"/>
                  </a:lnTo>
                  <a:lnTo>
                    <a:pt x="20193" y="24384"/>
                  </a:lnTo>
                  <a:lnTo>
                    <a:pt x="16129" y="24384"/>
                  </a:lnTo>
                  <a:lnTo>
                    <a:pt x="16129" y="20320"/>
                  </a:lnTo>
                  <a:lnTo>
                    <a:pt x="20193" y="20320"/>
                  </a:lnTo>
                  <a:lnTo>
                    <a:pt x="20193" y="7620"/>
                  </a:lnTo>
                  <a:lnTo>
                    <a:pt x="15240" y="7620"/>
                  </a:lnTo>
                  <a:lnTo>
                    <a:pt x="15240" y="8128"/>
                  </a:lnTo>
                  <a:lnTo>
                    <a:pt x="12065" y="8128"/>
                  </a:lnTo>
                  <a:lnTo>
                    <a:pt x="12065" y="32512"/>
                  </a:lnTo>
                  <a:lnTo>
                    <a:pt x="16129" y="32512"/>
                  </a:lnTo>
                  <a:lnTo>
                    <a:pt x="16129" y="97409"/>
                  </a:lnTo>
                  <a:lnTo>
                    <a:pt x="8128" y="97409"/>
                  </a:lnTo>
                  <a:lnTo>
                    <a:pt x="8128" y="101346"/>
                  </a:lnTo>
                  <a:lnTo>
                    <a:pt x="4064" y="101346"/>
                  </a:lnTo>
                  <a:lnTo>
                    <a:pt x="4064" y="105410"/>
                  </a:lnTo>
                  <a:lnTo>
                    <a:pt x="8128" y="105410"/>
                  </a:lnTo>
                  <a:lnTo>
                    <a:pt x="8128" y="109474"/>
                  </a:lnTo>
                  <a:lnTo>
                    <a:pt x="16129" y="109474"/>
                  </a:lnTo>
                  <a:lnTo>
                    <a:pt x="16129" y="137922"/>
                  </a:lnTo>
                  <a:lnTo>
                    <a:pt x="4064" y="137922"/>
                  </a:lnTo>
                  <a:lnTo>
                    <a:pt x="0" y="141986"/>
                  </a:lnTo>
                  <a:lnTo>
                    <a:pt x="0" y="150114"/>
                  </a:lnTo>
                  <a:lnTo>
                    <a:pt x="8128" y="150114"/>
                  </a:lnTo>
                  <a:lnTo>
                    <a:pt x="8128" y="154178"/>
                  </a:lnTo>
                  <a:lnTo>
                    <a:pt x="4064" y="154178"/>
                  </a:lnTo>
                  <a:lnTo>
                    <a:pt x="4064" y="162306"/>
                  </a:lnTo>
                  <a:lnTo>
                    <a:pt x="8128" y="162306"/>
                  </a:lnTo>
                  <a:lnTo>
                    <a:pt x="8128" y="158242"/>
                  </a:lnTo>
                  <a:lnTo>
                    <a:pt x="12065" y="158242"/>
                  </a:lnTo>
                  <a:lnTo>
                    <a:pt x="12065" y="162306"/>
                  </a:lnTo>
                  <a:lnTo>
                    <a:pt x="16129" y="162306"/>
                  </a:lnTo>
                  <a:lnTo>
                    <a:pt x="16129" y="166243"/>
                  </a:lnTo>
                  <a:lnTo>
                    <a:pt x="16129" y="174371"/>
                  </a:lnTo>
                  <a:lnTo>
                    <a:pt x="16129" y="178435"/>
                  </a:lnTo>
                  <a:lnTo>
                    <a:pt x="12065" y="178435"/>
                  </a:lnTo>
                  <a:lnTo>
                    <a:pt x="12065" y="174371"/>
                  </a:lnTo>
                  <a:lnTo>
                    <a:pt x="16129" y="174371"/>
                  </a:lnTo>
                  <a:lnTo>
                    <a:pt x="16129" y="166243"/>
                  </a:lnTo>
                  <a:lnTo>
                    <a:pt x="12065" y="166243"/>
                  </a:lnTo>
                  <a:lnTo>
                    <a:pt x="12065" y="162306"/>
                  </a:lnTo>
                  <a:lnTo>
                    <a:pt x="8128" y="162306"/>
                  </a:lnTo>
                  <a:lnTo>
                    <a:pt x="8128" y="178435"/>
                  </a:lnTo>
                  <a:lnTo>
                    <a:pt x="0" y="178435"/>
                  </a:lnTo>
                  <a:lnTo>
                    <a:pt x="0" y="186563"/>
                  </a:lnTo>
                  <a:lnTo>
                    <a:pt x="8128" y="186563"/>
                  </a:lnTo>
                  <a:lnTo>
                    <a:pt x="8128" y="227203"/>
                  </a:lnTo>
                  <a:lnTo>
                    <a:pt x="12001" y="191198"/>
                  </a:lnTo>
                  <a:lnTo>
                    <a:pt x="12065" y="190627"/>
                  </a:lnTo>
                  <a:lnTo>
                    <a:pt x="16129" y="190627"/>
                  </a:lnTo>
                  <a:lnTo>
                    <a:pt x="16129" y="194691"/>
                  </a:lnTo>
                  <a:lnTo>
                    <a:pt x="12065" y="194691"/>
                  </a:lnTo>
                  <a:lnTo>
                    <a:pt x="12065" y="198755"/>
                  </a:lnTo>
                  <a:lnTo>
                    <a:pt x="16129" y="198755"/>
                  </a:lnTo>
                  <a:lnTo>
                    <a:pt x="16129" y="210947"/>
                  </a:lnTo>
                  <a:lnTo>
                    <a:pt x="12065" y="210947"/>
                  </a:lnTo>
                  <a:lnTo>
                    <a:pt x="12065" y="243332"/>
                  </a:lnTo>
                  <a:lnTo>
                    <a:pt x="8128" y="243332"/>
                  </a:lnTo>
                  <a:lnTo>
                    <a:pt x="8128" y="247396"/>
                  </a:lnTo>
                  <a:lnTo>
                    <a:pt x="12065" y="247396"/>
                  </a:lnTo>
                  <a:lnTo>
                    <a:pt x="12065" y="255524"/>
                  </a:lnTo>
                  <a:lnTo>
                    <a:pt x="8128" y="255524"/>
                  </a:lnTo>
                  <a:lnTo>
                    <a:pt x="8128" y="263652"/>
                  </a:lnTo>
                  <a:lnTo>
                    <a:pt x="76708" y="263652"/>
                  </a:lnTo>
                  <a:lnTo>
                    <a:pt x="76708" y="239268"/>
                  </a:lnTo>
                  <a:lnTo>
                    <a:pt x="76708" y="186563"/>
                  </a:lnTo>
                  <a:lnTo>
                    <a:pt x="80772" y="186563"/>
                  </a:lnTo>
                  <a:lnTo>
                    <a:pt x="80772" y="174371"/>
                  </a:lnTo>
                  <a:lnTo>
                    <a:pt x="76708" y="174371"/>
                  </a:lnTo>
                  <a:lnTo>
                    <a:pt x="76708" y="158242"/>
                  </a:lnTo>
                  <a:lnTo>
                    <a:pt x="76708" y="137922"/>
                  </a:lnTo>
                  <a:lnTo>
                    <a:pt x="80708" y="86042"/>
                  </a:lnTo>
                  <a:lnTo>
                    <a:pt x="80746" y="32512"/>
                  </a:lnTo>
                  <a:lnTo>
                    <a:pt x="80746" y="20320"/>
                  </a:lnTo>
                  <a:lnTo>
                    <a:pt x="80759" y="16256"/>
                  </a:lnTo>
                  <a:lnTo>
                    <a:pt x="80759" y="4064"/>
                  </a:lnTo>
                  <a:lnTo>
                    <a:pt x="80772" y="0"/>
                  </a:lnTo>
                  <a:close/>
                </a:path>
                <a:path w="591820" h="266700">
                  <a:moveTo>
                    <a:pt x="378587" y="179209"/>
                  </a:moveTo>
                  <a:lnTo>
                    <a:pt x="370586" y="179209"/>
                  </a:lnTo>
                  <a:lnTo>
                    <a:pt x="370586" y="183388"/>
                  </a:lnTo>
                  <a:lnTo>
                    <a:pt x="378587" y="179209"/>
                  </a:lnTo>
                  <a:close/>
                </a:path>
                <a:path w="591820" h="266700">
                  <a:moveTo>
                    <a:pt x="388340" y="175399"/>
                  </a:moveTo>
                  <a:lnTo>
                    <a:pt x="378587" y="175399"/>
                  </a:lnTo>
                  <a:lnTo>
                    <a:pt x="366522" y="175399"/>
                  </a:lnTo>
                  <a:lnTo>
                    <a:pt x="366522" y="178193"/>
                  </a:lnTo>
                  <a:lnTo>
                    <a:pt x="370979" y="177038"/>
                  </a:lnTo>
                  <a:lnTo>
                    <a:pt x="378587" y="176136"/>
                  </a:lnTo>
                  <a:lnTo>
                    <a:pt x="381647" y="175768"/>
                  </a:lnTo>
                  <a:lnTo>
                    <a:pt x="388340" y="175399"/>
                  </a:lnTo>
                  <a:close/>
                </a:path>
                <a:path w="591820" h="266700">
                  <a:moveTo>
                    <a:pt x="438785" y="175399"/>
                  </a:moveTo>
                  <a:lnTo>
                    <a:pt x="426720" y="175399"/>
                  </a:lnTo>
                  <a:lnTo>
                    <a:pt x="424586" y="175399"/>
                  </a:lnTo>
                  <a:lnTo>
                    <a:pt x="426720" y="175564"/>
                  </a:lnTo>
                  <a:lnTo>
                    <a:pt x="431177" y="175907"/>
                  </a:lnTo>
                  <a:lnTo>
                    <a:pt x="438785" y="176898"/>
                  </a:lnTo>
                  <a:lnTo>
                    <a:pt x="438785" y="175399"/>
                  </a:lnTo>
                  <a:close/>
                </a:path>
                <a:path w="591820" h="266700">
                  <a:moveTo>
                    <a:pt x="454914" y="179209"/>
                  </a:moveTo>
                  <a:lnTo>
                    <a:pt x="443268" y="175399"/>
                  </a:lnTo>
                  <a:lnTo>
                    <a:pt x="442849" y="175399"/>
                  </a:lnTo>
                  <a:lnTo>
                    <a:pt x="442849" y="177444"/>
                  </a:lnTo>
                  <a:lnTo>
                    <a:pt x="451015" y="178689"/>
                  </a:lnTo>
                  <a:lnTo>
                    <a:pt x="454914" y="179209"/>
                  </a:lnTo>
                  <a:close/>
                </a:path>
                <a:path w="591820" h="266700">
                  <a:moveTo>
                    <a:pt x="486918" y="187210"/>
                  </a:moveTo>
                  <a:lnTo>
                    <a:pt x="474980" y="183388"/>
                  </a:lnTo>
                  <a:lnTo>
                    <a:pt x="482981" y="187210"/>
                  </a:lnTo>
                  <a:lnTo>
                    <a:pt x="486918" y="187210"/>
                  </a:lnTo>
                  <a:close/>
                </a:path>
                <a:path w="591820" h="266700">
                  <a:moveTo>
                    <a:pt x="486918" y="183388"/>
                  </a:moveTo>
                  <a:lnTo>
                    <a:pt x="474980" y="179209"/>
                  </a:lnTo>
                  <a:lnTo>
                    <a:pt x="470916" y="179209"/>
                  </a:lnTo>
                  <a:lnTo>
                    <a:pt x="458851" y="179209"/>
                  </a:lnTo>
                  <a:lnTo>
                    <a:pt x="458851" y="179451"/>
                  </a:lnTo>
                  <a:lnTo>
                    <a:pt x="464947" y="179844"/>
                  </a:lnTo>
                  <a:lnTo>
                    <a:pt x="470916" y="180632"/>
                  </a:lnTo>
                  <a:lnTo>
                    <a:pt x="475386" y="181229"/>
                  </a:lnTo>
                  <a:lnTo>
                    <a:pt x="483590" y="182626"/>
                  </a:lnTo>
                  <a:lnTo>
                    <a:pt x="486918" y="183388"/>
                  </a:lnTo>
                  <a:close/>
                </a:path>
                <a:path w="591820" h="266700">
                  <a:moveTo>
                    <a:pt x="503047" y="187210"/>
                  </a:moveTo>
                  <a:lnTo>
                    <a:pt x="498983" y="187210"/>
                  </a:lnTo>
                  <a:lnTo>
                    <a:pt x="503047" y="191147"/>
                  </a:lnTo>
                  <a:lnTo>
                    <a:pt x="503047" y="187210"/>
                  </a:lnTo>
                  <a:close/>
                </a:path>
                <a:path w="591820" h="266700">
                  <a:moveTo>
                    <a:pt x="515112" y="187210"/>
                  </a:moveTo>
                  <a:lnTo>
                    <a:pt x="503047" y="183388"/>
                  </a:lnTo>
                  <a:lnTo>
                    <a:pt x="486918" y="183388"/>
                  </a:lnTo>
                  <a:lnTo>
                    <a:pt x="494741" y="183908"/>
                  </a:lnTo>
                  <a:lnTo>
                    <a:pt x="503047" y="185140"/>
                  </a:lnTo>
                  <a:lnTo>
                    <a:pt x="504063" y="185293"/>
                  </a:lnTo>
                  <a:lnTo>
                    <a:pt x="511848" y="186690"/>
                  </a:lnTo>
                  <a:lnTo>
                    <a:pt x="515112" y="187210"/>
                  </a:lnTo>
                  <a:close/>
                </a:path>
                <a:path w="591820" h="266700">
                  <a:moveTo>
                    <a:pt x="527050" y="195326"/>
                  </a:moveTo>
                  <a:lnTo>
                    <a:pt x="515112" y="191147"/>
                  </a:lnTo>
                  <a:lnTo>
                    <a:pt x="523113" y="195326"/>
                  </a:lnTo>
                  <a:lnTo>
                    <a:pt x="527050" y="195326"/>
                  </a:lnTo>
                  <a:close/>
                </a:path>
                <a:path w="591820" h="266700">
                  <a:moveTo>
                    <a:pt x="539115" y="199263"/>
                  </a:moveTo>
                  <a:lnTo>
                    <a:pt x="535178" y="195326"/>
                  </a:lnTo>
                  <a:lnTo>
                    <a:pt x="531114" y="195326"/>
                  </a:lnTo>
                  <a:lnTo>
                    <a:pt x="539115" y="199263"/>
                  </a:lnTo>
                  <a:close/>
                </a:path>
                <a:path w="591820" h="266700">
                  <a:moveTo>
                    <a:pt x="539115" y="191147"/>
                  </a:moveTo>
                  <a:lnTo>
                    <a:pt x="519049" y="187210"/>
                  </a:lnTo>
                  <a:lnTo>
                    <a:pt x="515112" y="187210"/>
                  </a:lnTo>
                  <a:lnTo>
                    <a:pt x="527050" y="191147"/>
                  </a:lnTo>
                  <a:lnTo>
                    <a:pt x="539115" y="191147"/>
                  </a:lnTo>
                  <a:close/>
                </a:path>
                <a:path w="591820" h="266700">
                  <a:moveTo>
                    <a:pt x="543179" y="195326"/>
                  </a:moveTo>
                  <a:lnTo>
                    <a:pt x="539115" y="191147"/>
                  </a:lnTo>
                  <a:lnTo>
                    <a:pt x="539115" y="195326"/>
                  </a:lnTo>
                  <a:lnTo>
                    <a:pt x="543179" y="195326"/>
                  </a:lnTo>
                  <a:close/>
                </a:path>
                <a:path w="591820" h="266700">
                  <a:moveTo>
                    <a:pt x="553897" y="197967"/>
                  </a:moveTo>
                  <a:lnTo>
                    <a:pt x="551180" y="195326"/>
                  </a:lnTo>
                  <a:lnTo>
                    <a:pt x="543179" y="195326"/>
                  </a:lnTo>
                  <a:lnTo>
                    <a:pt x="551180" y="197307"/>
                  </a:lnTo>
                  <a:lnTo>
                    <a:pt x="553897" y="197967"/>
                  </a:lnTo>
                  <a:close/>
                </a:path>
                <a:path w="591820" h="266700">
                  <a:moveTo>
                    <a:pt x="559181" y="199263"/>
                  </a:moveTo>
                  <a:lnTo>
                    <a:pt x="553897" y="197967"/>
                  </a:lnTo>
                  <a:lnTo>
                    <a:pt x="555244" y="199263"/>
                  </a:lnTo>
                  <a:lnTo>
                    <a:pt x="559181" y="199263"/>
                  </a:lnTo>
                  <a:close/>
                </a:path>
                <a:path w="591820" h="266700">
                  <a:moveTo>
                    <a:pt x="567182" y="203085"/>
                  </a:moveTo>
                  <a:lnTo>
                    <a:pt x="559181" y="199263"/>
                  </a:lnTo>
                  <a:lnTo>
                    <a:pt x="563245" y="203085"/>
                  </a:lnTo>
                  <a:lnTo>
                    <a:pt x="567182" y="203085"/>
                  </a:lnTo>
                  <a:close/>
                </a:path>
                <a:path w="591820" h="266700">
                  <a:moveTo>
                    <a:pt x="571246" y="203085"/>
                  </a:moveTo>
                  <a:lnTo>
                    <a:pt x="567182" y="203085"/>
                  </a:lnTo>
                  <a:lnTo>
                    <a:pt x="571246" y="204406"/>
                  </a:lnTo>
                  <a:lnTo>
                    <a:pt x="571246" y="203085"/>
                  </a:lnTo>
                  <a:close/>
                </a:path>
                <a:path w="591820" h="266700">
                  <a:moveTo>
                    <a:pt x="591312" y="215138"/>
                  </a:moveTo>
                  <a:lnTo>
                    <a:pt x="587248" y="215138"/>
                  </a:lnTo>
                  <a:lnTo>
                    <a:pt x="587248" y="211201"/>
                  </a:lnTo>
                  <a:lnTo>
                    <a:pt x="587248" y="207022"/>
                  </a:lnTo>
                  <a:lnTo>
                    <a:pt x="583311" y="207022"/>
                  </a:lnTo>
                  <a:lnTo>
                    <a:pt x="583311" y="211201"/>
                  </a:lnTo>
                  <a:lnTo>
                    <a:pt x="579247" y="215138"/>
                  </a:lnTo>
                  <a:lnTo>
                    <a:pt x="579247" y="211201"/>
                  </a:lnTo>
                  <a:lnTo>
                    <a:pt x="579247" y="207022"/>
                  </a:lnTo>
                  <a:lnTo>
                    <a:pt x="571246" y="204406"/>
                  </a:lnTo>
                  <a:lnTo>
                    <a:pt x="571246" y="207022"/>
                  </a:lnTo>
                  <a:lnTo>
                    <a:pt x="575310" y="207022"/>
                  </a:lnTo>
                  <a:lnTo>
                    <a:pt x="575310" y="211201"/>
                  </a:lnTo>
                  <a:lnTo>
                    <a:pt x="571246" y="211201"/>
                  </a:lnTo>
                  <a:lnTo>
                    <a:pt x="567182" y="207022"/>
                  </a:lnTo>
                  <a:lnTo>
                    <a:pt x="563245" y="207022"/>
                  </a:lnTo>
                  <a:lnTo>
                    <a:pt x="567182" y="211201"/>
                  </a:lnTo>
                  <a:lnTo>
                    <a:pt x="563245" y="211201"/>
                  </a:lnTo>
                  <a:lnTo>
                    <a:pt x="563245" y="207022"/>
                  </a:lnTo>
                  <a:lnTo>
                    <a:pt x="555244" y="207022"/>
                  </a:lnTo>
                  <a:lnTo>
                    <a:pt x="551180" y="203085"/>
                  </a:lnTo>
                  <a:lnTo>
                    <a:pt x="539115" y="203085"/>
                  </a:lnTo>
                  <a:lnTo>
                    <a:pt x="539115" y="199263"/>
                  </a:lnTo>
                  <a:lnTo>
                    <a:pt x="523113" y="199263"/>
                  </a:lnTo>
                  <a:lnTo>
                    <a:pt x="519049" y="195326"/>
                  </a:lnTo>
                  <a:lnTo>
                    <a:pt x="506984" y="195326"/>
                  </a:lnTo>
                  <a:lnTo>
                    <a:pt x="503047" y="191147"/>
                  </a:lnTo>
                  <a:lnTo>
                    <a:pt x="478917" y="191147"/>
                  </a:lnTo>
                  <a:lnTo>
                    <a:pt x="470916" y="187210"/>
                  </a:lnTo>
                  <a:lnTo>
                    <a:pt x="458851" y="187210"/>
                  </a:lnTo>
                  <a:lnTo>
                    <a:pt x="458851" y="179451"/>
                  </a:lnTo>
                  <a:lnTo>
                    <a:pt x="454914" y="179209"/>
                  </a:lnTo>
                  <a:lnTo>
                    <a:pt x="454914" y="187210"/>
                  </a:lnTo>
                  <a:lnTo>
                    <a:pt x="442849" y="187210"/>
                  </a:lnTo>
                  <a:lnTo>
                    <a:pt x="442849" y="177444"/>
                  </a:lnTo>
                  <a:lnTo>
                    <a:pt x="441845" y="177292"/>
                  </a:lnTo>
                  <a:lnTo>
                    <a:pt x="438785" y="176898"/>
                  </a:lnTo>
                  <a:lnTo>
                    <a:pt x="438785" y="179209"/>
                  </a:lnTo>
                  <a:lnTo>
                    <a:pt x="426720" y="179209"/>
                  </a:lnTo>
                  <a:lnTo>
                    <a:pt x="438785" y="183388"/>
                  </a:lnTo>
                  <a:lnTo>
                    <a:pt x="370586" y="183388"/>
                  </a:lnTo>
                  <a:lnTo>
                    <a:pt x="366522" y="187210"/>
                  </a:lnTo>
                  <a:lnTo>
                    <a:pt x="366522" y="178193"/>
                  </a:lnTo>
                  <a:lnTo>
                    <a:pt x="362585" y="179209"/>
                  </a:lnTo>
                  <a:lnTo>
                    <a:pt x="362585" y="187210"/>
                  </a:lnTo>
                  <a:lnTo>
                    <a:pt x="350520" y="187210"/>
                  </a:lnTo>
                  <a:lnTo>
                    <a:pt x="350520" y="179209"/>
                  </a:lnTo>
                  <a:lnTo>
                    <a:pt x="334518" y="179209"/>
                  </a:lnTo>
                  <a:lnTo>
                    <a:pt x="326682" y="182257"/>
                  </a:lnTo>
                  <a:lnTo>
                    <a:pt x="317360" y="184797"/>
                  </a:lnTo>
                  <a:lnTo>
                    <a:pt x="308927" y="186690"/>
                  </a:lnTo>
                  <a:lnTo>
                    <a:pt x="306324" y="187210"/>
                  </a:lnTo>
                  <a:lnTo>
                    <a:pt x="302387" y="187210"/>
                  </a:lnTo>
                  <a:lnTo>
                    <a:pt x="294386" y="191147"/>
                  </a:lnTo>
                  <a:lnTo>
                    <a:pt x="278257" y="191147"/>
                  </a:lnTo>
                  <a:lnTo>
                    <a:pt x="270256" y="195326"/>
                  </a:lnTo>
                  <a:lnTo>
                    <a:pt x="266192" y="195326"/>
                  </a:lnTo>
                  <a:lnTo>
                    <a:pt x="262255" y="199263"/>
                  </a:lnTo>
                  <a:lnTo>
                    <a:pt x="258191" y="199263"/>
                  </a:lnTo>
                  <a:lnTo>
                    <a:pt x="250190" y="203085"/>
                  </a:lnTo>
                  <a:lnTo>
                    <a:pt x="246126" y="203085"/>
                  </a:lnTo>
                  <a:lnTo>
                    <a:pt x="242189" y="207022"/>
                  </a:lnTo>
                  <a:lnTo>
                    <a:pt x="238125" y="207022"/>
                  </a:lnTo>
                  <a:lnTo>
                    <a:pt x="238125" y="211201"/>
                  </a:lnTo>
                  <a:lnTo>
                    <a:pt x="234188" y="215138"/>
                  </a:lnTo>
                  <a:lnTo>
                    <a:pt x="230124" y="215138"/>
                  </a:lnTo>
                  <a:lnTo>
                    <a:pt x="230124" y="266700"/>
                  </a:lnTo>
                  <a:lnTo>
                    <a:pt x="348627" y="262890"/>
                  </a:lnTo>
                  <a:lnTo>
                    <a:pt x="350520" y="262890"/>
                  </a:lnTo>
                  <a:lnTo>
                    <a:pt x="350520" y="266700"/>
                  </a:lnTo>
                  <a:lnTo>
                    <a:pt x="587248" y="266700"/>
                  </a:lnTo>
                  <a:lnTo>
                    <a:pt x="587248" y="262890"/>
                  </a:lnTo>
                  <a:lnTo>
                    <a:pt x="587248" y="258826"/>
                  </a:lnTo>
                  <a:lnTo>
                    <a:pt x="591312" y="254889"/>
                  </a:lnTo>
                  <a:lnTo>
                    <a:pt x="587248" y="254889"/>
                  </a:lnTo>
                  <a:lnTo>
                    <a:pt x="587248" y="239014"/>
                  </a:lnTo>
                  <a:lnTo>
                    <a:pt x="591312" y="234950"/>
                  </a:lnTo>
                  <a:lnTo>
                    <a:pt x="587248" y="234950"/>
                  </a:lnTo>
                  <a:lnTo>
                    <a:pt x="591312" y="231013"/>
                  </a:lnTo>
                  <a:lnTo>
                    <a:pt x="591312" y="218960"/>
                  </a:lnTo>
                  <a:lnTo>
                    <a:pt x="591312" y="215138"/>
                  </a:lnTo>
                  <a:close/>
                </a:path>
              </a:pathLst>
            </a:custGeom>
            <a:solidFill>
              <a:srgbClr val="006F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195571" y="3019043"/>
              <a:ext cx="36830" cy="238125"/>
            </a:xfrm>
            <a:custGeom>
              <a:avLst/>
              <a:gdLst/>
              <a:ahLst/>
              <a:cxnLst/>
              <a:rect l="l" t="t" r="r" b="b"/>
              <a:pathLst>
                <a:path w="36829" h="238125">
                  <a:moveTo>
                    <a:pt x="20319" y="1123"/>
                  </a:moveTo>
                  <a:lnTo>
                    <a:pt x="20319" y="24129"/>
                  </a:lnTo>
                  <a:lnTo>
                    <a:pt x="16255" y="24129"/>
                  </a:lnTo>
                  <a:lnTo>
                    <a:pt x="16255" y="28193"/>
                  </a:lnTo>
                  <a:lnTo>
                    <a:pt x="20319" y="28193"/>
                  </a:lnTo>
                  <a:lnTo>
                    <a:pt x="20319" y="48386"/>
                  </a:lnTo>
                  <a:lnTo>
                    <a:pt x="16255" y="48386"/>
                  </a:lnTo>
                  <a:lnTo>
                    <a:pt x="16255" y="52323"/>
                  </a:lnTo>
                  <a:lnTo>
                    <a:pt x="20319" y="52323"/>
                  </a:lnTo>
                  <a:lnTo>
                    <a:pt x="20319" y="116839"/>
                  </a:lnTo>
                  <a:lnTo>
                    <a:pt x="0" y="116839"/>
                  </a:lnTo>
                  <a:lnTo>
                    <a:pt x="8127" y="120903"/>
                  </a:lnTo>
                  <a:lnTo>
                    <a:pt x="20319" y="120903"/>
                  </a:lnTo>
                  <a:lnTo>
                    <a:pt x="20319" y="237743"/>
                  </a:lnTo>
                  <a:lnTo>
                    <a:pt x="36575" y="237743"/>
                  </a:lnTo>
                  <a:lnTo>
                    <a:pt x="36575" y="16128"/>
                  </a:lnTo>
                  <a:lnTo>
                    <a:pt x="36195" y="11894"/>
                  </a:lnTo>
                  <a:lnTo>
                    <a:pt x="33528" y="6540"/>
                  </a:lnTo>
                  <a:lnTo>
                    <a:pt x="26289" y="1948"/>
                  </a:lnTo>
                  <a:lnTo>
                    <a:pt x="20319" y="1123"/>
                  </a:lnTo>
                  <a:close/>
                </a:path>
                <a:path w="36829" h="238125">
                  <a:moveTo>
                    <a:pt x="20319" y="0"/>
                  </a:moveTo>
                  <a:lnTo>
                    <a:pt x="12191" y="0"/>
                  </a:lnTo>
                  <a:lnTo>
                    <a:pt x="20319" y="1123"/>
                  </a:lnTo>
                  <a:lnTo>
                    <a:pt x="20319" y="0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241291" y="3014264"/>
              <a:ext cx="3175" cy="247650"/>
            </a:xfrm>
            <a:custGeom>
              <a:avLst/>
              <a:gdLst/>
              <a:ahLst/>
              <a:cxnLst/>
              <a:rect l="l" t="t" r="r" b="b"/>
              <a:pathLst>
                <a:path w="3175" h="247650">
                  <a:moveTo>
                    <a:pt x="3048" y="0"/>
                  </a:moveTo>
                  <a:lnTo>
                    <a:pt x="0" y="243030"/>
                  </a:lnTo>
                  <a:lnTo>
                    <a:pt x="3048" y="247094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151376" y="3029711"/>
              <a:ext cx="152400" cy="21590"/>
            </a:xfrm>
            <a:custGeom>
              <a:avLst/>
              <a:gdLst/>
              <a:ahLst/>
              <a:cxnLst/>
              <a:rect l="l" t="t" r="r" b="b"/>
              <a:pathLst>
                <a:path w="152400" h="21589">
                  <a:moveTo>
                    <a:pt x="1524" y="4572"/>
                  </a:moveTo>
                  <a:lnTo>
                    <a:pt x="0" y="4572"/>
                  </a:lnTo>
                  <a:lnTo>
                    <a:pt x="0" y="18288"/>
                  </a:lnTo>
                  <a:lnTo>
                    <a:pt x="1524" y="18288"/>
                  </a:lnTo>
                  <a:lnTo>
                    <a:pt x="1524" y="4572"/>
                  </a:lnTo>
                  <a:close/>
                </a:path>
                <a:path w="152400" h="21589">
                  <a:moveTo>
                    <a:pt x="21336" y="0"/>
                  </a:moveTo>
                  <a:lnTo>
                    <a:pt x="19812" y="0"/>
                  </a:lnTo>
                  <a:lnTo>
                    <a:pt x="19812" y="12192"/>
                  </a:lnTo>
                  <a:lnTo>
                    <a:pt x="21336" y="12192"/>
                  </a:lnTo>
                  <a:lnTo>
                    <a:pt x="21336" y="0"/>
                  </a:lnTo>
                  <a:close/>
                </a:path>
                <a:path w="152400" h="21589">
                  <a:moveTo>
                    <a:pt x="47231" y="0"/>
                  </a:moveTo>
                  <a:lnTo>
                    <a:pt x="44196" y="0"/>
                  </a:lnTo>
                  <a:lnTo>
                    <a:pt x="44196" y="12192"/>
                  </a:lnTo>
                  <a:lnTo>
                    <a:pt x="47231" y="12192"/>
                  </a:lnTo>
                  <a:lnTo>
                    <a:pt x="47231" y="0"/>
                  </a:lnTo>
                  <a:close/>
                </a:path>
                <a:path w="152400" h="21589">
                  <a:moveTo>
                    <a:pt x="65532" y="0"/>
                  </a:moveTo>
                  <a:lnTo>
                    <a:pt x="64008" y="0"/>
                  </a:lnTo>
                  <a:lnTo>
                    <a:pt x="64008" y="12192"/>
                  </a:lnTo>
                  <a:lnTo>
                    <a:pt x="65532" y="12192"/>
                  </a:lnTo>
                  <a:lnTo>
                    <a:pt x="65532" y="0"/>
                  </a:lnTo>
                  <a:close/>
                </a:path>
                <a:path w="152400" h="21589">
                  <a:moveTo>
                    <a:pt x="86868" y="0"/>
                  </a:moveTo>
                  <a:lnTo>
                    <a:pt x="85344" y="0"/>
                  </a:lnTo>
                  <a:lnTo>
                    <a:pt x="85344" y="12192"/>
                  </a:lnTo>
                  <a:lnTo>
                    <a:pt x="86868" y="12192"/>
                  </a:lnTo>
                  <a:lnTo>
                    <a:pt x="86868" y="0"/>
                  </a:lnTo>
                  <a:close/>
                </a:path>
                <a:path w="152400" h="21589">
                  <a:moveTo>
                    <a:pt x="108191" y="0"/>
                  </a:moveTo>
                  <a:lnTo>
                    <a:pt x="105156" y="0"/>
                  </a:lnTo>
                  <a:lnTo>
                    <a:pt x="105156" y="12192"/>
                  </a:lnTo>
                  <a:lnTo>
                    <a:pt x="108191" y="12192"/>
                  </a:lnTo>
                  <a:lnTo>
                    <a:pt x="108191" y="0"/>
                  </a:lnTo>
                  <a:close/>
                </a:path>
                <a:path w="152400" h="21589">
                  <a:moveTo>
                    <a:pt x="131064" y="4572"/>
                  </a:moveTo>
                  <a:lnTo>
                    <a:pt x="129540" y="4572"/>
                  </a:lnTo>
                  <a:lnTo>
                    <a:pt x="129540" y="18288"/>
                  </a:lnTo>
                  <a:lnTo>
                    <a:pt x="131064" y="18288"/>
                  </a:lnTo>
                  <a:lnTo>
                    <a:pt x="131064" y="4572"/>
                  </a:lnTo>
                  <a:close/>
                </a:path>
                <a:path w="152400" h="21589">
                  <a:moveTo>
                    <a:pt x="152387" y="9144"/>
                  </a:moveTo>
                  <a:lnTo>
                    <a:pt x="149352" y="9144"/>
                  </a:lnTo>
                  <a:lnTo>
                    <a:pt x="149352" y="21336"/>
                  </a:lnTo>
                  <a:lnTo>
                    <a:pt x="152387" y="21336"/>
                  </a:lnTo>
                  <a:lnTo>
                    <a:pt x="152387" y="9144"/>
                  </a:lnTo>
                  <a:close/>
                </a:path>
              </a:pathLst>
            </a:custGeom>
            <a:solidFill>
              <a:srgbClr val="006F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433315" y="3084575"/>
              <a:ext cx="24765" cy="7620"/>
            </a:xfrm>
            <a:custGeom>
              <a:avLst/>
              <a:gdLst/>
              <a:ahLst/>
              <a:cxnLst/>
              <a:rect l="l" t="t" r="r" b="b"/>
              <a:pathLst>
                <a:path w="24764" h="7619">
                  <a:moveTo>
                    <a:pt x="12192" y="0"/>
                  </a:moveTo>
                  <a:lnTo>
                    <a:pt x="0" y="0"/>
                  </a:lnTo>
                  <a:lnTo>
                    <a:pt x="16256" y="7620"/>
                  </a:lnTo>
                  <a:lnTo>
                    <a:pt x="16256" y="3810"/>
                  </a:lnTo>
                  <a:lnTo>
                    <a:pt x="12192" y="3810"/>
                  </a:lnTo>
                  <a:lnTo>
                    <a:pt x="12192" y="0"/>
                  </a:lnTo>
                  <a:close/>
                </a:path>
                <a:path w="24764" h="7619">
                  <a:moveTo>
                    <a:pt x="24384" y="0"/>
                  </a:moveTo>
                  <a:lnTo>
                    <a:pt x="20320" y="0"/>
                  </a:lnTo>
                  <a:lnTo>
                    <a:pt x="24384" y="3810"/>
                  </a:lnTo>
                  <a:lnTo>
                    <a:pt x="24384" y="0"/>
                  </a:lnTo>
                  <a:close/>
                </a:path>
              </a:pathLst>
            </a:custGeom>
            <a:solidFill>
              <a:srgbClr val="006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130463" y="3029711"/>
              <a:ext cx="318135" cy="62865"/>
            </a:xfrm>
            <a:custGeom>
              <a:avLst/>
              <a:gdLst/>
              <a:ahLst/>
              <a:cxnLst/>
              <a:rect l="l" t="t" r="r" b="b"/>
              <a:pathLst>
                <a:path w="318135" h="62864">
                  <a:moveTo>
                    <a:pt x="302090" y="50037"/>
                  </a:moveTo>
                  <a:lnTo>
                    <a:pt x="293962" y="50037"/>
                  </a:lnTo>
                  <a:lnTo>
                    <a:pt x="297161" y="51393"/>
                  </a:lnTo>
                  <a:lnTo>
                    <a:pt x="304503" y="54689"/>
                  </a:lnTo>
                  <a:lnTo>
                    <a:pt x="312607" y="58771"/>
                  </a:lnTo>
                  <a:lnTo>
                    <a:pt x="318092" y="62484"/>
                  </a:lnTo>
                  <a:lnTo>
                    <a:pt x="318092" y="58292"/>
                  </a:lnTo>
                  <a:lnTo>
                    <a:pt x="306027" y="54101"/>
                  </a:lnTo>
                  <a:lnTo>
                    <a:pt x="302090" y="50037"/>
                  </a:lnTo>
                  <a:close/>
                </a:path>
                <a:path w="318135" h="62864">
                  <a:moveTo>
                    <a:pt x="306027" y="45847"/>
                  </a:moveTo>
                  <a:lnTo>
                    <a:pt x="310091" y="50037"/>
                  </a:lnTo>
                  <a:lnTo>
                    <a:pt x="318092" y="54101"/>
                  </a:lnTo>
                  <a:lnTo>
                    <a:pt x="306027" y="45847"/>
                  </a:lnTo>
                  <a:close/>
                </a:path>
                <a:path w="318135" h="62864">
                  <a:moveTo>
                    <a:pt x="282024" y="41655"/>
                  </a:moveTo>
                  <a:lnTo>
                    <a:pt x="265895" y="41655"/>
                  </a:lnTo>
                  <a:lnTo>
                    <a:pt x="269155" y="42965"/>
                  </a:lnTo>
                  <a:lnTo>
                    <a:pt x="276928" y="45847"/>
                  </a:lnTo>
                  <a:lnTo>
                    <a:pt x="286201" y="48728"/>
                  </a:lnTo>
                  <a:lnTo>
                    <a:pt x="293962" y="50037"/>
                  </a:lnTo>
                  <a:lnTo>
                    <a:pt x="290025" y="45847"/>
                  </a:lnTo>
                  <a:lnTo>
                    <a:pt x="282024" y="41655"/>
                  </a:lnTo>
                  <a:close/>
                </a:path>
                <a:path w="318135" h="62864">
                  <a:moveTo>
                    <a:pt x="307687" y="43367"/>
                  </a:moveTo>
                  <a:lnTo>
                    <a:pt x="310091" y="45847"/>
                  </a:lnTo>
                  <a:lnTo>
                    <a:pt x="318092" y="50037"/>
                  </a:lnTo>
                  <a:lnTo>
                    <a:pt x="315957" y="48597"/>
                  </a:lnTo>
                  <a:lnTo>
                    <a:pt x="310059" y="44799"/>
                  </a:lnTo>
                  <a:lnTo>
                    <a:pt x="307687" y="43367"/>
                  </a:lnTo>
                  <a:close/>
                </a:path>
                <a:path w="318135" h="62864">
                  <a:moveTo>
                    <a:pt x="298026" y="41655"/>
                  </a:moveTo>
                  <a:lnTo>
                    <a:pt x="293962" y="41655"/>
                  </a:lnTo>
                  <a:lnTo>
                    <a:pt x="302090" y="45847"/>
                  </a:lnTo>
                  <a:lnTo>
                    <a:pt x="306027" y="45847"/>
                  </a:lnTo>
                  <a:lnTo>
                    <a:pt x="298026" y="41655"/>
                  </a:lnTo>
                  <a:close/>
                </a:path>
                <a:path w="318135" h="62864">
                  <a:moveTo>
                    <a:pt x="298026" y="37464"/>
                  </a:moveTo>
                  <a:lnTo>
                    <a:pt x="297607" y="37464"/>
                  </a:lnTo>
                  <a:lnTo>
                    <a:pt x="301161" y="39429"/>
                  </a:lnTo>
                  <a:lnTo>
                    <a:pt x="307687" y="43367"/>
                  </a:lnTo>
                  <a:lnTo>
                    <a:pt x="306027" y="41655"/>
                  </a:lnTo>
                  <a:lnTo>
                    <a:pt x="298026" y="37464"/>
                  </a:lnTo>
                  <a:close/>
                </a:path>
                <a:path w="318135" h="62864">
                  <a:moveTo>
                    <a:pt x="194080" y="20940"/>
                  </a:moveTo>
                  <a:lnTo>
                    <a:pt x="142884" y="20940"/>
                  </a:lnTo>
                  <a:lnTo>
                    <a:pt x="183889" y="24364"/>
                  </a:lnTo>
                  <a:lnTo>
                    <a:pt x="193759" y="25018"/>
                  </a:lnTo>
                  <a:lnTo>
                    <a:pt x="210542" y="29210"/>
                  </a:lnTo>
                  <a:lnTo>
                    <a:pt x="222477" y="31984"/>
                  </a:lnTo>
                  <a:lnTo>
                    <a:pt x="229827" y="33274"/>
                  </a:lnTo>
                  <a:lnTo>
                    <a:pt x="261958" y="41655"/>
                  </a:lnTo>
                  <a:lnTo>
                    <a:pt x="269959" y="41655"/>
                  </a:lnTo>
                  <a:lnTo>
                    <a:pt x="265895" y="37464"/>
                  </a:lnTo>
                  <a:lnTo>
                    <a:pt x="261958" y="37464"/>
                  </a:lnTo>
                  <a:lnTo>
                    <a:pt x="249893" y="33274"/>
                  </a:lnTo>
                  <a:lnTo>
                    <a:pt x="241892" y="33274"/>
                  </a:lnTo>
                  <a:lnTo>
                    <a:pt x="233891" y="29210"/>
                  </a:lnTo>
                  <a:lnTo>
                    <a:pt x="225763" y="29210"/>
                  </a:lnTo>
                  <a:lnTo>
                    <a:pt x="213825" y="25018"/>
                  </a:lnTo>
                  <a:lnTo>
                    <a:pt x="205697" y="25018"/>
                  </a:lnTo>
                  <a:lnTo>
                    <a:pt x="194080" y="20940"/>
                  </a:lnTo>
                  <a:close/>
                </a:path>
                <a:path w="318135" h="62864">
                  <a:moveTo>
                    <a:pt x="285961" y="37464"/>
                  </a:moveTo>
                  <a:lnTo>
                    <a:pt x="282024" y="37464"/>
                  </a:lnTo>
                  <a:lnTo>
                    <a:pt x="290025" y="41655"/>
                  </a:lnTo>
                  <a:lnTo>
                    <a:pt x="293962" y="41655"/>
                  </a:lnTo>
                  <a:lnTo>
                    <a:pt x="285961" y="37464"/>
                  </a:lnTo>
                  <a:close/>
                </a:path>
                <a:path w="318135" h="62864">
                  <a:moveTo>
                    <a:pt x="273896" y="33274"/>
                  </a:moveTo>
                  <a:lnTo>
                    <a:pt x="269959" y="33274"/>
                  </a:lnTo>
                  <a:lnTo>
                    <a:pt x="282024" y="37464"/>
                  </a:lnTo>
                  <a:lnTo>
                    <a:pt x="273896" y="33274"/>
                  </a:lnTo>
                  <a:close/>
                </a:path>
                <a:path w="318135" h="62864">
                  <a:moveTo>
                    <a:pt x="268255" y="26065"/>
                  </a:moveTo>
                  <a:lnTo>
                    <a:pt x="293962" y="37464"/>
                  </a:lnTo>
                  <a:lnTo>
                    <a:pt x="297607" y="37464"/>
                  </a:lnTo>
                  <a:lnTo>
                    <a:pt x="268255" y="26065"/>
                  </a:lnTo>
                  <a:close/>
                </a:path>
                <a:path w="318135" h="62864">
                  <a:moveTo>
                    <a:pt x="261958" y="29210"/>
                  </a:moveTo>
                  <a:lnTo>
                    <a:pt x="257894" y="29210"/>
                  </a:lnTo>
                  <a:lnTo>
                    <a:pt x="265895" y="33274"/>
                  </a:lnTo>
                  <a:lnTo>
                    <a:pt x="261958" y="29210"/>
                  </a:lnTo>
                  <a:close/>
                </a:path>
                <a:path w="318135" h="62864">
                  <a:moveTo>
                    <a:pt x="241892" y="25018"/>
                  </a:moveTo>
                  <a:lnTo>
                    <a:pt x="233891" y="25018"/>
                  </a:lnTo>
                  <a:lnTo>
                    <a:pt x="249893" y="29210"/>
                  </a:lnTo>
                  <a:lnTo>
                    <a:pt x="241892" y="25018"/>
                  </a:lnTo>
                  <a:close/>
                </a:path>
                <a:path w="318135" h="62864">
                  <a:moveTo>
                    <a:pt x="265895" y="25018"/>
                  </a:moveTo>
                  <a:lnTo>
                    <a:pt x="261958" y="25018"/>
                  </a:lnTo>
                  <a:lnTo>
                    <a:pt x="268255" y="26065"/>
                  </a:lnTo>
                  <a:lnTo>
                    <a:pt x="265895" y="25018"/>
                  </a:lnTo>
                  <a:close/>
                </a:path>
                <a:path w="318135" h="62864">
                  <a:moveTo>
                    <a:pt x="205697" y="16637"/>
                  </a:moveTo>
                  <a:lnTo>
                    <a:pt x="193759" y="16637"/>
                  </a:lnTo>
                  <a:lnTo>
                    <a:pt x="233891" y="25018"/>
                  </a:lnTo>
                  <a:lnTo>
                    <a:pt x="225982" y="20940"/>
                  </a:lnTo>
                  <a:lnTo>
                    <a:pt x="214044" y="20940"/>
                  </a:lnTo>
                  <a:lnTo>
                    <a:pt x="205697" y="16637"/>
                  </a:lnTo>
                  <a:close/>
                </a:path>
                <a:path w="318135" h="62864">
                  <a:moveTo>
                    <a:pt x="250108" y="20940"/>
                  </a:moveTo>
                  <a:lnTo>
                    <a:pt x="257894" y="25018"/>
                  </a:lnTo>
                  <a:lnTo>
                    <a:pt x="261958" y="25018"/>
                  </a:lnTo>
                  <a:lnTo>
                    <a:pt x="250108" y="20940"/>
                  </a:lnTo>
                  <a:close/>
                </a:path>
                <a:path w="318135" h="62864">
                  <a:moveTo>
                    <a:pt x="49233" y="16637"/>
                  </a:moveTo>
                  <a:lnTo>
                    <a:pt x="1100" y="16637"/>
                  </a:lnTo>
                  <a:lnTo>
                    <a:pt x="1100" y="20940"/>
                  </a:lnTo>
                  <a:lnTo>
                    <a:pt x="0" y="20940"/>
                  </a:lnTo>
                  <a:lnTo>
                    <a:pt x="22166" y="18732"/>
                  </a:lnTo>
                  <a:lnTo>
                    <a:pt x="38337" y="17291"/>
                  </a:lnTo>
                  <a:lnTo>
                    <a:pt x="49233" y="16637"/>
                  </a:lnTo>
                  <a:close/>
                </a:path>
                <a:path w="318135" h="62864">
                  <a:moveTo>
                    <a:pt x="161628" y="16637"/>
                  </a:moveTo>
                  <a:lnTo>
                    <a:pt x="93429" y="16637"/>
                  </a:lnTo>
                  <a:lnTo>
                    <a:pt x="132776" y="20205"/>
                  </a:lnTo>
                  <a:lnTo>
                    <a:pt x="143152" y="20940"/>
                  </a:lnTo>
                  <a:lnTo>
                    <a:pt x="169844" y="20940"/>
                  </a:lnTo>
                  <a:lnTo>
                    <a:pt x="161628" y="16637"/>
                  </a:lnTo>
                  <a:close/>
                </a:path>
                <a:path w="318135" h="62864">
                  <a:moveTo>
                    <a:pt x="246376" y="19906"/>
                  </a:moveTo>
                  <a:lnTo>
                    <a:pt x="249772" y="20940"/>
                  </a:lnTo>
                  <a:lnTo>
                    <a:pt x="247514" y="20205"/>
                  </a:lnTo>
                  <a:lnTo>
                    <a:pt x="246376" y="19906"/>
                  </a:lnTo>
                  <a:close/>
                </a:path>
                <a:path w="318135" h="62864">
                  <a:moveTo>
                    <a:pt x="247514" y="20205"/>
                  </a:moveTo>
                  <a:lnTo>
                    <a:pt x="250108" y="20940"/>
                  </a:lnTo>
                  <a:lnTo>
                    <a:pt x="250323" y="20940"/>
                  </a:lnTo>
                  <a:lnTo>
                    <a:pt x="247514" y="20205"/>
                  </a:lnTo>
                  <a:close/>
                </a:path>
                <a:path w="318135" h="62864">
                  <a:moveTo>
                    <a:pt x="233891" y="16637"/>
                  </a:moveTo>
                  <a:lnTo>
                    <a:pt x="246376" y="19906"/>
                  </a:lnTo>
                  <a:lnTo>
                    <a:pt x="246113" y="19742"/>
                  </a:lnTo>
                  <a:lnTo>
                    <a:pt x="239938" y="17946"/>
                  </a:lnTo>
                  <a:lnTo>
                    <a:pt x="233891" y="16637"/>
                  </a:lnTo>
                  <a:close/>
                </a:path>
                <a:path w="318135" h="62864">
                  <a:moveTo>
                    <a:pt x="117432" y="12446"/>
                  </a:moveTo>
                  <a:lnTo>
                    <a:pt x="45296" y="12446"/>
                  </a:lnTo>
                  <a:lnTo>
                    <a:pt x="33231" y="16637"/>
                  </a:lnTo>
                  <a:lnTo>
                    <a:pt x="129497" y="16637"/>
                  </a:lnTo>
                  <a:lnTo>
                    <a:pt x="117432" y="12446"/>
                  </a:lnTo>
                  <a:close/>
                </a:path>
                <a:path w="318135" h="62864">
                  <a:moveTo>
                    <a:pt x="173693" y="12446"/>
                  </a:moveTo>
                  <a:lnTo>
                    <a:pt x="169629" y="12446"/>
                  </a:lnTo>
                  <a:lnTo>
                    <a:pt x="185631" y="16637"/>
                  </a:lnTo>
                  <a:lnTo>
                    <a:pt x="193759" y="16637"/>
                  </a:lnTo>
                  <a:lnTo>
                    <a:pt x="173693" y="12446"/>
                  </a:lnTo>
                  <a:close/>
                </a:path>
                <a:path w="318135" h="62864">
                  <a:moveTo>
                    <a:pt x="193759" y="8382"/>
                  </a:moveTo>
                  <a:lnTo>
                    <a:pt x="203405" y="11386"/>
                  </a:lnTo>
                  <a:lnTo>
                    <a:pt x="216826" y="14033"/>
                  </a:lnTo>
                  <a:lnTo>
                    <a:pt x="228746" y="15918"/>
                  </a:lnTo>
                  <a:lnTo>
                    <a:pt x="233891" y="16637"/>
                  </a:lnTo>
                  <a:lnTo>
                    <a:pt x="193759" y="8382"/>
                  </a:lnTo>
                  <a:close/>
                </a:path>
                <a:path w="318135" h="62864">
                  <a:moveTo>
                    <a:pt x="13165" y="8382"/>
                  </a:moveTo>
                  <a:lnTo>
                    <a:pt x="5164" y="12446"/>
                  </a:lnTo>
                  <a:lnTo>
                    <a:pt x="13165" y="12446"/>
                  </a:lnTo>
                  <a:lnTo>
                    <a:pt x="13165" y="8382"/>
                  </a:lnTo>
                  <a:close/>
                </a:path>
                <a:path w="318135" h="62864">
                  <a:moveTo>
                    <a:pt x="149563" y="8382"/>
                  </a:moveTo>
                  <a:lnTo>
                    <a:pt x="129497" y="8382"/>
                  </a:lnTo>
                  <a:lnTo>
                    <a:pt x="149563" y="12446"/>
                  </a:lnTo>
                  <a:lnTo>
                    <a:pt x="161628" y="12446"/>
                  </a:lnTo>
                  <a:lnTo>
                    <a:pt x="149563" y="8382"/>
                  </a:lnTo>
                  <a:close/>
                </a:path>
                <a:path w="318135" h="62864">
                  <a:moveTo>
                    <a:pt x="159056" y="4709"/>
                  </a:moveTo>
                  <a:lnTo>
                    <a:pt x="169629" y="8382"/>
                  </a:lnTo>
                  <a:lnTo>
                    <a:pt x="193759" y="8382"/>
                  </a:lnTo>
                  <a:lnTo>
                    <a:pt x="176186" y="6286"/>
                  </a:lnTo>
                  <a:lnTo>
                    <a:pt x="161559" y="4845"/>
                  </a:lnTo>
                  <a:lnTo>
                    <a:pt x="159056" y="4709"/>
                  </a:lnTo>
                  <a:close/>
                </a:path>
                <a:path w="318135" h="62864">
                  <a:moveTo>
                    <a:pt x="157564" y="4190"/>
                  </a:moveTo>
                  <a:lnTo>
                    <a:pt x="149563" y="4190"/>
                  </a:lnTo>
                  <a:lnTo>
                    <a:pt x="159056" y="4709"/>
                  </a:lnTo>
                  <a:lnTo>
                    <a:pt x="157564" y="4190"/>
                  </a:lnTo>
                  <a:close/>
                </a:path>
                <a:path w="318135" h="62864">
                  <a:moveTo>
                    <a:pt x="29167" y="1622"/>
                  </a:moveTo>
                  <a:lnTo>
                    <a:pt x="27437" y="1768"/>
                  </a:lnTo>
                  <a:lnTo>
                    <a:pt x="17102" y="4190"/>
                  </a:lnTo>
                  <a:lnTo>
                    <a:pt x="29167" y="4190"/>
                  </a:lnTo>
                  <a:lnTo>
                    <a:pt x="29167" y="1622"/>
                  </a:lnTo>
                  <a:close/>
                </a:path>
                <a:path w="318135" h="62864">
                  <a:moveTo>
                    <a:pt x="129497" y="0"/>
                  </a:moveTo>
                  <a:lnTo>
                    <a:pt x="105367" y="0"/>
                  </a:lnTo>
                  <a:lnTo>
                    <a:pt x="115702" y="654"/>
                  </a:lnTo>
                  <a:lnTo>
                    <a:pt x="130513" y="2095"/>
                  </a:lnTo>
                  <a:lnTo>
                    <a:pt x="149563" y="4190"/>
                  </a:lnTo>
                  <a:lnTo>
                    <a:pt x="129497" y="0"/>
                  </a:lnTo>
                  <a:close/>
                </a:path>
                <a:path w="318135" h="62864">
                  <a:moveTo>
                    <a:pt x="57434" y="0"/>
                  </a:moveTo>
                  <a:lnTo>
                    <a:pt x="29167" y="0"/>
                  </a:lnTo>
                  <a:lnTo>
                    <a:pt x="29167" y="1622"/>
                  </a:lnTo>
                  <a:lnTo>
                    <a:pt x="42248" y="523"/>
                  </a:lnTo>
                  <a:lnTo>
                    <a:pt x="57434" y="0"/>
                  </a:lnTo>
                  <a:close/>
                </a:path>
              </a:pathLst>
            </a:custGeom>
            <a:solidFill>
              <a:srgbClr val="006F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25111" y="3038855"/>
              <a:ext cx="149351" cy="79248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953255" y="3041903"/>
              <a:ext cx="521334" cy="222885"/>
            </a:xfrm>
            <a:custGeom>
              <a:avLst/>
              <a:gdLst/>
              <a:ahLst/>
              <a:cxnLst/>
              <a:rect l="l" t="t" r="r" b="b"/>
              <a:pathLst>
                <a:path w="521335" h="222885">
                  <a:moveTo>
                    <a:pt x="262636" y="0"/>
                  </a:moveTo>
                  <a:lnTo>
                    <a:pt x="202057" y="0"/>
                  </a:lnTo>
                  <a:lnTo>
                    <a:pt x="190646" y="2349"/>
                  </a:lnTo>
                  <a:lnTo>
                    <a:pt x="180784" y="3555"/>
                  </a:lnTo>
                  <a:lnTo>
                    <a:pt x="171254" y="4063"/>
                  </a:lnTo>
                  <a:lnTo>
                    <a:pt x="165608" y="4063"/>
                  </a:lnTo>
                  <a:lnTo>
                    <a:pt x="157607" y="8128"/>
                  </a:lnTo>
                  <a:lnTo>
                    <a:pt x="149479" y="8128"/>
                  </a:lnTo>
                  <a:lnTo>
                    <a:pt x="127875" y="12362"/>
                  </a:lnTo>
                  <a:lnTo>
                    <a:pt x="76708" y="24257"/>
                  </a:lnTo>
                  <a:lnTo>
                    <a:pt x="33305" y="38925"/>
                  </a:lnTo>
                  <a:lnTo>
                    <a:pt x="8128" y="56642"/>
                  </a:lnTo>
                  <a:lnTo>
                    <a:pt x="0" y="64770"/>
                  </a:lnTo>
                  <a:lnTo>
                    <a:pt x="8128" y="72771"/>
                  </a:lnTo>
                  <a:lnTo>
                    <a:pt x="8128" y="97155"/>
                  </a:lnTo>
                  <a:lnTo>
                    <a:pt x="4064" y="101092"/>
                  </a:lnTo>
                  <a:lnTo>
                    <a:pt x="8128" y="109220"/>
                  </a:lnTo>
                  <a:lnTo>
                    <a:pt x="8128" y="157734"/>
                  </a:lnTo>
                  <a:lnTo>
                    <a:pt x="4064" y="161798"/>
                  </a:lnTo>
                  <a:lnTo>
                    <a:pt x="8128" y="165862"/>
                  </a:lnTo>
                  <a:lnTo>
                    <a:pt x="8128" y="222504"/>
                  </a:lnTo>
                  <a:lnTo>
                    <a:pt x="513080" y="222504"/>
                  </a:lnTo>
                  <a:lnTo>
                    <a:pt x="513080" y="165862"/>
                  </a:lnTo>
                  <a:lnTo>
                    <a:pt x="517144" y="161798"/>
                  </a:lnTo>
                  <a:lnTo>
                    <a:pt x="513080" y="161798"/>
                  </a:lnTo>
                  <a:lnTo>
                    <a:pt x="513080" y="109220"/>
                  </a:lnTo>
                  <a:lnTo>
                    <a:pt x="517144" y="101092"/>
                  </a:lnTo>
                  <a:lnTo>
                    <a:pt x="513080" y="97155"/>
                  </a:lnTo>
                  <a:lnTo>
                    <a:pt x="513080" y="72771"/>
                  </a:lnTo>
                  <a:lnTo>
                    <a:pt x="521208" y="64770"/>
                  </a:lnTo>
                  <a:lnTo>
                    <a:pt x="513080" y="56642"/>
                  </a:lnTo>
                  <a:lnTo>
                    <a:pt x="470368" y="32555"/>
                  </a:lnTo>
                  <a:lnTo>
                    <a:pt x="417210" y="17716"/>
                  </a:lnTo>
                  <a:lnTo>
                    <a:pt x="371729" y="8128"/>
                  </a:lnTo>
                  <a:lnTo>
                    <a:pt x="300148" y="1269"/>
                  </a:lnTo>
                  <a:lnTo>
                    <a:pt x="262636" y="0"/>
                  </a:lnTo>
                  <a:close/>
                </a:path>
              </a:pathLst>
            </a:custGeom>
            <a:solidFill>
              <a:srgbClr val="006F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57827" y="3034283"/>
              <a:ext cx="440436" cy="227075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4312919" y="2574099"/>
              <a:ext cx="238125" cy="690880"/>
            </a:xfrm>
            <a:custGeom>
              <a:avLst/>
              <a:gdLst/>
              <a:ahLst/>
              <a:cxnLst/>
              <a:rect l="l" t="t" r="r" b="b"/>
              <a:pathLst>
                <a:path w="238125" h="690879">
                  <a:moveTo>
                    <a:pt x="28193" y="569150"/>
                  </a:moveTo>
                  <a:lnTo>
                    <a:pt x="20192" y="569150"/>
                  </a:lnTo>
                  <a:lnTo>
                    <a:pt x="16265" y="686244"/>
                  </a:lnTo>
                  <a:lnTo>
                    <a:pt x="16192" y="688415"/>
                  </a:lnTo>
                  <a:lnTo>
                    <a:pt x="16128" y="690308"/>
                  </a:lnTo>
                  <a:lnTo>
                    <a:pt x="225678" y="690308"/>
                  </a:lnTo>
                  <a:lnTo>
                    <a:pt x="225678" y="686244"/>
                  </a:lnTo>
                  <a:lnTo>
                    <a:pt x="24129" y="686244"/>
                  </a:lnTo>
                  <a:lnTo>
                    <a:pt x="28052" y="573214"/>
                  </a:lnTo>
                  <a:lnTo>
                    <a:pt x="28130" y="570980"/>
                  </a:lnTo>
                  <a:lnTo>
                    <a:pt x="28193" y="569150"/>
                  </a:lnTo>
                  <a:close/>
                </a:path>
                <a:path w="238125" h="690879">
                  <a:moveTo>
                    <a:pt x="225678" y="577278"/>
                  </a:moveTo>
                  <a:lnTo>
                    <a:pt x="205485" y="577278"/>
                  </a:lnTo>
                  <a:lnTo>
                    <a:pt x="205485" y="589343"/>
                  </a:lnTo>
                  <a:lnTo>
                    <a:pt x="32257" y="589343"/>
                  </a:lnTo>
                  <a:lnTo>
                    <a:pt x="32257" y="597471"/>
                  </a:lnTo>
                  <a:lnTo>
                    <a:pt x="36321" y="597471"/>
                  </a:lnTo>
                  <a:lnTo>
                    <a:pt x="36321" y="633793"/>
                  </a:lnTo>
                  <a:lnTo>
                    <a:pt x="28193" y="633793"/>
                  </a:lnTo>
                  <a:lnTo>
                    <a:pt x="28193" y="678243"/>
                  </a:lnTo>
                  <a:lnTo>
                    <a:pt x="36321" y="678243"/>
                  </a:lnTo>
                  <a:lnTo>
                    <a:pt x="36321" y="686244"/>
                  </a:lnTo>
                  <a:lnTo>
                    <a:pt x="225678" y="686244"/>
                  </a:lnTo>
                  <a:lnTo>
                    <a:pt x="225678" y="617664"/>
                  </a:lnTo>
                  <a:lnTo>
                    <a:pt x="201421" y="617664"/>
                  </a:lnTo>
                  <a:lnTo>
                    <a:pt x="201421" y="593407"/>
                  </a:lnTo>
                  <a:lnTo>
                    <a:pt x="225678" y="593407"/>
                  </a:lnTo>
                  <a:lnTo>
                    <a:pt x="225678" y="577278"/>
                  </a:lnTo>
                  <a:close/>
                </a:path>
                <a:path w="238125" h="690879">
                  <a:moveTo>
                    <a:pt x="225678" y="593407"/>
                  </a:moveTo>
                  <a:lnTo>
                    <a:pt x="205485" y="593407"/>
                  </a:lnTo>
                  <a:lnTo>
                    <a:pt x="205485" y="617664"/>
                  </a:lnTo>
                  <a:lnTo>
                    <a:pt x="225678" y="617664"/>
                  </a:lnTo>
                  <a:lnTo>
                    <a:pt x="225678" y="593407"/>
                  </a:lnTo>
                  <a:close/>
                </a:path>
                <a:path w="238125" h="690879">
                  <a:moveTo>
                    <a:pt x="229742" y="508571"/>
                  </a:moveTo>
                  <a:lnTo>
                    <a:pt x="36321" y="508571"/>
                  </a:lnTo>
                  <a:lnTo>
                    <a:pt x="36321" y="524827"/>
                  </a:lnTo>
                  <a:lnTo>
                    <a:pt x="40258" y="524827"/>
                  </a:lnTo>
                  <a:lnTo>
                    <a:pt x="40258" y="536892"/>
                  </a:lnTo>
                  <a:lnTo>
                    <a:pt x="32257" y="536892"/>
                  </a:lnTo>
                  <a:lnTo>
                    <a:pt x="32257" y="548957"/>
                  </a:lnTo>
                  <a:lnTo>
                    <a:pt x="40258" y="548957"/>
                  </a:lnTo>
                  <a:lnTo>
                    <a:pt x="40258" y="553021"/>
                  </a:lnTo>
                  <a:lnTo>
                    <a:pt x="205485" y="553021"/>
                  </a:lnTo>
                  <a:lnTo>
                    <a:pt x="205485" y="569150"/>
                  </a:lnTo>
                  <a:lnTo>
                    <a:pt x="36321" y="569150"/>
                  </a:lnTo>
                  <a:lnTo>
                    <a:pt x="36321" y="589343"/>
                  </a:lnTo>
                  <a:lnTo>
                    <a:pt x="201421" y="589343"/>
                  </a:lnTo>
                  <a:lnTo>
                    <a:pt x="201421" y="577278"/>
                  </a:lnTo>
                  <a:lnTo>
                    <a:pt x="225678" y="577278"/>
                  </a:lnTo>
                  <a:lnTo>
                    <a:pt x="225678" y="565213"/>
                  </a:lnTo>
                  <a:lnTo>
                    <a:pt x="229742" y="565213"/>
                  </a:lnTo>
                  <a:lnTo>
                    <a:pt x="229742" y="508571"/>
                  </a:lnTo>
                  <a:close/>
                </a:path>
                <a:path w="238125" h="690879">
                  <a:moveTo>
                    <a:pt x="45392" y="16128"/>
                  </a:moveTo>
                  <a:lnTo>
                    <a:pt x="44228" y="16128"/>
                  </a:lnTo>
                  <a:lnTo>
                    <a:pt x="32257" y="24193"/>
                  </a:lnTo>
                  <a:lnTo>
                    <a:pt x="32257" y="104965"/>
                  </a:lnTo>
                  <a:lnTo>
                    <a:pt x="48387" y="104965"/>
                  </a:lnTo>
                  <a:lnTo>
                    <a:pt x="48387" y="141287"/>
                  </a:lnTo>
                  <a:lnTo>
                    <a:pt x="40258" y="145224"/>
                  </a:lnTo>
                  <a:lnTo>
                    <a:pt x="40258" y="153352"/>
                  </a:lnTo>
                  <a:lnTo>
                    <a:pt x="48387" y="153352"/>
                  </a:lnTo>
                  <a:lnTo>
                    <a:pt x="48387" y="201739"/>
                  </a:lnTo>
                  <a:lnTo>
                    <a:pt x="40258" y="201739"/>
                  </a:lnTo>
                  <a:lnTo>
                    <a:pt x="40258" y="209867"/>
                  </a:lnTo>
                  <a:lnTo>
                    <a:pt x="48387" y="213931"/>
                  </a:lnTo>
                  <a:lnTo>
                    <a:pt x="44386" y="285440"/>
                  </a:lnTo>
                  <a:lnTo>
                    <a:pt x="44322" y="286575"/>
                  </a:lnTo>
                  <a:lnTo>
                    <a:pt x="40258" y="290639"/>
                  </a:lnTo>
                  <a:lnTo>
                    <a:pt x="40258" y="298640"/>
                  </a:lnTo>
                  <a:lnTo>
                    <a:pt x="20192" y="298640"/>
                  </a:lnTo>
                  <a:lnTo>
                    <a:pt x="20192" y="306768"/>
                  </a:lnTo>
                  <a:lnTo>
                    <a:pt x="16128" y="306768"/>
                  </a:lnTo>
                  <a:lnTo>
                    <a:pt x="16128" y="310832"/>
                  </a:lnTo>
                  <a:lnTo>
                    <a:pt x="8000" y="310832"/>
                  </a:lnTo>
                  <a:lnTo>
                    <a:pt x="8000" y="326961"/>
                  </a:lnTo>
                  <a:lnTo>
                    <a:pt x="16128" y="326961"/>
                  </a:lnTo>
                  <a:lnTo>
                    <a:pt x="16128" y="331025"/>
                  </a:lnTo>
                  <a:lnTo>
                    <a:pt x="20192" y="331025"/>
                  </a:lnTo>
                  <a:lnTo>
                    <a:pt x="20192" y="335089"/>
                  </a:lnTo>
                  <a:lnTo>
                    <a:pt x="32257" y="335089"/>
                  </a:lnTo>
                  <a:lnTo>
                    <a:pt x="36321" y="339026"/>
                  </a:lnTo>
                  <a:lnTo>
                    <a:pt x="44322" y="339026"/>
                  </a:lnTo>
                  <a:lnTo>
                    <a:pt x="44322" y="359219"/>
                  </a:lnTo>
                  <a:lnTo>
                    <a:pt x="40258" y="359219"/>
                  </a:lnTo>
                  <a:lnTo>
                    <a:pt x="40258" y="367347"/>
                  </a:lnTo>
                  <a:lnTo>
                    <a:pt x="44322" y="367347"/>
                  </a:lnTo>
                  <a:lnTo>
                    <a:pt x="44322" y="423987"/>
                  </a:lnTo>
                  <a:lnTo>
                    <a:pt x="37969" y="423987"/>
                  </a:lnTo>
                  <a:lnTo>
                    <a:pt x="23685" y="424862"/>
                  </a:lnTo>
                  <a:lnTo>
                    <a:pt x="8639" y="427237"/>
                  </a:lnTo>
                  <a:lnTo>
                    <a:pt x="0" y="431863"/>
                  </a:lnTo>
                  <a:lnTo>
                    <a:pt x="0" y="456120"/>
                  </a:lnTo>
                  <a:lnTo>
                    <a:pt x="12064" y="456120"/>
                  </a:lnTo>
                  <a:lnTo>
                    <a:pt x="12064" y="464248"/>
                  </a:lnTo>
                  <a:lnTo>
                    <a:pt x="4063" y="472249"/>
                  </a:lnTo>
                  <a:lnTo>
                    <a:pt x="12064" y="476313"/>
                  </a:lnTo>
                  <a:lnTo>
                    <a:pt x="12064" y="492442"/>
                  </a:lnTo>
                  <a:lnTo>
                    <a:pt x="20192" y="492442"/>
                  </a:lnTo>
                  <a:lnTo>
                    <a:pt x="20192" y="540956"/>
                  </a:lnTo>
                  <a:lnTo>
                    <a:pt x="0" y="540956"/>
                  </a:lnTo>
                  <a:lnTo>
                    <a:pt x="0" y="561149"/>
                  </a:lnTo>
                  <a:lnTo>
                    <a:pt x="4063" y="561149"/>
                  </a:lnTo>
                  <a:lnTo>
                    <a:pt x="4063" y="569150"/>
                  </a:lnTo>
                  <a:lnTo>
                    <a:pt x="201421" y="569150"/>
                  </a:lnTo>
                  <a:lnTo>
                    <a:pt x="201421" y="553021"/>
                  </a:lnTo>
                  <a:lnTo>
                    <a:pt x="28193" y="553021"/>
                  </a:lnTo>
                  <a:lnTo>
                    <a:pt x="28193" y="508571"/>
                  </a:lnTo>
                  <a:lnTo>
                    <a:pt x="229742" y="508571"/>
                  </a:lnTo>
                  <a:lnTo>
                    <a:pt x="229742" y="504634"/>
                  </a:lnTo>
                  <a:lnTo>
                    <a:pt x="28193" y="504634"/>
                  </a:lnTo>
                  <a:lnTo>
                    <a:pt x="28193" y="488505"/>
                  </a:lnTo>
                  <a:lnTo>
                    <a:pt x="16128" y="488505"/>
                  </a:lnTo>
                  <a:lnTo>
                    <a:pt x="16128" y="476313"/>
                  </a:lnTo>
                  <a:lnTo>
                    <a:pt x="229742" y="476313"/>
                  </a:lnTo>
                  <a:lnTo>
                    <a:pt x="229742" y="472249"/>
                  </a:lnTo>
                  <a:lnTo>
                    <a:pt x="16128" y="472249"/>
                  </a:lnTo>
                  <a:lnTo>
                    <a:pt x="16128" y="468312"/>
                  </a:lnTo>
                  <a:lnTo>
                    <a:pt x="20192" y="464248"/>
                  </a:lnTo>
                  <a:lnTo>
                    <a:pt x="229742" y="464248"/>
                  </a:lnTo>
                  <a:lnTo>
                    <a:pt x="229742" y="419798"/>
                  </a:lnTo>
                  <a:lnTo>
                    <a:pt x="233679" y="419798"/>
                  </a:lnTo>
                  <a:lnTo>
                    <a:pt x="233679" y="415734"/>
                  </a:lnTo>
                  <a:lnTo>
                    <a:pt x="229742" y="415734"/>
                  </a:lnTo>
                  <a:lnTo>
                    <a:pt x="229742" y="262318"/>
                  </a:lnTo>
                  <a:lnTo>
                    <a:pt x="237743" y="262318"/>
                  </a:lnTo>
                  <a:lnTo>
                    <a:pt x="237743" y="258381"/>
                  </a:lnTo>
                  <a:lnTo>
                    <a:pt x="229742" y="258381"/>
                  </a:lnTo>
                  <a:lnTo>
                    <a:pt x="233618" y="115238"/>
                  </a:lnTo>
                  <a:lnTo>
                    <a:pt x="233679" y="112966"/>
                  </a:lnTo>
                  <a:lnTo>
                    <a:pt x="237743" y="108902"/>
                  </a:lnTo>
                  <a:lnTo>
                    <a:pt x="237743" y="100901"/>
                  </a:lnTo>
                  <a:lnTo>
                    <a:pt x="40258" y="100901"/>
                  </a:lnTo>
                  <a:lnTo>
                    <a:pt x="40258" y="64579"/>
                  </a:lnTo>
                  <a:lnTo>
                    <a:pt x="233679" y="64579"/>
                  </a:lnTo>
                  <a:lnTo>
                    <a:pt x="233679" y="56451"/>
                  </a:lnTo>
                  <a:lnTo>
                    <a:pt x="209550" y="56451"/>
                  </a:lnTo>
                  <a:lnTo>
                    <a:pt x="209550" y="48323"/>
                  </a:lnTo>
                  <a:lnTo>
                    <a:pt x="181355" y="48323"/>
                  </a:lnTo>
                  <a:lnTo>
                    <a:pt x="145601" y="44448"/>
                  </a:lnTo>
                  <a:lnTo>
                    <a:pt x="145125" y="44448"/>
                  </a:lnTo>
                  <a:lnTo>
                    <a:pt x="132968" y="36258"/>
                  </a:lnTo>
                  <a:lnTo>
                    <a:pt x="112775" y="36258"/>
                  </a:lnTo>
                  <a:lnTo>
                    <a:pt x="49393" y="32258"/>
                  </a:lnTo>
                  <a:lnTo>
                    <a:pt x="48387" y="32258"/>
                  </a:lnTo>
                  <a:lnTo>
                    <a:pt x="48387" y="16306"/>
                  </a:lnTo>
                  <a:lnTo>
                    <a:pt x="45392" y="16128"/>
                  </a:lnTo>
                  <a:close/>
                </a:path>
                <a:path w="238125" h="690879">
                  <a:moveTo>
                    <a:pt x="229742" y="476313"/>
                  </a:moveTo>
                  <a:lnTo>
                    <a:pt x="20192" y="476313"/>
                  </a:lnTo>
                  <a:lnTo>
                    <a:pt x="20192" y="484441"/>
                  </a:lnTo>
                  <a:lnTo>
                    <a:pt x="28193" y="484441"/>
                  </a:lnTo>
                  <a:lnTo>
                    <a:pt x="36321" y="492442"/>
                  </a:lnTo>
                  <a:lnTo>
                    <a:pt x="36321" y="496506"/>
                  </a:lnTo>
                  <a:lnTo>
                    <a:pt x="40258" y="496506"/>
                  </a:lnTo>
                  <a:lnTo>
                    <a:pt x="40258" y="504634"/>
                  </a:lnTo>
                  <a:lnTo>
                    <a:pt x="229742" y="504634"/>
                  </a:lnTo>
                  <a:lnTo>
                    <a:pt x="229742" y="476313"/>
                  </a:lnTo>
                  <a:close/>
                </a:path>
                <a:path w="238125" h="690879">
                  <a:moveTo>
                    <a:pt x="229742" y="464248"/>
                  </a:moveTo>
                  <a:lnTo>
                    <a:pt x="20192" y="464248"/>
                  </a:lnTo>
                  <a:lnTo>
                    <a:pt x="20192" y="472249"/>
                  </a:lnTo>
                  <a:lnTo>
                    <a:pt x="229742" y="472249"/>
                  </a:lnTo>
                  <a:lnTo>
                    <a:pt x="229742" y="464248"/>
                  </a:lnTo>
                  <a:close/>
                </a:path>
                <a:path w="238125" h="690879">
                  <a:moveTo>
                    <a:pt x="233679" y="64579"/>
                  </a:moveTo>
                  <a:lnTo>
                    <a:pt x="60451" y="64579"/>
                  </a:lnTo>
                  <a:lnTo>
                    <a:pt x="60451" y="68516"/>
                  </a:lnTo>
                  <a:lnTo>
                    <a:pt x="52324" y="76644"/>
                  </a:lnTo>
                  <a:lnTo>
                    <a:pt x="48387" y="84772"/>
                  </a:lnTo>
                  <a:lnTo>
                    <a:pt x="48387" y="100901"/>
                  </a:lnTo>
                  <a:lnTo>
                    <a:pt x="233679" y="100901"/>
                  </a:lnTo>
                  <a:lnTo>
                    <a:pt x="233679" y="96837"/>
                  </a:lnTo>
                  <a:lnTo>
                    <a:pt x="197484" y="96837"/>
                  </a:lnTo>
                  <a:lnTo>
                    <a:pt x="195599" y="87957"/>
                  </a:lnTo>
                  <a:lnTo>
                    <a:pt x="191452" y="80184"/>
                  </a:lnTo>
                  <a:lnTo>
                    <a:pt x="187305" y="74674"/>
                  </a:lnTo>
                  <a:lnTo>
                    <a:pt x="185419" y="72580"/>
                  </a:lnTo>
                  <a:lnTo>
                    <a:pt x="233679" y="72580"/>
                  </a:lnTo>
                  <a:lnTo>
                    <a:pt x="233679" y="64579"/>
                  </a:lnTo>
                  <a:close/>
                </a:path>
                <a:path w="238125" h="690879">
                  <a:moveTo>
                    <a:pt x="233679" y="72580"/>
                  </a:moveTo>
                  <a:lnTo>
                    <a:pt x="201421" y="72580"/>
                  </a:lnTo>
                  <a:lnTo>
                    <a:pt x="201421" y="96837"/>
                  </a:lnTo>
                  <a:lnTo>
                    <a:pt x="233679" y="96837"/>
                  </a:lnTo>
                  <a:lnTo>
                    <a:pt x="233679" y="72580"/>
                  </a:lnTo>
                  <a:close/>
                </a:path>
                <a:path w="238125" h="690879">
                  <a:moveTo>
                    <a:pt x="44322" y="64579"/>
                  </a:moveTo>
                  <a:lnTo>
                    <a:pt x="40258" y="64579"/>
                  </a:lnTo>
                  <a:lnTo>
                    <a:pt x="52324" y="76644"/>
                  </a:lnTo>
                  <a:lnTo>
                    <a:pt x="44322" y="64579"/>
                  </a:lnTo>
                  <a:close/>
                </a:path>
                <a:path w="238125" h="690879">
                  <a:moveTo>
                    <a:pt x="226806" y="20129"/>
                  </a:moveTo>
                  <a:lnTo>
                    <a:pt x="145033" y="20129"/>
                  </a:lnTo>
                  <a:lnTo>
                    <a:pt x="201421" y="24193"/>
                  </a:lnTo>
                  <a:lnTo>
                    <a:pt x="209550" y="24193"/>
                  </a:lnTo>
                  <a:lnTo>
                    <a:pt x="213613" y="36258"/>
                  </a:lnTo>
                  <a:lnTo>
                    <a:pt x="213613" y="56451"/>
                  </a:lnTo>
                  <a:lnTo>
                    <a:pt x="233679" y="56451"/>
                  </a:lnTo>
                  <a:lnTo>
                    <a:pt x="233679" y="36258"/>
                  </a:lnTo>
                  <a:lnTo>
                    <a:pt x="232733" y="32258"/>
                  </a:lnTo>
                  <a:lnTo>
                    <a:pt x="232622" y="31789"/>
                  </a:lnTo>
                  <a:lnTo>
                    <a:pt x="228171" y="21653"/>
                  </a:lnTo>
                  <a:lnTo>
                    <a:pt x="226806" y="20129"/>
                  </a:lnTo>
                  <a:close/>
                </a:path>
                <a:path w="238125" h="690879">
                  <a:moveTo>
                    <a:pt x="189483" y="32258"/>
                  </a:moveTo>
                  <a:lnTo>
                    <a:pt x="181355" y="32258"/>
                  </a:lnTo>
                  <a:lnTo>
                    <a:pt x="181355" y="48323"/>
                  </a:lnTo>
                  <a:lnTo>
                    <a:pt x="209550" y="48323"/>
                  </a:lnTo>
                  <a:lnTo>
                    <a:pt x="209550" y="40322"/>
                  </a:lnTo>
                  <a:lnTo>
                    <a:pt x="197484" y="40322"/>
                  </a:lnTo>
                  <a:lnTo>
                    <a:pt x="197484" y="36258"/>
                  </a:lnTo>
                  <a:lnTo>
                    <a:pt x="189483" y="32258"/>
                  </a:lnTo>
                  <a:close/>
                </a:path>
                <a:path w="238125" h="690879">
                  <a:moveTo>
                    <a:pt x="142039" y="0"/>
                  </a:moveTo>
                  <a:lnTo>
                    <a:pt x="140862" y="0"/>
                  </a:lnTo>
                  <a:lnTo>
                    <a:pt x="137814" y="823"/>
                  </a:lnTo>
                  <a:lnTo>
                    <a:pt x="129960" y="4000"/>
                  </a:lnTo>
                  <a:lnTo>
                    <a:pt x="120630" y="10169"/>
                  </a:lnTo>
                  <a:lnTo>
                    <a:pt x="112775" y="20129"/>
                  </a:lnTo>
                  <a:lnTo>
                    <a:pt x="112775" y="36258"/>
                  </a:lnTo>
                  <a:lnTo>
                    <a:pt x="132968" y="36258"/>
                  </a:lnTo>
                  <a:lnTo>
                    <a:pt x="132968" y="28257"/>
                  </a:lnTo>
                  <a:lnTo>
                    <a:pt x="137032" y="20129"/>
                  </a:lnTo>
                  <a:lnTo>
                    <a:pt x="226806" y="20129"/>
                  </a:lnTo>
                  <a:lnTo>
                    <a:pt x="218410" y="10755"/>
                  </a:lnTo>
                  <a:lnTo>
                    <a:pt x="201421" y="4000"/>
                  </a:lnTo>
                  <a:lnTo>
                    <a:pt x="142039" y="0"/>
                  </a:lnTo>
                  <a:close/>
                </a:path>
                <a:path w="238125" h="690879">
                  <a:moveTo>
                    <a:pt x="49393" y="16128"/>
                  </a:moveTo>
                  <a:lnTo>
                    <a:pt x="48387" y="16128"/>
                  </a:lnTo>
                  <a:lnTo>
                    <a:pt x="48387" y="16306"/>
                  </a:lnTo>
                  <a:lnTo>
                    <a:pt x="112775" y="20129"/>
                  </a:lnTo>
                  <a:lnTo>
                    <a:pt x="49393" y="16128"/>
                  </a:lnTo>
                  <a:close/>
                </a:path>
              </a:pathLst>
            </a:custGeom>
            <a:solidFill>
              <a:srgbClr val="006F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405884" y="2590799"/>
              <a:ext cx="131445" cy="600710"/>
            </a:xfrm>
            <a:custGeom>
              <a:avLst/>
              <a:gdLst/>
              <a:ahLst/>
              <a:cxnLst/>
              <a:rect l="l" t="t" r="r" b="b"/>
              <a:pathLst>
                <a:path w="131445" h="600710">
                  <a:moveTo>
                    <a:pt x="100584" y="144145"/>
                  </a:moveTo>
                  <a:lnTo>
                    <a:pt x="95491" y="91376"/>
                  </a:lnTo>
                  <a:lnTo>
                    <a:pt x="74942" y="56324"/>
                  </a:lnTo>
                  <a:lnTo>
                    <a:pt x="52324" y="47244"/>
                  </a:lnTo>
                  <a:lnTo>
                    <a:pt x="36195" y="47244"/>
                  </a:lnTo>
                  <a:lnTo>
                    <a:pt x="36195" y="51308"/>
                  </a:lnTo>
                  <a:lnTo>
                    <a:pt x="38709" y="51054"/>
                  </a:lnTo>
                  <a:lnTo>
                    <a:pt x="44259" y="52311"/>
                  </a:lnTo>
                  <a:lnTo>
                    <a:pt x="49796" y="58115"/>
                  </a:lnTo>
                  <a:lnTo>
                    <a:pt x="52324" y="71501"/>
                  </a:lnTo>
                  <a:lnTo>
                    <a:pt x="52324" y="128016"/>
                  </a:lnTo>
                  <a:lnTo>
                    <a:pt x="40259" y="128016"/>
                  </a:lnTo>
                  <a:lnTo>
                    <a:pt x="40259" y="132080"/>
                  </a:lnTo>
                  <a:lnTo>
                    <a:pt x="52324" y="132080"/>
                  </a:lnTo>
                  <a:lnTo>
                    <a:pt x="52324" y="184531"/>
                  </a:lnTo>
                  <a:lnTo>
                    <a:pt x="36195" y="184531"/>
                  </a:lnTo>
                  <a:lnTo>
                    <a:pt x="40259" y="188595"/>
                  </a:lnTo>
                  <a:lnTo>
                    <a:pt x="52324" y="188595"/>
                  </a:lnTo>
                  <a:lnTo>
                    <a:pt x="52324" y="281432"/>
                  </a:lnTo>
                  <a:lnTo>
                    <a:pt x="16129" y="281432"/>
                  </a:lnTo>
                  <a:lnTo>
                    <a:pt x="16129" y="289560"/>
                  </a:lnTo>
                  <a:lnTo>
                    <a:pt x="8001" y="289560"/>
                  </a:lnTo>
                  <a:lnTo>
                    <a:pt x="8001" y="293624"/>
                  </a:lnTo>
                  <a:lnTo>
                    <a:pt x="0" y="293624"/>
                  </a:lnTo>
                  <a:lnTo>
                    <a:pt x="4064" y="297561"/>
                  </a:lnTo>
                  <a:lnTo>
                    <a:pt x="48260" y="297561"/>
                  </a:lnTo>
                  <a:lnTo>
                    <a:pt x="52324" y="321818"/>
                  </a:lnTo>
                  <a:lnTo>
                    <a:pt x="52324" y="342011"/>
                  </a:lnTo>
                  <a:lnTo>
                    <a:pt x="40259" y="342011"/>
                  </a:lnTo>
                  <a:lnTo>
                    <a:pt x="40259" y="346075"/>
                  </a:lnTo>
                  <a:lnTo>
                    <a:pt x="52324" y="346075"/>
                  </a:lnTo>
                  <a:lnTo>
                    <a:pt x="52324" y="406654"/>
                  </a:lnTo>
                  <a:lnTo>
                    <a:pt x="20066" y="406654"/>
                  </a:lnTo>
                  <a:lnTo>
                    <a:pt x="24130" y="410718"/>
                  </a:lnTo>
                  <a:lnTo>
                    <a:pt x="52324" y="414655"/>
                  </a:lnTo>
                  <a:lnTo>
                    <a:pt x="48260" y="600456"/>
                  </a:lnTo>
                  <a:lnTo>
                    <a:pt x="99758" y="592455"/>
                  </a:lnTo>
                  <a:lnTo>
                    <a:pt x="100584" y="592455"/>
                  </a:lnTo>
                  <a:lnTo>
                    <a:pt x="100584" y="144145"/>
                  </a:lnTo>
                  <a:close/>
                </a:path>
                <a:path w="131445" h="600710">
                  <a:moveTo>
                    <a:pt x="131064" y="12065"/>
                  </a:moveTo>
                  <a:lnTo>
                    <a:pt x="127508" y="8128"/>
                  </a:lnTo>
                  <a:lnTo>
                    <a:pt x="127508" y="4064"/>
                  </a:lnTo>
                  <a:lnTo>
                    <a:pt x="120396" y="0"/>
                  </a:lnTo>
                  <a:lnTo>
                    <a:pt x="123952" y="4064"/>
                  </a:lnTo>
                  <a:lnTo>
                    <a:pt x="123952" y="8128"/>
                  </a:lnTo>
                  <a:lnTo>
                    <a:pt x="127508" y="12065"/>
                  </a:lnTo>
                  <a:lnTo>
                    <a:pt x="127393" y="29222"/>
                  </a:lnTo>
                  <a:lnTo>
                    <a:pt x="120396" y="597408"/>
                  </a:lnTo>
                  <a:lnTo>
                    <a:pt x="123952" y="597408"/>
                  </a:lnTo>
                  <a:lnTo>
                    <a:pt x="130949" y="29222"/>
                  </a:lnTo>
                  <a:lnTo>
                    <a:pt x="131064" y="120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500372" y="3191321"/>
              <a:ext cx="254635" cy="45720"/>
            </a:xfrm>
            <a:custGeom>
              <a:avLst/>
              <a:gdLst/>
              <a:ahLst/>
              <a:cxnLst/>
              <a:rect l="l" t="t" r="r" b="b"/>
              <a:pathLst>
                <a:path w="254635" h="45719">
                  <a:moveTo>
                    <a:pt x="242442" y="33208"/>
                  </a:moveTo>
                  <a:lnTo>
                    <a:pt x="242442" y="37399"/>
                  </a:lnTo>
                  <a:lnTo>
                    <a:pt x="238378" y="37399"/>
                  </a:lnTo>
                  <a:lnTo>
                    <a:pt x="238378" y="41463"/>
                  </a:lnTo>
                  <a:lnTo>
                    <a:pt x="246379" y="41463"/>
                  </a:lnTo>
                  <a:lnTo>
                    <a:pt x="246379" y="45654"/>
                  </a:lnTo>
                  <a:lnTo>
                    <a:pt x="250443" y="45654"/>
                  </a:lnTo>
                  <a:lnTo>
                    <a:pt x="254507" y="41463"/>
                  </a:lnTo>
                  <a:lnTo>
                    <a:pt x="250443" y="37399"/>
                  </a:lnTo>
                  <a:lnTo>
                    <a:pt x="242442" y="33208"/>
                  </a:lnTo>
                  <a:close/>
                </a:path>
                <a:path w="254635" h="45719">
                  <a:moveTo>
                    <a:pt x="197992" y="16571"/>
                  </a:moveTo>
                  <a:lnTo>
                    <a:pt x="193928" y="16571"/>
                  </a:lnTo>
                  <a:lnTo>
                    <a:pt x="193928" y="20762"/>
                  </a:lnTo>
                  <a:lnTo>
                    <a:pt x="205283" y="26189"/>
                  </a:lnTo>
                  <a:lnTo>
                    <a:pt x="215137" y="30081"/>
                  </a:lnTo>
                  <a:lnTo>
                    <a:pt x="223468" y="32424"/>
                  </a:lnTo>
                  <a:lnTo>
                    <a:pt x="230250" y="33208"/>
                  </a:lnTo>
                  <a:lnTo>
                    <a:pt x="234314" y="37399"/>
                  </a:lnTo>
                  <a:lnTo>
                    <a:pt x="242442" y="37399"/>
                  </a:lnTo>
                  <a:lnTo>
                    <a:pt x="242442" y="33208"/>
                  </a:lnTo>
                  <a:lnTo>
                    <a:pt x="240033" y="31769"/>
                  </a:lnTo>
                  <a:lnTo>
                    <a:pt x="232314" y="27985"/>
                  </a:lnTo>
                  <a:lnTo>
                    <a:pt x="218547" y="22653"/>
                  </a:lnTo>
                  <a:lnTo>
                    <a:pt x="197992" y="16571"/>
                  </a:lnTo>
                  <a:close/>
                </a:path>
                <a:path w="254635" h="45719">
                  <a:moveTo>
                    <a:pt x="137413" y="4125"/>
                  </a:moveTo>
                  <a:lnTo>
                    <a:pt x="137413" y="8189"/>
                  </a:lnTo>
                  <a:lnTo>
                    <a:pt x="129286" y="8189"/>
                  </a:lnTo>
                  <a:lnTo>
                    <a:pt x="137413" y="12380"/>
                  </a:lnTo>
                  <a:lnTo>
                    <a:pt x="146464" y="13035"/>
                  </a:lnTo>
                  <a:lnTo>
                    <a:pt x="164613" y="15916"/>
                  </a:lnTo>
                  <a:lnTo>
                    <a:pt x="173736" y="16571"/>
                  </a:lnTo>
                  <a:lnTo>
                    <a:pt x="185800" y="20762"/>
                  </a:lnTo>
                  <a:lnTo>
                    <a:pt x="193928" y="20762"/>
                  </a:lnTo>
                  <a:lnTo>
                    <a:pt x="193928" y="16571"/>
                  </a:lnTo>
                  <a:lnTo>
                    <a:pt x="197992" y="16571"/>
                  </a:lnTo>
                  <a:lnTo>
                    <a:pt x="191920" y="14626"/>
                  </a:lnTo>
                  <a:lnTo>
                    <a:pt x="176752" y="10348"/>
                  </a:lnTo>
                  <a:lnTo>
                    <a:pt x="157059" y="6070"/>
                  </a:lnTo>
                  <a:lnTo>
                    <a:pt x="137413" y="4125"/>
                  </a:lnTo>
                  <a:close/>
                </a:path>
                <a:path w="254635" h="45719">
                  <a:moveTo>
                    <a:pt x="44450" y="4125"/>
                  </a:moveTo>
                  <a:lnTo>
                    <a:pt x="0" y="4125"/>
                  </a:lnTo>
                  <a:lnTo>
                    <a:pt x="0" y="12380"/>
                  </a:lnTo>
                  <a:lnTo>
                    <a:pt x="4063" y="8189"/>
                  </a:lnTo>
                  <a:lnTo>
                    <a:pt x="44450" y="8189"/>
                  </a:lnTo>
                  <a:lnTo>
                    <a:pt x="44450" y="4125"/>
                  </a:lnTo>
                  <a:close/>
                </a:path>
                <a:path w="254635" h="45719">
                  <a:moveTo>
                    <a:pt x="67312" y="0"/>
                  </a:moveTo>
                  <a:lnTo>
                    <a:pt x="52577" y="0"/>
                  </a:lnTo>
                  <a:lnTo>
                    <a:pt x="52577" y="4125"/>
                  </a:lnTo>
                  <a:lnTo>
                    <a:pt x="48513" y="4125"/>
                  </a:lnTo>
                  <a:lnTo>
                    <a:pt x="48513" y="8189"/>
                  </a:lnTo>
                  <a:lnTo>
                    <a:pt x="137413" y="8189"/>
                  </a:lnTo>
                  <a:lnTo>
                    <a:pt x="137413" y="4125"/>
                  </a:lnTo>
                  <a:lnTo>
                    <a:pt x="131151" y="3470"/>
                  </a:lnTo>
                  <a:lnTo>
                    <a:pt x="114649" y="2030"/>
                  </a:lnTo>
                  <a:lnTo>
                    <a:pt x="91336" y="589"/>
                  </a:lnTo>
                  <a:lnTo>
                    <a:pt x="67312" y="0"/>
                  </a:lnTo>
                  <a:close/>
                </a:path>
                <a:path w="254635" h="45719">
                  <a:moveTo>
                    <a:pt x="48513" y="0"/>
                  </a:moveTo>
                  <a:lnTo>
                    <a:pt x="36407" y="0"/>
                  </a:lnTo>
                  <a:lnTo>
                    <a:pt x="24717" y="458"/>
                  </a:lnTo>
                  <a:lnTo>
                    <a:pt x="13813" y="1702"/>
                  </a:lnTo>
                  <a:lnTo>
                    <a:pt x="4063" y="4125"/>
                  </a:lnTo>
                  <a:lnTo>
                    <a:pt x="48513" y="4125"/>
                  </a:lnTo>
                  <a:lnTo>
                    <a:pt x="48513" y="0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>
                <a:solidFill>
                  <a:srgbClr val="006FAB"/>
                </a:solidFill>
              </a:rPr>
              <a:t>7</a:t>
            </a:fld>
            <a:endParaRPr spc="-25">
              <a:solidFill>
                <a:srgbClr val="006FAB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945" rIns="0" bIns="0" rtlCol="0" anchor="t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lang="en-US">
                <a:solidFill>
                  <a:srgbClr val="000000"/>
                </a:solidFill>
                <a:latin typeface="Arial"/>
              </a:rPr>
              <a:t>Global</a:t>
            </a:r>
            <a:r>
              <a:rPr lang="en-US" spc="-45">
                <a:solidFill>
                  <a:srgbClr val="000000"/>
                </a:solidFill>
                <a:latin typeface="Arial"/>
              </a:rPr>
              <a:t> L</a:t>
            </a:r>
            <a:r>
              <a:rPr lang="en-US" spc="-10">
                <a:solidFill>
                  <a:srgbClr val="000000"/>
                </a:solidFill>
                <a:latin typeface="Arial"/>
              </a:rPr>
              <a:t>ow-C</a:t>
            </a:r>
            <a:r>
              <a:rPr lang="en-US">
                <a:solidFill>
                  <a:srgbClr val="000000"/>
                </a:solidFill>
                <a:latin typeface="Arial"/>
              </a:rPr>
              <a:t>arbon</a:t>
            </a:r>
            <a:r>
              <a:rPr lang="en-US" spc="-55">
                <a:solidFill>
                  <a:srgbClr val="000000"/>
                </a:solidFill>
                <a:latin typeface="Arial"/>
              </a:rPr>
              <a:t> F</a:t>
            </a:r>
            <a:r>
              <a:rPr lang="en-US">
                <a:solidFill>
                  <a:srgbClr val="000000"/>
                </a:solidFill>
                <a:latin typeface="Arial"/>
              </a:rPr>
              <a:t>uel</a:t>
            </a:r>
            <a:r>
              <a:rPr lang="en-US" spc="-20">
                <a:solidFill>
                  <a:srgbClr val="000000"/>
                </a:solidFill>
                <a:latin typeface="Arial"/>
              </a:rPr>
              <a:t> P</a:t>
            </a:r>
            <a:r>
              <a:rPr lang="en-US">
                <a:solidFill>
                  <a:srgbClr val="000000"/>
                </a:solidFill>
                <a:latin typeface="Arial"/>
              </a:rPr>
              <a:t>olicies</a:t>
            </a:r>
            <a:r>
              <a:rPr lang="en-US" spc="-50">
                <a:solidFill>
                  <a:srgbClr val="000000"/>
                </a:solidFill>
                <a:latin typeface="Arial"/>
              </a:rPr>
              <a:t> </a:t>
            </a:r>
            <a:r>
              <a:rPr lang="en-US">
                <a:solidFill>
                  <a:srgbClr val="000000"/>
                </a:solidFill>
                <a:latin typeface="Arial"/>
              </a:rPr>
              <a:t>are</a:t>
            </a:r>
            <a:r>
              <a:rPr lang="en-US" spc="-25">
                <a:solidFill>
                  <a:srgbClr val="000000"/>
                </a:solidFill>
                <a:latin typeface="Arial"/>
              </a:rPr>
              <a:t> D</a:t>
            </a:r>
            <a:r>
              <a:rPr lang="en-US">
                <a:solidFill>
                  <a:srgbClr val="000000"/>
                </a:solidFill>
                <a:latin typeface="Arial"/>
              </a:rPr>
              <a:t>riving</a:t>
            </a:r>
            <a:r>
              <a:rPr lang="en-US" spc="-45">
                <a:solidFill>
                  <a:srgbClr val="000000"/>
                </a:solidFill>
                <a:latin typeface="Arial"/>
              </a:rPr>
              <a:t> D</a:t>
            </a:r>
            <a:r>
              <a:rPr lang="en-US" spc="-10">
                <a:solidFill>
                  <a:srgbClr val="000000"/>
                </a:solidFill>
                <a:latin typeface="Arial"/>
              </a:rPr>
              <a:t>emand G</a:t>
            </a:r>
            <a:r>
              <a:rPr lang="en-US">
                <a:solidFill>
                  <a:srgbClr val="000000"/>
                </a:solidFill>
                <a:latin typeface="Arial"/>
              </a:rPr>
              <a:t>rowth</a:t>
            </a:r>
            <a:r>
              <a:rPr lang="en-US" spc="-125">
                <a:solidFill>
                  <a:srgbClr val="000000"/>
                </a:solidFill>
                <a:latin typeface="Arial"/>
              </a:rPr>
              <a:t> </a:t>
            </a:r>
            <a:r>
              <a:rPr lang="en-US">
                <a:solidFill>
                  <a:srgbClr val="000000"/>
                </a:solidFill>
                <a:latin typeface="Arial"/>
              </a:rPr>
              <a:t>for</a:t>
            </a:r>
            <a:r>
              <a:rPr lang="en-US" spc="-85">
                <a:solidFill>
                  <a:srgbClr val="000000"/>
                </a:solidFill>
                <a:latin typeface="Arial"/>
              </a:rPr>
              <a:t> R</a:t>
            </a:r>
            <a:r>
              <a:rPr lang="en-US">
                <a:solidFill>
                  <a:srgbClr val="000000"/>
                </a:solidFill>
                <a:latin typeface="Arial"/>
              </a:rPr>
              <a:t>enewable</a:t>
            </a:r>
            <a:r>
              <a:rPr lang="en-US" spc="-105">
                <a:solidFill>
                  <a:srgbClr val="000000"/>
                </a:solidFill>
                <a:latin typeface="Arial"/>
              </a:rPr>
              <a:t> D</a:t>
            </a:r>
            <a:r>
              <a:rPr lang="en-US" spc="-10">
                <a:solidFill>
                  <a:srgbClr val="000000"/>
                </a:solidFill>
                <a:latin typeface="Arial"/>
              </a:rPr>
              <a:t>iesel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>
                <a:solidFill>
                  <a:srgbClr val="006FAB"/>
                </a:solidFill>
              </a:rPr>
              <a:t>8</a:t>
            </a:fld>
            <a:endParaRPr spc="-25">
              <a:solidFill>
                <a:srgbClr val="006FAB"/>
              </a:solidFill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57060" y="1643633"/>
          <a:ext cx="9230358" cy="4780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6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397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71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340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348F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2030</a:t>
                      </a:r>
                      <a:r>
                        <a:rPr sz="1400" b="1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GHG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85725" marR="78740" indent="-190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b="1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Emissions Reduction Target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348F41"/>
                    </a:solidFill>
                  </a:tcPr>
                </a:tc>
                <a:tc>
                  <a:txBody>
                    <a:bodyPr/>
                    <a:lstStyle/>
                    <a:p>
                      <a:pPr marL="259079" marR="249554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400" b="1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Net-</a:t>
                      </a:r>
                      <a:r>
                        <a:rPr sz="1400" b="1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zero </a:t>
                      </a:r>
                      <a:r>
                        <a:rPr sz="1400" b="1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GHG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Emissions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Target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348F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090295" marR="245110" indent="-8369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Primary</a:t>
                      </a:r>
                      <a:r>
                        <a:rPr sz="1400" b="1" spc="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Transportation </a:t>
                      </a: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Fuel </a:t>
                      </a:r>
                      <a:r>
                        <a:rPr sz="1400" b="1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Policy Mechanism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348F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921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2030</a:t>
                      </a:r>
                      <a:r>
                        <a:rPr sz="1400" b="1" spc="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Transportation</a:t>
                      </a:r>
                      <a:r>
                        <a:rPr sz="1400" b="1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Fuels </a:t>
                      </a:r>
                      <a:r>
                        <a:rPr sz="1400" b="1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Goal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4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348F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b="1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California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2075" marB="0">
                    <a:lnL w="12700">
                      <a:solidFill>
                        <a:srgbClr val="7E7E7E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AB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40%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2075" marB="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C4F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Net-zero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by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2045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2075" marB="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C4F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Low Carbon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Fuel</a:t>
                      </a:r>
                      <a:r>
                        <a:rPr sz="1200" spc="-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Standard</a:t>
                      </a:r>
                      <a:r>
                        <a:rPr sz="1200" spc="-3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(LCFS)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2075" marB="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C4F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7720" marR="22860" indent="-7804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Reduce</a:t>
                      </a:r>
                      <a:r>
                        <a:rPr sz="1200" spc="-3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3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carbon</a:t>
                      </a:r>
                      <a:r>
                        <a:rPr sz="1200" spc="-4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intensity</a:t>
                      </a:r>
                      <a:r>
                        <a:rPr sz="1200" spc="-6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transportation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fuels</a:t>
                      </a:r>
                      <a:r>
                        <a:rPr sz="1200" spc="-3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by</a:t>
                      </a:r>
                      <a:r>
                        <a:rPr sz="1200" spc="-4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at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least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30%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C4F0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38100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b="1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Canada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2075" marB="0">
                    <a:lnL w="12700">
                      <a:solidFill>
                        <a:srgbClr val="7E7E7E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40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45%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2075" marB="0">
                    <a:lnT w="12700">
                      <a:solidFill>
                        <a:srgbClr val="C4F0FF"/>
                      </a:solidFill>
                      <a:prstDash val="solid"/>
                    </a:lnT>
                    <a:lnB w="12700">
                      <a:solidFill>
                        <a:srgbClr val="C4F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Net-zero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by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2050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2075" marB="0">
                    <a:lnT w="12700">
                      <a:solidFill>
                        <a:srgbClr val="C4F0FF"/>
                      </a:solidFill>
                      <a:prstDash val="solid"/>
                    </a:lnT>
                    <a:lnB w="12700">
                      <a:solidFill>
                        <a:srgbClr val="C4F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Clean Fuel 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Regulations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(CFR)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2075" marB="0">
                    <a:lnT w="12700">
                      <a:solidFill>
                        <a:srgbClr val="C4F0FF"/>
                      </a:solidFill>
                      <a:prstDash val="solid"/>
                    </a:lnT>
                    <a:lnB w="12700">
                      <a:solidFill>
                        <a:srgbClr val="C4F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9655" marR="22860" indent="-10229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Reduce</a:t>
                      </a:r>
                      <a:r>
                        <a:rPr sz="1200" spc="-3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3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carbon</a:t>
                      </a:r>
                      <a:r>
                        <a:rPr sz="1200" spc="-4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intensity</a:t>
                      </a:r>
                      <a:r>
                        <a:rPr sz="1200" spc="-6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transportation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fuels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by</a:t>
                      </a:r>
                      <a:r>
                        <a:rPr sz="12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15%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C4F0FF"/>
                      </a:solidFill>
                      <a:prstDash val="solid"/>
                    </a:lnT>
                    <a:lnB w="12700">
                      <a:solidFill>
                        <a:srgbClr val="C4F0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EU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255" marB="0">
                    <a:lnL w="12700">
                      <a:solidFill>
                        <a:srgbClr val="7E7E7E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2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55%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255" marB="0">
                    <a:lnT w="12700">
                      <a:solidFill>
                        <a:srgbClr val="C4F0FF"/>
                      </a:solidFill>
                      <a:prstDash val="solid"/>
                    </a:lnT>
                    <a:lnB w="12700">
                      <a:solidFill>
                        <a:srgbClr val="C4F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Net-zero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by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2050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255" marB="0">
                    <a:lnT w="12700">
                      <a:solidFill>
                        <a:srgbClr val="C4F0FF"/>
                      </a:solidFill>
                      <a:prstDash val="solid"/>
                    </a:lnT>
                    <a:lnB w="12700">
                      <a:solidFill>
                        <a:srgbClr val="C4F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Renewable</a:t>
                      </a:r>
                      <a:r>
                        <a:rPr sz="1200" spc="-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Energy</a:t>
                      </a:r>
                      <a:r>
                        <a:rPr sz="1200" spc="-3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Directive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III</a:t>
                      </a:r>
                      <a:r>
                        <a:rPr sz="1200" spc="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(RED</a:t>
                      </a:r>
                      <a:r>
                        <a:rPr sz="1200" spc="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III)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255" marB="0">
                    <a:lnT w="12700">
                      <a:solidFill>
                        <a:srgbClr val="C4F0FF"/>
                      </a:solidFill>
                      <a:prstDash val="solid"/>
                    </a:lnT>
                    <a:lnB w="12700">
                      <a:solidFill>
                        <a:srgbClr val="C4F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5420" marR="175260" indent="-444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Replace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29%</a:t>
                      </a:r>
                      <a:r>
                        <a:rPr sz="1200" spc="-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transport</a:t>
                      </a:r>
                      <a:r>
                        <a:rPr sz="1200" spc="-5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fuels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with 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renewable</a:t>
                      </a:r>
                      <a:r>
                        <a:rPr sz="1200" spc="-4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energy,</a:t>
                      </a:r>
                      <a:r>
                        <a:rPr sz="1200" spc="-3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or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reduce</a:t>
                      </a:r>
                      <a:r>
                        <a:rPr sz="1200" spc="-3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sector</a:t>
                      </a:r>
                      <a:r>
                        <a:rPr sz="1200" spc="-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GHG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intensity</a:t>
                      </a:r>
                      <a:r>
                        <a:rPr sz="1200" spc="-5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by</a:t>
                      </a:r>
                      <a:r>
                        <a:rPr sz="1200" spc="-4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14.5%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C4F0FF"/>
                      </a:solidFill>
                      <a:prstDash val="solid"/>
                    </a:lnT>
                    <a:lnB w="12700">
                      <a:solidFill>
                        <a:srgbClr val="C4F0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b="1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UK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2075" marB="0">
                    <a:lnL w="12700">
                      <a:solidFill>
                        <a:srgbClr val="7E7E7E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AB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68%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2075" marB="0">
                    <a:lnT w="12700">
                      <a:solidFill>
                        <a:srgbClr val="C4F0FF"/>
                      </a:solidFill>
                      <a:prstDash val="solid"/>
                    </a:lnT>
                    <a:lnB w="12700">
                      <a:solidFill>
                        <a:srgbClr val="C4F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Net-zero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by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2050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2075" marB="0">
                    <a:lnT w="12700">
                      <a:solidFill>
                        <a:srgbClr val="C4F0FF"/>
                      </a:solidFill>
                      <a:prstDash val="solid"/>
                    </a:lnT>
                    <a:lnB w="12700">
                      <a:solidFill>
                        <a:srgbClr val="C4F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Renewable</a:t>
                      </a:r>
                      <a:r>
                        <a:rPr sz="1200" spc="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Transport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Fuel</a:t>
                      </a:r>
                      <a:r>
                        <a:rPr sz="1200" spc="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Obligation</a:t>
                      </a:r>
                      <a:r>
                        <a:rPr sz="1200" spc="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(RTFO)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2075" marB="0">
                    <a:lnT w="12700">
                      <a:solidFill>
                        <a:srgbClr val="C4F0FF"/>
                      </a:solidFill>
                      <a:prstDash val="solid"/>
                    </a:lnT>
                    <a:lnB w="12700">
                      <a:solidFill>
                        <a:srgbClr val="C4F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0" marR="332740" indent="-6083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Replace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19%</a:t>
                      </a:r>
                      <a:r>
                        <a:rPr sz="1200" spc="-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transport</a:t>
                      </a:r>
                      <a:r>
                        <a:rPr sz="1200" spc="-5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fuels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with 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renewable</a:t>
                      </a:r>
                      <a:r>
                        <a:rPr sz="1200" spc="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fuels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C4F0FF"/>
                      </a:solidFill>
                      <a:prstDash val="solid"/>
                    </a:lnT>
                    <a:lnB w="12700">
                      <a:solidFill>
                        <a:srgbClr val="C4F0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432434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200" b="1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Oregon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7E7E7E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A4D9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Clean</a:t>
                      </a:r>
                      <a:r>
                        <a:rPr sz="12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Fuels</a:t>
                      </a:r>
                      <a:r>
                        <a:rPr sz="12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Program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requires</a:t>
                      </a:r>
                      <a:r>
                        <a:rPr sz="1200" spc="-4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20%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carbon</a:t>
                      </a:r>
                      <a:r>
                        <a:rPr sz="1200" spc="-3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intensity</a:t>
                      </a:r>
                      <a:r>
                        <a:rPr sz="1200" spc="-5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reduction</a:t>
                      </a:r>
                      <a:r>
                        <a:rPr sz="1200" spc="-3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by</a:t>
                      </a:r>
                      <a:r>
                        <a:rPr sz="1200" spc="-4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2030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3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37%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reduction</a:t>
                      </a:r>
                      <a:r>
                        <a:rPr sz="1200" spc="-5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by</a:t>
                      </a:r>
                      <a:r>
                        <a:rPr sz="1200" spc="-4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2035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C4F0FF"/>
                      </a:solidFill>
                      <a:prstDash val="solid"/>
                    </a:lnT>
                    <a:lnB w="12700">
                      <a:solidFill>
                        <a:srgbClr val="C4F0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27432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New</a:t>
                      </a:r>
                      <a:r>
                        <a:rPr sz="1200" b="1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Mexico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7E7E7E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A4D9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Clean</a:t>
                      </a:r>
                      <a:r>
                        <a:rPr sz="1200" spc="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Transportation</a:t>
                      </a:r>
                      <a:r>
                        <a:rPr sz="12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Fuel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Standard,</a:t>
                      </a:r>
                      <a:r>
                        <a:rPr sz="1200" spc="-3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targeting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20%</a:t>
                      </a:r>
                      <a:r>
                        <a:rPr sz="1200" spc="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carbon intensity</a:t>
                      </a:r>
                      <a:r>
                        <a:rPr sz="12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reduction</a:t>
                      </a:r>
                      <a:r>
                        <a:rPr sz="1200" spc="-3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by 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2030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C4F0FF"/>
                      </a:solidFill>
                      <a:prstDash val="solid"/>
                    </a:lnT>
                    <a:lnB w="12700">
                      <a:solidFill>
                        <a:srgbClr val="C4F0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10033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b="1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Washington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102870" algn="ctr">
                        <a:lnSpc>
                          <a:spcPct val="100000"/>
                        </a:lnSpc>
                      </a:pPr>
                      <a:r>
                        <a:rPr sz="1200" b="1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7E7E7E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A4D9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Clean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Fuel</a:t>
                      </a:r>
                      <a:r>
                        <a:rPr sz="12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Standard</a:t>
                      </a:r>
                      <a:r>
                        <a:rPr sz="1200" spc="-5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requires</a:t>
                      </a:r>
                      <a:r>
                        <a:rPr sz="1200" spc="-4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20%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carbon</a:t>
                      </a:r>
                      <a:r>
                        <a:rPr sz="1200" spc="-3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intensity</a:t>
                      </a:r>
                      <a:r>
                        <a:rPr sz="1200" spc="-5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reduction</a:t>
                      </a:r>
                      <a:r>
                        <a:rPr sz="1200" spc="-4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by</a:t>
                      </a:r>
                      <a:r>
                        <a:rPr sz="1200" spc="-3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2034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3189" marB="0"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C4F0FF"/>
                      </a:solidFill>
                      <a:prstDash val="solid"/>
                    </a:lnT>
                    <a:lnB w="12700">
                      <a:solidFill>
                        <a:srgbClr val="C4F0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6405">
                <a:tc>
                  <a:txBody>
                    <a:bodyPr/>
                    <a:lstStyle/>
                    <a:p>
                      <a:pPr marL="10160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b="1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British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10160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b="1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Columbia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7E7E7E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A4D9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Low</a:t>
                      </a:r>
                      <a:r>
                        <a:rPr sz="12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Carbon</a:t>
                      </a:r>
                      <a:r>
                        <a:rPr sz="12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Fuel</a:t>
                      </a:r>
                      <a:r>
                        <a:rPr sz="12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Standard</a:t>
                      </a:r>
                      <a:r>
                        <a:rPr sz="1200" spc="-5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requires</a:t>
                      </a:r>
                      <a:r>
                        <a:rPr sz="1200" spc="-5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30%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carbon</a:t>
                      </a:r>
                      <a:r>
                        <a:rPr sz="1200" spc="-3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intensity</a:t>
                      </a:r>
                      <a:r>
                        <a:rPr sz="1200" spc="-5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reduction</a:t>
                      </a:r>
                      <a:r>
                        <a:rPr sz="1200" spc="-4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by</a:t>
                      </a:r>
                      <a:r>
                        <a:rPr sz="1200" spc="-4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2030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3825" marB="0"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C4F0FF"/>
                      </a:solidFill>
                      <a:prstDash val="solid"/>
                    </a:lnT>
                    <a:lnB w="12700">
                      <a:solidFill>
                        <a:srgbClr val="C4F0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41910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200" b="1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Norway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7E7E7E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A4D9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Biodiesel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blending</a:t>
                      </a:r>
                      <a:r>
                        <a:rPr sz="1200" spc="-5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mandate</a:t>
                      </a:r>
                      <a:r>
                        <a:rPr sz="1200" spc="-4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33%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by</a:t>
                      </a:r>
                      <a:r>
                        <a:rPr sz="1200" spc="-4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2030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C4F0FF"/>
                      </a:solidFill>
                      <a:prstDash val="solid"/>
                    </a:lnT>
                    <a:lnB w="12700">
                      <a:solidFill>
                        <a:srgbClr val="C4F0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6405">
                <a:tc>
                  <a:txBody>
                    <a:bodyPr/>
                    <a:lstStyle/>
                    <a:p>
                      <a:pPr marL="38100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200" b="1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Potential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429895">
                        <a:lnSpc>
                          <a:spcPct val="100000"/>
                        </a:lnSpc>
                      </a:pPr>
                      <a:r>
                        <a:rPr sz="1200" b="1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Policies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7E7E7E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Hawaii,</a:t>
                      </a:r>
                      <a:r>
                        <a:rPr sz="1200" spc="-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Illinois,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Massachusetts,</a:t>
                      </a:r>
                      <a:r>
                        <a:rPr sz="12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Michigan,</a:t>
                      </a:r>
                      <a:r>
                        <a:rPr sz="1200" spc="-3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Minnesota,</a:t>
                      </a:r>
                      <a:r>
                        <a:rPr sz="1200" spc="-4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New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Jersey,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New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York,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Nevada</a:t>
                      </a:r>
                      <a:r>
                        <a:rPr sz="1200" spc="-5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3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Vermont</a:t>
                      </a:r>
                      <a:r>
                        <a:rPr sz="1200" spc="-4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are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considering</a:t>
                      </a:r>
                      <a:r>
                        <a:rPr sz="1200" spc="-4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low-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carbon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fuel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programs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C4F0FF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0161523" y="2092197"/>
            <a:ext cx="1562100" cy="3926204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 marR="48895">
              <a:lnSpc>
                <a:spcPct val="74100"/>
              </a:lnSpc>
              <a:spcBef>
                <a:spcPts val="660"/>
              </a:spcBef>
            </a:pPr>
            <a:r>
              <a:rPr sz="1800" b="1">
                <a:solidFill>
                  <a:srgbClr val="006FAB"/>
                </a:solidFill>
                <a:latin typeface="Calibri"/>
                <a:cs typeface="Calibri"/>
              </a:rPr>
              <a:t>Up</a:t>
            </a:r>
            <a:r>
              <a:rPr sz="1800" b="1" spc="-25">
                <a:solidFill>
                  <a:srgbClr val="006FAB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006FAB"/>
                </a:solidFill>
                <a:latin typeface="Calibri"/>
                <a:cs typeface="Calibri"/>
              </a:rPr>
              <a:t>to</a:t>
            </a:r>
            <a:r>
              <a:rPr sz="1800" b="1" spc="-10">
                <a:solidFill>
                  <a:srgbClr val="006FAB"/>
                </a:solidFill>
                <a:latin typeface="Calibri"/>
                <a:cs typeface="Calibri"/>
              </a:rPr>
              <a:t> </a:t>
            </a:r>
            <a:r>
              <a:rPr sz="1800" b="1" spc="-25">
                <a:solidFill>
                  <a:srgbClr val="006FAB"/>
                </a:solidFill>
                <a:latin typeface="Calibri"/>
                <a:cs typeface="Calibri"/>
              </a:rPr>
              <a:t>80% </a:t>
            </a:r>
            <a:r>
              <a:rPr sz="1800" b="1">
                <a:solidFill>
                  <a:srgbClr val="006FAB"/>
                </a:solidFill>
                <a:latin typeface="Calibri"/>
                <a:cs typeface="Calibri"/>
              </a:rPr>
              <a:t>reduction</a:t>
            </a:r>
            <a:r>
              <a:rPr sz="1800" b="1" spc="-40">
                <a:solidFill>
                  <a:srgbClr val="006FAB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006FAB"/>
                </a:solidFill>
                <a:latin typeface="Calibri"/>
                <a:cs typeface="Calibri"/>
              </a:rPr>
              <a:t>in</a:t>
            </a:r>
            <a:r>
              <a:rPr sz="1800" b="1" spc="-15">
                <a:solidFill>
                  <a:srgbClr val="006FAB"/>
                </a:solidFill>
                <a:latin typeface="Calibri"/>
                <a:cs typeface="Calibri"/>
              </a:rPr>
              <a:t> </a:t>
            </a:r>
            <a:r>
              <a:rPr sz="1800" b="1" spc="-20">
                <a:solidFill>
                  <a:srgbClr val="006FAB"/>
                </a:solidFill>
                <a:latin typeface="Calibri"/>
                <a:cs typeface="Calibri"/>
              </a:rPr>
              <a:t>life </a:t>
            </a:r>
            <a:r>
              <a:rPr sz="1800" b="1">
                <a:solidFill>
                  <a:srgbClr val="006FAB"/>
                </a:solidFill>
                <a:latin typeface="Calibri"/>
                <a:cs typeface="Calibri"/>
              </a:rPr>
              <a:t>cycle</a:t>
            </a:r>
            <a:r>
              <a:rPr sz="1800" b="1" spc="-65">
                <a:solidFill>
                  <a:srgbClr val="006FAB"/>
                </a:solidFill>
                <a:latin typeface="Calibri"/>
                <a:cs typeface="Calibri"/>
              </a:rPr>
              <a:t> </a:t>
            </a:r>
            <a:r>
              <a:rPr sz="1800" b="1" spc="-25">
                <a:solidFill>
                  <a:srgbClr val="006FAB"/>
                </a:solidFill>
                <a:latin typeface="Calibri"/>
                <a:cs typeface="Calibri"/>
              </a:rPr>
              <a:t>GHG </a:t>
            </a:r>
            <a:r>
              <a:rPr sz="1800" b="1" spc="-10">
                <a:solidFill>
                  <a:srgbClr val="006FAB"/>
                </a:solidFill>
                <a:latin typeface="Calibri"/>
                <a:cs typeface="Calibri"/>
              </a:rPr>
              <a:t>emissions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60"/>
              </a:spcBef>
            </a:pPr>
            <a:endParaRPr sz="1800">
              <a:latin typeface="Calibri"/>
              <a:cs typeface="Calibri"/>
            </a:endParaRPr>
          </a:p>
          <a:p>
            <a:pPr marL="12700" marR="5080">
              <a:lnSpc>
                <a:spcPts val="1800"/>
              </a:lnSpc>
            </a:pPr>
            <a:r>
              <a:rPr sz="1800" b="1" spc="-10">
                <a:solidFill>
                  <a:srgbClr val="006FAB"/>
                </a:solidFill>
                <a:latin typeface="Calibri"/>
                <a:cs typeface="Calibri"/>
              </a:rPr>
              <a:t>Cost-effective </a:t>
            </a:r>
            <a:r>
              <a:rPr sz="1800" b="1">
                <a:solidFill>
                  <a:srgbClr val="006FAB"/>
                </a:solidFill>
                <a:latin typeface="Calibri"/>
                <a:cs typeface="Calibri"/>
              </a:rPr>
              <a:t>fuel</a:t>
            </a:r>
            <a:r>
              <a:rPr sz="1800" b="1" spc="-25">
                <a:solidFill>
                  <a:srgbClr val="006FAB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006FAB"/>
                </a:solidFill>
                <a:latin typeface="Calibri"/>
                <a:cs typeface="Calibri"/>
              </a:rPr>
              <a:t>that</a:t>
            </a:r>
            <a:r>
              <a:rPr sz="1800" b="1" spc="-25">
                <a:solidFill>
                  <a:srgbClr val="006FAB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006FAB"/>
                </a:solidFill>
                <a:latin typeface="Calibri"/>
                <a:cs typeface="Calibri"/>
              </a:rPr>
              <a:t>can</a:t>
            </a:r>
            <a:r>
              <a:rPr sz="1800" b="1" spc="-20">
                <a:solidFill>
                  <a:srgbClr val="006FAB"/>
                </a:solidFill>
                <a:latin typeface="Calibri"/>
                <a:cs typeface="Calibri"/>
              </a:rPr>
              <a:t> </a:t>
            </a:r>
            <a:r>
              <a:rPr sz="1800" b="1" spc="-25">
                <a:solidFill>
                  <a:srgbClr val="006FAB"/>
                </a:solidFill>
                <a:latin typeface="Calibri"/>
                <a:cs typeface="Calibri"/>
              </a:rPr>
              <a:t>be </a:t>
            </a:r>
            <a:r>
              <a:rPr sz="1800" b="1">
                <a:solidFill>
                  <a:srgbClr val="006FAB"/>
                </a:solidFill>
                <a:latin typeface="Calibri"/>
                <a:cs typeface="Calibri"/>
              </a:rPr>
              <a:t>used</a:t>
            </a:r>
            <a:r>
              <a:rPr sz="1800" b="1" spc="-35">
                <a:solidFill>
                  <a:srgbClr val="006FAB"/>
                </a:solidFill>
                <a:latin typeface="Calibri"/>
                <a:cs typeface="Calibri"/>
              </a:rPr>
              <a:t> </a:t>
            </a:r>
            <a:r>
              <a:rPr sz="1800" b="1" spc="-20">
                <a:solidFill>
                  <a:srgbClr val="006FAB"/>
                </a:solidFill>
                <a:latin typeface="Calibri"/>
                <a:cs typeface="Calibri"/>
              </a:rPr>
              <a:t>with </a:t>
            </a:r>
            <a:r>
              <a:rPr sz="1800" b="1">
                <a:solidFill>
                  <a:srgbClr val="006FAB"/>
                </a:solidFill>
                <a:latin typeface="Calibri"/>
                <a:cs typeface="Calibri"/>
              </a:rPr>
              <a:t>existing</a:t>
            </a:r>
            <a:r>
              <a:rPr sz="1800" b="1" spc="-70">
                <a:solidFill>
                  <a:srgbClr val="006FAB"/>
                </a:solidFill>
                <a:latin typeface="Calibri"/>
                <a:cs typeface="Calibri"/>
              </a:rPr>
              <a:t> </a:t>
            </a:r>
            <a:r>
              <a:rPr sz="1800" b="1" spc="-10">
                <a:solidFill>
                  <a:srgbClr val="006FAB"/>
                </a:solidFill>
                <a:latin typeface="Calibri"/>
                <a:cs typeface="Calibri"/>
              </a:rPr>
              <a:t>vehicles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95"/>
              </a:spcBef>
            </a:pPr>
            <a:endParaRPr sz="1800">
              <a:latin typeface="Calibri"/>
              <a:cs typeface="Calibri"/>
            </a:endParaRPr>
          </a:p>
          <a:p>
            <a:pPr marL="12700" marR="238760">
              <a:lnSpc>
                <a:spcPts val="1800"/>
              </a:lnSpc>
            </a:pPr>
            <a:r>
              <a:rPr sz="1800" b="1" spc="-10">
                <a:solidFill>
                  <a:srgbClr val="006FAB"/>
                </a:solidFill>
                <a:latin typeface="Calibri"/>
                <a:cs typeface="Calibri"/>
              </a:rPr>
              <a:t>Drop-</a:t>
            </a:r>
            <a:r>
              <a:rPr sz="1800" b="1">
                <a:solidFill>
                  <a:srgbClr val="006FAB"/>
                </a:solidFill>
                <a:latin typeface="Calibri"/>
                <a:cs typeface="Calibri"/>
              </a:rPr>
              <a:t>in</a:t>
            </a:r>
            <a:r>
              <a:rPr sz="1800" b="1" spc="-15">
                <a:solidFill>
                  <a:srgbClr val="006FAB"/>
                </a:solidFill>
                <a:latin typeface="Calibri"/>
                <a:cs typeface="Calibri"/>
              </a:rPr>
              <a:t> </a:t>
            </a:r>
            <a:r>
              <a:rPr sz="1800" b="1" spc="-20">
                <a:solidFill>
                  <a:srgbClr val="006FAB"/>
                </a:solidFill>
                <a:latin typeface="Calibri"/>
                <a:cs typeface="Calibri"/>
              </a:rPr>
              <a:t>fuel </a:t>
            </a:r>
            <a:r>
              <a:rPr sz="1800" b="1">
                <a:solidFill>
                  <a:srgbClr val="006FAB"/>
                </a:solidFill>
                <a:latin typeface="Calibri"/>
                <a:cs typeface="Calibri"/>
              </a:rPr>
              <a:t>that</a:t>
            </a:r>
            <a:r>
              <a:rPr sz="1800" b="1" spc="-25">
                <a:solidFill>
                  <a:srgbClr val="006FAB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006FAB"/>
                </a:solidFill>
                <a:latin typeface="Calibri"/>
                <a:cs typeface="Calibri"/>
              </a:rPr>
              <a:t>does</a:t>
            </a:r>
            <a:r>
              <a:rPr sz="1800" b="1" spc="-45">
                <a:solidFill>
                  <a:srgbClr val="006FAB"/>
                </a:solidFill>
                <a:latin typeface="Calibri"/>
                <a:cs typeface="Calibri"/>
              </a:rPr>
              <a:t> </a:t>
            </a:r>
            <a:r>
              <a:rPr sz="1800" b="1" spc="-25">
                <a:solidFill>
                  <a:srgbClr val="006FAB"/>
                </a:solidFill>
                <a:latin typeface="Calibri"/>
                <a:cs typeface="Calibri"/>
              </a:rPr>
              <a:t>not </a:t>
            </a:r>
            <a:r>
              <a:rPr sz="1800" b="1" spc="-10">
                <a:solidFill>
                  <a:srgbClr val="006FAB"/>
                </a:solidFill>
                <a:latin typeface="Calibri"/>
                <a:cs typeface="Calibri"/>
              </a:rPr>
              <a:t>require infrastructure investments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44100" y="6440423"/>
            <a:ext cx="1447800" cy="25603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423416"/>
            <a:ext cx="1693545" cy="58419"/>
          </a:xfrm>
          <a:custGeom>
            <a:avLst/>
            <a:gdLst/>
            <a:ahLst/>
            <a:cxnLst/>
            <a:rect l="l" t="t" r="r" b="b"/>
            <a:pathLst>
              <a:path w="1693545" h="58419">
                <a:moveTo>
                  <a:pt x="1693418" y="0"/>
                </a:moveTo>
                <a:lnTo>
                  <a:pt x="0" y="0"/>
                </a:lnTo>
                <a:lnTo>
                  <a:pt x="0" y="57911"/>
                </a:lnTo>
                <a:lnTo>
                  <a:pt x="1693418" y="57911"/>
                </a:lnTo>
                <a:lnTo>
                  <a:pt x="1693418" y="0"/>
                </a:lnTo>
                <a:close/>
              </a:path>
            </a:pathLst>
          </a:custGeom>
          <a:solidFill>
            <a:srgbClr val="FFC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04416" y="1452372"/>
            <a:ext cx="546100" cy="0"/>
          </a:xfrm>
          <a:custGeom>
            <a:avLst/>
            <a:gdLst/>
            <a:ahLst/>
            <a:cxnLst/>
            <a:rect l="l" t="t" r="r" b="b"/>
            <a:pathLst>
              <a:path w="546100">
                <a:moveTo>
                  <a:pt x="0" y="0"/>
                </a:moveTo>
                <a:lnTo>
                  <a:pt x="545719" y="0"/>
                </a:lnTo>
              </a:path>
            </a:pathLst>
          </a:custGeom>
          <a:ln w="57912">
            <a:solidFill>
              <a:srgbClr val="FFC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55164" y="1444752"/>
            <a:ext cx="7080250" cy="8255"/>
          </a:xfrm>
          <a:custGeom>
            <a:avLst/>
            <a:gdLst/>
            <a:ahLst/>
            <a:cxnLst/>
            <a:rect l="l" t="t" r="r" b="b"/>
            <a:pathLst>
              <a:path w="7080250" h="8255">
                <a:moveTo>
                  <a:pt x="0" y="0"/>
                </a:moveTo>
                <a:lnTo>
                  <a:pt x="7080123" y="8000"/>
                </a:lnTo>
              </a:path>
            </a:pathLst>
          </a:custGeom>
          <a:ln w="6096">
            <a:solidFill>
              <a:srgbClr val="006F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5759" y="108204"/>
            <a:ext cx="134111" cy="13411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3880" y="108204"/>
            <a:ext cx="134112" cy="13411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2668" y="108204"/>
            <a:ext cx="134112" cy="13411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79932" y="108204"/>
            <a:ext cx="134112" cy="134112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9811511" y="-2"/>
            <a:ext cx="2380488" cy="6858001"/>
            <a:chOff x="9811511" y="-2"/>
            <a:chExt cx="2380488" cy="6858001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75519" y="6278879"/>
              <a:ext cx="1586483" cy="57912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811511" y="-2"/>
              <a:ext cx="2380488" cy="685800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75519" y="6278879"/>
              <a:ext cx="1586483" cy="57912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6540245" y="6633464"/>
            <a:ext cx="2634615" cy="132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94"/>
              </a:lnSpc>
            </a:pPr>
            <a:r>
              <a:rPr sz="750" baseline="27777">
                <a:solidFill>
                  <a:srgbClr val="585858"/>
                </a:solidFill>
                <a:latin typeface="Calibri"/>
                <a:cs typeface="Calibri"/>
              </a:rPr>
              <a:t>(2)</a:t>
            </a:r>
            <a:r>
              <a:rPr sz="800">
                <a:solidFill>
                  <a:srgbClr val="585858"/>
                </a:solidFill>
                <a:latin typeface="Calibri"/>
                <a:cs typeface="Calibri"/>
              </a:rPr>
              <a:t>Members of</a:t>
            </a:r>
            <a:r>
              <a:rPr sz="8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800">
                <a:solidFill>
                  <a:srgbClr val="585858"/>
                </a:solidFill>
                <a:latin typeface="Calibri"/>
                <a:cs typeface="Calibri"/>
              </a:rPr>
              <a:t>the</a:t>
            </a:r>
            <a:r>
              <a:rPr sz="8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800">
                <a:solidFill>
                  <a:srgbClr val="585858"/>
                </a:solidFill>
                <a:latin typeface="Calibri"/>
                <a:cs typeface="Calibri"/>
              </a:rPr>
              <a:t>EU</a:t>
            </a:r>
            <a:r>
              <a:rPr sz="8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800">
                <a:solidFill>
                  <a:srgbClr val="585858"/>
                </a:solidFill>
                <a:latin typeface="Calibri"/>
                <a:cs typeface="Calibri"/>
              </a:rPr>
              <a:t>and</a:t>
            </a:r>
            <a:r>
              <a:rPr sz="8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800">
                <a:solidFill>
                  <a:srgbClr val="585858"/>
                </a:solidFill>
                <a:latin typeface="Calibri"/>
                <a:cs typeface="Calibri"/>
              </a:rPr>
              <a:t>will be</a:t>
            </a:r>
            <a:r>
              <a:rPr sz="8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800">
                <a:solidFill>
                  <a:srgbClr val="585858"/>
                </a:solidFill>
                <a:latin typeface="Calibri"/>
                <a:cs typeface="Calibri"/>
              </a:rPr>
              <a:t>covered</a:t>
            </a:r>
            <a:r>
              <a:rPr sz="800" spc="-1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800">
                <a:solidFill>
                  <a:srgbClr val="585858"/>
                </a:solidFill>
                <a:latin typeface="Calibri"/>
                <a:cs typeface="Calibri"/>
              </a:rPr>
              <a:t>by</a:t>
            </a:r>
            <a:r>
              <a:rPr sz="8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800">
                <a:solidFill>
                  <a:srgbClr val="585858"/>
                </a:solidFill>
                <a:latin typeface="Calibri"/>
                <a:cs typeface="Calibri"/>
              </a:rPr>
              <a:t>REFuelEU</a:t>
            </a:r>
            <a:r>
              <a:rPr sz="8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800" spc="-10">
                <a:solidFill>
                  <a:srgbClr val="585858"/>
                </a:solidFill>
                <a:latin typeface="Calibri"/>
                <a:cs typeface="Calibri"/>
              </a:rPr>
              <a:t>Aviation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2694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>
                <a:solidFill>
                  <a:srgbClr val="000000"/>
                </a:solidFill>
                <a:latin typeface="Arial"/>
              </a:rPr>
              <a:t>SAF</a:t>
            </a:r>
            <a:r>
              <a:rPr lang="en-US" spc="-65">
                <a:solidFill>
                  <a:srgbClr val="000000"/>
                </a:solidFill>
                <a:latin typeface="Arial"/>
              </a:rPr>
              <a:t> M</a:t>
            </a:r>
            <a:r>
              <a:rPr lang="en-US">
                <a:solidFill>
                  <a:srgbClr val="000000"/>
                </a:solidFill>
                <a:latin typeface="Arial"/>
              </a:rPr>
              <a:t>andates</a:t>
            </a:r>
            <a:r>
              <a:rPr lang="en-US" spc="-100">
                <a:solidFill>
                  <a:srgbClr val="000000"/>
                </a:solidFill>
                <a:latin typeface="Arial"/>
              </a:rPr>
              <a:t> </a:t>
            </a:r>
            <a:r>
              <a:rPr lang="en-US">
                <a:solidFill>
                  <a:srgbClr val="000000"/>
                </a:solidFill>
                <a:latin typeface="Arial"/>
              </a:rPr>
              <a:t>are</a:t>
            </a:r>
            <a:r>
              <a:rPr lang="en-US" spc="-70">
                <a:solidFill>
                  <a:srgbClr val="000000"/>
                </a:solidFill>
                <a:latin typeface="Arial"/>
              </a:rPr>
              <a:t> E</a:t>
            </a:r>
            <a:r>
              <a:rPr lang="en-US">
                <a:solidFill>
                  <a:srgbClr val="000000"/>
                </a:solidFill>
                <a:latin typeface="Arial"/>
              </a:rPr>
              <a:t>xpanding</a:t>
            </a:r>
            <a:r>
              <a:rPr lang="en-US" spc="-100">
                <a:solidFill>
                  <a:srgbClr val="000000"/>
                </a:solidFill>
                <a:latin typeface="Arial"/>
              </a:rPr>
              <a:t> G</a:t>
            </a:r>
            <a:r>
              <a:rPr lang="en-US" spc="-10">
                <a:solidFill>
                  <a:srgbClr val="000000"/>
                </a:solidFill>
                <a:latin typeface="Arial"/>
              </a:rPr>
              <a:t>lobally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514845" y="6490208"/>
            <a:ext cx="211899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750" baseline="27777">
                <a:solidFill>
                  <a:srgbClr val="585858"/>
                </a:solidFill>
                <a:latin typeface="Calibri"/>
                <a:cs typeface="Calibri"/>
              </a:rPr>
              <a:t>(1)</a:t>
            </a:r>
            <a:r>
              <a:rPr sz="800">
                <a:solidFill>
                  <a:srgbClr val="585858"/>
                </a:solidFill>
                <a:latin typeface="Calibri"/>
                <a:cs typeface="Calibri"/>
              </a:rPr>
              <a:t>European</a:t>
            </a:r>
            <a:r>
              <a:rPr sz="8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800">
                <a:solidFill>
                  <a:srgbClr val="585858"/>
                </a:solidFill>
                <a:latin typeface="Calibri"/>
                <a:cs typeface="Calibri"/>
              </a:rPr>
              <a:t>Union’s</a:t>
            </a:r>
            <a:r>
              <a:rPr sz="8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800">
                <a:solidFill>
                  <a:srgbClr val="585858"/>
                </a:solidFill>
                <a:latin typeface="Calibri"/>
                <a:cs typeface="Calibri"/>
              </a:rPr>
              <a:t>ReFuelEU</a:t>
            </a:r>
            <a:r>
              <a:rPr sz="8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800">
                <a:solidFill>
                  <a:srgbClr val="585858"/>
                </a:solidFill>
                <a:latin typeface="Calibri"/>
                <a:cs typeface="Calibri"/>
              </a:rPr>
              <a:t>Aviation</a:t>
            </a:r>
            <a:r>
              <a:rPr sz="8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800" spc="-10">
                <a:solidFill>
                  <a:srgbClr val="585858"/>
                </a:solidFill>
                <a:latin typeface="Calibri"/>
                <a:cs typeface="Calibri"/>
              </a:rPr>
              <a:t>regulation</a:t>
            </a:r>
            <a:endParaRPr sz="800">
              <a:latin typeface="Calibri"/>
              <a:cs typeface="Calibri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357060" y="1705864"/>
          <a:ext cx="9171305" cy="4592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3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67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8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solidFill>
                      <a:srgbClr val="348F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SAF</a:t>
                      </a:r>
                      <a:r>
                        <a:rPr sz="1800" b="1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Mandates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solidFill>
                      <a:srgbClr val="348F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200" b="1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CORSIA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6520" marB="0">
                    <a:lnL w="12700">
                      <a:solidFill>
                        <a:srgbClr val="7E7E7E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AB"/>
                    </a:solidFill>
                  </a:tcPr>
                </a:tc>
                <a:tc>
                  <a:txBody>
                    <a:bodyPr/>
                    <a:lstStyle/>
                    <a:p>
                      <a:pPr marL="121920" marR="39052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Program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aims to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offset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growth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200" spc="-3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CO2 emission from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international</a:t>
                      </a:r>
                      <a:r>
                        <a:rPr sz="1200" spc="-4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aviation</a:t>
                      </a:r>
                      <a:r>
                        <a:rPr sz="1200" spc="-3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above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85%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2019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emissions.</a:t>
                      </a:r>
                      <a:r>
                        <a:rPr sz="1200" spc="-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Participation</a:t>
                      </a:r>
                      <a:r>
                        <a:rPr sz="1200" spc="-4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is 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voluntary</a:t>
                      </a:r>
                      <a:r>
                        <a:rPr sz="1200" spc="-3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over</a:t>
                      </a:r>
                      <a:r>
                        <a:rPr sz="1200" spc="-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2021-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2026 and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becomes</a:t>
                      </a:r>
                      <a:r>
                        <a:rPr sz="1200" spc="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mandatory</a:t>
                      </a:r>
                      <a:r>
                        <a:rPr sz="1200" spc="-3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sz="1200" spc="-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participating</a:t>
                      </a:r>
                      <a:r>
                        <a:rPr sz="1200" spc="-3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nations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starting</a:t>
                      </a:r>
                      <a:r>
                        <a:rPr sz="1200" spc="-3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200" spc="-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2027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R w="12700">
                      <a:solidFill>
                        <a:srgbClr val="7E7E7E"/>
                      </a:solidFill>
                      <a:prstDash val="solid"/>
                    </a:lnR>
                    <a:lnB w="12700">
                      <a:solidFill>
                        <a:srgbClr val="C4F0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algn="ctr">
                        <a:lnSpc>
                          <a:spcPts val="1355"/>
                        </a:lnSpc>
                      </a:pPr>
                      <a:r>
                        <a:rPr sz="1800" b="1" spc="-15" baseline="-16203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EU</a:t>
                      </a:r>
                      <a:r>
                        <a:rPr sz="800" b="1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(1)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7E7E7E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AB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2%</a:t>
                      </a:r>
                      <a:r>
                        <a:rPr sz="1200" spc="-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2025,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6% in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2030,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20%</a:t>
                      </a:r>
                      <a:r>
                        <a:rPr sz="1200" spc="-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2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2035, 34%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2040,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42%</a:t>
                      </a:r>
                      <a:r>
                        <a:rPr sz="1200" spc="-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2045,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70%</a:t>
                      </a:r>
                      <a:r>
                        <a:rPr sz="1200" spc="-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2050.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C4F0FF"/>
                      </a:solidFill>
                      <a:prstDash val="solid"/>
                    </a:lnT>
                    <a:lnB w="12700">
                      <a:solidFill>
                        <a:srgbClr val="C4F0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b="1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Brazil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7E7E7E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A4D9"/>
                    </a:solidFill>
                  </a:tcPr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GHG</a:t>
                      </a:r>
                      <a:r>
                        <a:rPr sz="1200" spc="-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emission</a:t>
                      </a:r>
                      <a:r>
                        <a:rPr sz="1200" spc="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reduction</a:t>
                      </a:r>
                      <a:r>
                        <a:rPr sz="1200" spc="-4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1% in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2027,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progressively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increasing</a:t>
                      </a:r>
                      <a:r>
                        <a:rPr sz="1200" spc="-3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10%</a:t>
                      </a:r>
                      <a:r>
                        <a:rPr sz="1200" spc="-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by</a:t>
                      </a:r>
                      <a:r>
                        <a:rPr sz="1200" spc="-3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2037,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through</a:t>
                      </a:r>
                      <a:r>
                        <a:rPr sz="1200" spc="-4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3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use</a:t>
                      </a:r>
                      <a:r>
                        <a:rPr sz="1200" spc="-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SAF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C4F0FF"/>
                      </a:solidFill>
                      <a:prstDash val="solid"/>
                    </a:lnT>
                    <a:lnB w="12700">
                      <a:solidFill>
                        <a:srgbClr val="C4F0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6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France</a:t>
                      </a:r>
                      <a:r>
                        <a:rPr sz="1200" b="1" spc="-15" baseline="2430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(2)</a:t>
                      </a:r>
                      <a:endParaRPr sz="1200" baseline="24305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7E7E7E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A4D9"/>
                    </a:solidFill>
                  </a:tcPr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1.5%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2024,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2% in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2025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5% in</a:t>
                      </a:r>
                      <a:r>
                        <a:rPr sz="1200" spc="-3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2030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C4F0FF"/>
                      </a:solidFill>
                      <a:prstDash val="solid"/>
                    </a:lnT>
                    <a:lnB w="12700">
                      <a:solidFill>
                        <a:srgbClr val="C4F0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0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200" b="1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Germany</a:t>
                      </a:r>
                      <a:r>
                        <a:rPr sz="1200" b="1" spc="-15" baseline="2430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(2)</a:t>
                      </a:r>
                      <a:endParaRPr sz="1200" baseline="24305">
                        <a:latin typeface="Calibri"/>
                        <a:cs typeface="Calibri"/>
                      </a:endParaRPr>
                    </a:p>
                  </a:txBody>
                  <a:tcPr marL="0" marR="0" marT="97155" marB="0">
                    <a:lnL w="12700">
                      <a:solidFill>
                        <a:srgbClr val="7E7E7E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A4D9"/>
                    </a:solidFill>
                  </a:tcPr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Power-to-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liquid</a:t>
                      </a:r>
                      <a:r>
                        <a:rPr sz="1200" spc="-5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(PtL)</a:t>
                      </a:r>
                      <a:r>
                        <a:rPr sz="12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SAF</a:t>
                      </a:r>
                      <a:r>
                        <a:rPr sz="1200" spc="-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sub-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mandate</a:t>
                      </a:r>
                      <a:r>
                        <a:rPr sz="1200" spc="-4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0.5%</a:t>
                      </a:r>
                      <a:r>
                        <a:rPr sz="1200" spc="-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2026,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1%</a:t>
                      </a:r>
                      <a:r>
                        <a:rPr sz="1200" spc="-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2028</a:t>
                      </a:r>
                      <a:r>
                        <a:rPr sz="1200" spc="-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2%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2030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7155" marB="0"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C4F0FF"/>
                      </a:solidFill>
                      <a:prstDash val="solid"/>
                    </a:lnT>
                    <a:lnB w="12700">
                      <a:solidFill>
                        <a:srgbClr val="C4F0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6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Indonesia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7E7E7E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A4D9"/>
                    </a:solidFill>
                  </a:tcPr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1% in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2027 on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international</a:t>
                      </a:r>
                      <a:r>
                        <a:rPr sz="1200" spc="-4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flights,</a:t>
                      </a:r>
                      <a:r>
                        <a:rPr sz="12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rising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2.5% in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2030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C4F0FF"/>
                      </a:solidFill>
                      <a:prstDash val="solid"/>
                    </a:lnT>
                    <a:lnB w="12700">
                      <a:solidFill>
                        <a:srgbClr val="C4F0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67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Malaysia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7E7E7E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A4D9"/>
                    </a:solidFill>
                  </a:tcPr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1%</a:t>
                      </a:r>
                      <a:r>
                        <a:rPr sz="1200" spc="-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2026,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expected</a:t>
                      </a:r>
                      <a:r>
                        <a:rPr sz="12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increase</a:t>
                      </a:r>
                      <a:r>
                        <a:rPr sz="12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47%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2050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C4F0FF"/>
                      </a:solidFill>
                      <a:prstDash val="solid"/>
                    </a:lnT>
                    <a:lnB w="12700">
                      <a:solidFill>
                        <a:srgbClr val="C4F0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06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Norway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7E7E7E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A4D9"/>
                    </a:solidFill>
                  </a:tcPr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0.5%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2020,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expected</a:t>
                      </a:r>
                      <a:r>
                        <a:rPr sz="1200" spc="-3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increase</a:t>
                      </a:r>
                      <a:r>
                        <a:rPr sz="12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30%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2030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C4F0FF"/>
                      </a:solidFill>
                      <a:prstDash val="solid"/>
                    </a:lnT>
                    <a:lnB w="12700">
                      <a:solidFill>
                        <a:srgbClr val="C4F0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6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Singapore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7E7E7E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A4D9"/>
                    </a:solidFill>
                  </a:tcPr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1%</a:t>
                      </a:r>
                      <a:r>
                        <a:rPr sz="1200" spc="-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2026,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possibly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increasing</a:t>
                      </a:r>
                      <a:r>
                        <a:rPr sz="1200" spc="-3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3%-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5% in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2030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C4F0FF"/>
                      </a:solidFill>
                      <a:prstDash val="solid"/>
                    </a:lnT>
                    <a:lnB w="12700">
                      <a:solidFill>
                        <a:srgbClr val="C4F0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067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Sweden</a:t>
                      </a:r>
                      <a:r>
                        <a:rPr sz="1200" b="1" spc="-15" baseline="2430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(2)</a:t>
                      </a:r>
                      <a:endParaRPr sz="1200" baseline="24305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7E7E7E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A4D9"/>
                    </a:solidFill>
                  </a:tcPr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1%</a:t>
                      </a:r>
                      <a:r>
                        <a:rPr sz="1200" spc="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2021</a:t>
                      </a:r>
                      <a:r>
                        <a:rPr sz="1200" spc="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increasing</a:t>
                      </a:r>
                      <a:r>
                        <a:rPr sz="1200" spc="-3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30% in</a:t>
                      </a:r>
                      <a:r>
                        <a:rPr sz="1200" spc="-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2030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C4F0FF"/>
                      </a:solidFill>
                      <a:prstDash val="solid"/>
                    </a:lnT>
                    <a:lnB w="12700">
                      <a:solidFill>
                        <a:srgbClr val="C4F0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06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UK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7E7E7E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A4D9"/>
                    </a:solidFill>
                  </a:tcPr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2% in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2025,</a:t>
                      </a:r>
                      <a:r>
                        <a:rPr sz="1200" spc="-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increasing</a:t>
                      </a:r>
                      <a:r>
                        <a:rPr sz="1200" spc="-3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linearly</a:t>
                      </a:r>
                      <a:r>
                        <a:rPr sz="1200" spc="-3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10%</a:t>
                      </a:r>
                      <a:r>
                        <a:rPr sz="1200" spc="-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2030 and</a:t>
                      </a:r>
                      <a:r>
                        <a:rPr sz="12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then</a:t>
                      </a:r>
                      <a:r>
                        <a:rPr sz="1200" spc="-3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22% in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2040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C4F0FF"/>
                      </a:solidFill>
                      <a:prstDash val="solid"/>
                    </a:lnT>
                    <a:lnB w="12700">
                      <a:solidFill>
                        <a:srgbClr val="C4F0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b="1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British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b="1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Columbia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7E7E7E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A4D9"/>
                    </a:solidFill>
                  </a:tcPr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1%</a:t>
                      </a:r>
                      <a:r>
                        <a:rPr sz="1200" spc="-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2028,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2% in</a:t>
                      </a:r>
                      <a:r>
                        <a:rPr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2029</a:t>
                      </a:r>
                      <a:r>
                        <a:rPr sz="1200" spc="-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3%</a:t>
                      </a:r>
                      <a:r>
                        <a:rPr sz="1200" spc="-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2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2030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34620" marB="0"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C4F0FF"/>
                      </a:solidFill>
                      <a:prstDash val="solid"/>
                    </a:lnT>
                    <a:lnB w="12700">
                      <a:solidFill>
                        <a:srgbClr val="C4F0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31559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b="1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Potential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3644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b="1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Policies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Denmark</a:t>
                      </a:r>
                      <a:r>
                        <a:rPr sz="1200" baseline="2430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(1)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sz="1200" spc="-4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Japan,</a:t>
                      </a:r>
                      <a:r>
                        <a:rPr sz="1200" spc="-3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India,</a:t>
                      </a:r>
                      <a:r>
                        <a:rPr sz="1200" spc="-3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Finland</a:t>
                      </a:r>
                      <a:r>
                        <a:rPr sz="1200" baseline="2430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(1)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sz="1200" spc="-5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Netherlands</a:t>
                      </a:r>
                      <a:r>
                        <a:rPr sz="1200" baseline="2430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(1)</a:t>
                      </a:r>
                      <a:r>
                        <a:rPr sz="1200" spc="60" baseline="2430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3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South</a:t>
                      </a:r>
                      <a:r>
                        <a:rPr sz="1200" spc="-4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Korea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34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C4F0FF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11568810" y="6476187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>
                <a:solidFill>
                  <a:srgbClr val="FFFFFF"/>
                </a:solidFill>
                <a:latin typeface="Calibri"/>
                <a:cs typeface="Calibri"/>
              </a:rPr>
              <a:t>22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469A207-1E39-EC58-A5AE-5DF2B7072AC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506200" y="6514286"/>
            <a:ext cx="294132" cy="179324"/>
          </a:xfrm>
        </p:spPr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en-US" spc="-50" smtClean="0">
                <a:solidFill>
                  <a:srgbClr val="006FAB"/>
                </a:solidFill>
              </a:rPr>
              <a:t>9</a:t>
            </a:fld>
            <a:endParaRPr lang="en-US" spc="-50">
              <a:solidFill>
                <a:srgbClr val="006FAB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82059B-0218-8E9F-9108-E62E4E2A5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Rank of </a:t>
            </a:r>
            <a:r>
              <a:rPr lang="en-US" sz="4000">
                <a:solidFill>
                  <a:srgbClr val="FFFFFF"/>
                </a:solidFill>
                <a:latin typeface="Arial"/>
                <a:cs typeface="Arial"/>
              </a:rPr>
              <a:t>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DB075-9B48-FA88-2A9D-AEC26A1F7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>
                <a:latin typeface="Arial"/>
                <a:cs typeface="Arial"/>
              </a:rPr>
              <a:t>1️⃣ Commodity &amp; margin volatility</a:t>
            </a:r>
            <a:br>
              <a:rPr lang="en-US" sz="2000">
                <a:latin typeface="Arial"/>
              </a:rPr>
            </a:br>
            <a:r>
              <a:rPr lang="en-US" sz="2000">
                <a:latin typeface="Arial"/>
                <a:cs typeface="Arial"/>
              </a:rPr>
              <a:t>2️⃣ Environmental &amp; climate regulation</a:t>
            </a:r>
            <a:br>
              <a:rPr lang="en-US" sz="2000">
                <a:latin typeface="Arial"/>
              </a:rPr>
            </a:br>
            <a:r>
              <a:rPr lang="en-US" sz="2000">
                <a:latin typeface="Arial"/>
                <a:cs typeface="Arial"/>
              </a:rPr>
              <a:t>3️⃣ Operational interruptions</a:t>
            </a:r>
            <a:br>
              <a:rPr lang="en-US" sz="2000">
                <a:latin typeface="Arial"/>
              </a:rPr>
            </a:br>
            <a:r>
              <a:rPr lang="en-US" sz="2000">
                <a:latin typeface="Arial"/>
                <a:cs typeface="Arial"/>
              </a:rPr>
              <a:t>4️⃣ Renewable fuel program exposure</a:t>
            </a:r>
            <a:br>
              <a:rPr lang="en-US" sz="2000">
                <a:latin typeface="Arial"/>
              </a:rPr>
            </a:br>
            <a:r>
              <a:rPr lang="en-US" sz="2000">
                <a:latin typeface="Arial"/>
                <a:cs typeface="Arial"/>
              </a:rPr>
              <a:t>5️⃣ Extreme weather</a:t>
            </a:r>
            <a:br>
              <a:rPr lang="en-US" sz="2000">
                <a:latin typeface="Arial"/>
              </a:rPr>
            </a:br>
            <a:r>
              <a:rPr lang="en-US" sz="2000">
                <a:latin typeface="Arial"/>
                <a:cs typeface="Arial"/>
              </a:rPr>
              <a:t>6️⃣ Cybersecurity threats</a:t>
            </a:r>
            <a:br>
              <a:rPr lang="en-US" sz="2000">
                <a:latin typeface="Arial"/>
              </a:rPr>
            </a:br>
            <a:r>
              <a:rPr lang="en-US" sz="2000">
                <a:latin typeface="Arial"/>
                <a:cs typeface="Arial"/>
              </a:rPr>
              <a:t>7️⃣ Project execution risks</a:t>
            </a:r>
            <a:br>
              <a:rPr lang="en-US" sz="2000">
                <a:latin typeface="Arial"/>
              </a:rPr>
            </a:br>
            <a:r>
              <a:rPr lang="en-US" sz="2000">
                <a:latin typeface="Arial"/>
                <a:cs typeface="Arial"/>
              </a:rPr>
              <a:t>8️⃣ Labor and workforce constraints</a:t>
            </a:r>
            <a:br>
              <a:rPr lang="en-US" sz="2000">
                <a:latin typeface="Arial"/>
              </a:rPr>
            </a:br>
            <a:r>
              <a:rPr lang="en-US" sz="2000">
                <a:latin typeface="Arial"/>
                <a:cs typeface="Arial"/>
              </a:rPr>
              <a:t>9️⃣ Insurance limitations</a:t>
            </a:r>
            <a:br>
              <a:rPr lang="en-US" sz="2000">
                <a:latin typeface="Arial"/>
              </a:rPr>
            </a:br>
            <a:r>
              <a:rPr lang="en-US" sz="2000">
                <a:latin typeface="Arial"/>
                <a:cs typeface="Arial"/>
              </a:rPr>
              <a:t>🔟 Tax, credit, and JV governance risks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359E0C-3D37-1576-8CC9-89C4A6421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7150-95CD-457F-8555-B13D96D2CBB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844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E0EAA-82BE-7DFF-788D-4083588CB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Risk and Risk Categories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B188E2-20E1-CF5A-9DFF-2C9614610F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867433"/>
              </p:ext>
            </p:extLst>
          </p:nvPr>
        </p:nvGraphicFramePr>
        <p:xfrm>
          <a:off x="632085" y="1469112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34603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400"/>
              <a:t>Risk Exposure vs. Hedging Intensity</a:t>
            </a:r>
            <a:br>
              <a:rPr lang="en-US" sz="3400"/>
            </a:br>
            <a:r>
              <a:rPr lang="en-US" sz="3400"/>
              <a:t>(🔵 = Relative exposure; more dots = higher sensitivity)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C40F316-E3D1-EC85-B7C7-C536F08A130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399770"/>
          <a:ext cx="10515604" cy="3605514"/>
        </p:xfrm>
        <a:graphic>
          <a:graphicData uri="http://schemas.openxmlformats.org/drawingml/2006/table">
            <a:tbl>
              <a:tblPr/>
              <a:tblGrid>
                <a:gridCol w="2083060">
                  <a:extLst>
                    <a:ext uri="{9D8B030D-6E8A-4147-A177-3AD203B41FA5}">
                      <a16:colId xmlns:a16="http://schemas.microsoft.com/office/drawing/2014/main" val="3395427735"/>
                    </a:ext>
                  </a:extLst>
                </a:gridCol>
                <a:gridCol w="2193567">
                  <a:extLst>
                    <a:ext uri="{9D8B030D-6E8A-4147-A177-3AD203B41FA5}">
                      <a16:colId xmlns:a16="http://schemas.microsoft.com/office/drawing/2014/main" val="3247150190"/>
                    </a:ext>
                  </a:extLst>
                </a:gridCol>
                <a:gridCol w="2082814">
                  <a:extLst>
                    <a:ext uri="{9D8B030D-6E8A-4147-A177-3AD203B41FA5}">
                      <a16:colId xmlns:a16="http://schemas.microsoft.com/office/drawing/2014/main" val="1301032951"/>
                    </a:ext>
                  </a:extLst>
                </a:gridCol>
                <a:gridCol w="2082814">
                  <a:extLst>
                    <a:ext uri="{9D8B030D-6E8A-4147-A177-3AD203B41FA5}">
                      <a16:colId xmlns:a16="http://schemas.microsoft.com/office/drawing/2014/main" val="1039033778"/>
                    </a:ext>
                  </a:extLst>
                </a:gridCol>
                <a:gridCol w="2073349">
                  <a:extLst>
                    <a:ext uri="{9D8B030D-6E8A-4147-A177-3AD203B41FA5}">
                      <a16:colId xmlns:a16="http://schemas.microsoft.com/office/drawing/2014/main" val="2760411413"/>
                    </a:ext>
                  </a:extLst>
                </a:gridCol>
              </a:tblGrid>
              <a:tr h="347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Risk Type</a:t>
                      </a:r>
                      <a:endParaRPr lang="en-US" sz="1500"/>
                    </a:p>
                  </a:txBody>
                  <a:tcPr marL="78037" marR="78037" marT="39019" marB="3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/>
                        <a:t>Refining</a:t>
                      </a:r>
                      <a:endParaRPr lang="en-US" sz="1500"/>
                    </a:p>
                  </a:txBody>
                  <a:tcPr marL="78037" marR="78037" marT="39019" marB="3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/>
                        <a:t>Renewable Diesel</a:t>
                      </a:r>
                      <a:endParaRPr lang="en-US" sz="1500"/>
                    </a:p>
                  </a:txBody>
                  <a:tcPr marL="78037" marR="78037" marT="39019" marB="3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/>
                        <a:t>Ethanol</a:t>
                      </a:r>
                      <a:endParaRPr lang="en-US" sz="1500"/>
                    </a:p>
                  </a:txBody>
                  <a:tcPr marL="78037" marR="78037" marT="39019" marB="3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/>
                        <a:t>Corporate</a:t>
                      </a:r>
                      <a:endParaRPr lang="en-US" sz="1500"/>
                    </a:p>
                  </a:txBody>
                  <a:tcPr marL="78037" marR="78037" marT="39019" marB="3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248374"/>
                  </a:ext>
                </a:extLst>
              </a:tr>
              <a:tr h="582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Commodity Price</a:t>
                      </a:r>
                      <a:endParaRPr lang="en-US" sz="1500"/>
                    </a:p>
                  </a:txBody>
                  <a:tcPr marL="78037" marR="78037" marT="39019" marB="3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🔵🔵🔵🔵🔵 (High)</a:t>
                      </a:r>
                    </a:p>
                  </a:txBody>
                  <a:tcPr marL="78037" marR="78037" marT="39019" marB="3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🔵🔵🔵 (Medium-High)</a:t>
                      </a:r>
                    </a:p>
                  </a:txBody>
                  <a:tcPr marL="78037" marR="78037" marT="39019" marB="3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🔵🔵🔵 (Medium-High)</a:t>
                      </a:r>
                    </a:p>
                  </a:txBody>
                  <a:tcPr marL="78037" marR="78037" marT="39019" marB="3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🔵 (Low)</a:t>
                      </a:r>
                    </a:p>
                  </a:txBody>
                  <a:tcPr marL="78037" marR="78037" marT="39019" marB="3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6044417"/>
                  </a:ext>
                </a:extLst>
              </a:tr>
              <a:tr h="582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Feedstock Cost</a:t>
                      </a:r>
                      <a:endParaRPr lang="en-US" sz="1500"/>
                    </a:p>
                  </a:txBody>
                  <a:tcPr marL="78037" marR="78037" marT="39019" marB="3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🔵🔵 (Medium)</a:t>
                      </a:r>
                    </a:p>
                  </a:txBody>
                  <a:tcPr marL="78037" marR="78037" marT="39019" marB="3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🔵🔵🔵🔵 (High)</a:t>
                      </a:r>
                    </a:p>
                  </a:txBody>
                  <a:tcPr marL="78037" marR="78037" marT="39019" marB="3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🔵🔵🔵 (Medium-High)</a:t>
                      </a:r>
                    </a:p>
                  </a:txBody>
                  <a:tcPr marL="78037" marR="78037" marT="39019" marB="3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—</a:t>
                      </a:r>
                    </a:p>
                  </a:txBody>
                  <a:tcPr marL="78037" marR="78037" marT="39019" marB="3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073510"/>
                  </a:ext>
                </a:extLst>
              </a:tr>
              <a:tr h="582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RIN / LCFS / Carbon Credit</a:t>
                      </a:r>
                      <a:endParaRPr lang="en-US" sz="1500"/>
                    </a:p>
                  </a:txBody>
                  <a:tcPr marL="78037" marR="78037" marT="39019" marB="3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🔵🔵🔵 (Medium-High)</a:t>
                      </a:r>
                    </a:p>
                  </a:txBody>
                  <a:tcPr marL="78037" marR="78037" marT="39019" marB="3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🔵🔵🔵🔵 (High)</a:t>
                      </a:r>
                    </a:p>
                  </a:txBody>
                  <a:tcPr marL="78037" marR="78037" marT="39019" marB="3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🔵🔵🔵 (Medium-High)</a:t>
                      </a:r>
                    </a:p>
                  </a:txBody>
                  <a:tcPr marL="78037" marR="78037" marT="39019" marB="3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—</a:t>
                      </a:r>
                    </a:p>
                  </a:txBody>
                  <a:tcPr marL="78037" marR="78037" marT="39019" marB="3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706932"/>
                  </a:ext>
                </a:extLst>
              </a:tr>
              <a:tr h="347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Interest / FX Risk</a:t>
                      </a:r>
                      <a:endParaRPr lang="en-US" sz="1500"/>
                    </a:p>
                  </a:txBody>
                  <a:tcPr marL="78037" marR="78037" marT="39019" marB="3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🔵 (Low)</a:t>
                      </a:r>
                    </a:p>
                  </a:txBody>
                  <a:tcPr marL="78037" marR="78037" marT="39019" marB="3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—</a:t>
                      </a:r>
                    </a:p>
                  </a:txBody>
                  <a:tcPr marL="78037" marR="78037" marT="39019" marB="3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—</a:t>
                      </a:r>
                    </a:p>
                  </a:txBody>
                  <a:tcPr marL="78037" marR="78037" marT="39019" marB="3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🔵🔵 (Medium)</a:t>
                      </a:r>
                    </a:p>
                  </a:txBody>
                  <a:tcPr marL="78037" marR="78037" marT="39019" marB="3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8746261"/>
                  </a:ext>
                </a:extLst>
              </a:tr>
              <a:tr h="582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Regulatory / Policy Risk</a:t>
                      </a:r>
                      <a:endParaRPr lang="en-US" sz="1500"/>
                    </a:p>
                  </a:txBody>
                  <a:tcPr marL="78037" marR="78037" marT="39019" marB="3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🔵🔵 (Medium)</a:t>
                      </a:r>
                    </a:p>
                  </a:txBody>
                  <a:tcPr marL="78037" marR="78037" marT="39019" marB="3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🔵🔵🔵🔵 (High)</a:t>
                      </a:r>
                    </a:p>
                  </a:txBody>
                  <a:tcPr marL="78037" marR="78037" marT="39019" marB="3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🔵🔵 (Medium)</a:t>
                      </a:r>
                    </a:p>
                  </a:txBody>
                  <a:tcPr marL="78037" marR="78037" marT="39019" marB="3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🔵 (Low)</a:t>
                      </a:r>
                    </a:p>
                  </a:txBody>
                  <a:tcPr marL="78037" marR="78037" marT="39019" marB="3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680667"/>
                  </a:ext>
                </a:extLst>
              </a:tr>
              <a:tr h="582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Operational / Supply Chain</a:t>
                      </a:r>
                      <a:endParaRPr lang="en-US" sz="1500"/>
                    </a:p>
                  </a:txBody>
                  <a:tcPr marL="78037" marR="78037" marT="39019" marB="3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🔵🔵🔵 (Medium-High)</a:t>
                      </a:r>
                    </a:p>
                  </a:txBody>
                  <a:tcPr marL="78037" marR="78037" marT="39019" marB="3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🔵🔵 (Medium)</a:t>
                      </a:r>
                    </a:p>
                  </a:txBody>
                  <a:tcPr marL="78037" marR="78037" marT="39019" marB="3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🔵 (Low)</a:t>
                      </a:r>
                    </a:p>
                  </a:txBody>
                  <a:tcPr marL="78037" marR="78037" marT="39019" marB="3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—</a:t>
                      </a:r>
                    </a:p>
                  </a:txBody>
                  <a:tcPr marL="78037" marR="78037" marT="39019" marB="3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6907881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582B2-0AE4-ADC2-02CE-3FD9D1BE6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7150-95CD-457F-8555-B13D96D2CBB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971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FC483E-FCEC-B3E5-B29A-FFB30C3F2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Market Risk Drivers</a:t>
            </a:r>
          </a:p>
        </p:txBody>
      </p:sp>
      <p:pic>
        <p:nvPicPr>
          <p:cNvPr id="7" name="Content Placeholder 6" descr="A screenshot of a spreadsheet&#10;&#10;AI-generated content may be incorrect.">
            <a:extLst>
              <a:ext uri="{FF2B5EF4-FFF2-40B4-BE49-F238E27FC236}">
                <a16:creationId xmlns:a16="http://schemas.microsoft.com/office/drawing/2014/main" id="{451CB8E3-9744-B430-3932-C527AD1975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76277" y="116087"/>
            <a:ext cx="7013446" cy="6630413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3E82A9-E0CD-CB12-2D8A-53FC78BE7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7150-95CD-457F-8555-B13D96D2CBB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5236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209EE7-3209-52CF-3E7D-AF6AD1665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Operational Risk</a:t>
            </a:r>
          </a:p>
        </p:txBody>
      </p: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D9852C12-B924-351D-6600-D23C5F309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>
                <a:latin typeface="Arial"/>
                <a:ea typeface="Calibri"/>
                <a:cs typeface="Calibri"/>
              </a:rPr>
              <a:t>Variability in utilization affecting throughput and production levels</a:t>
            </a:r>
          </a:p>
          <a:p>
            <a:r>
              <a:rPr lang="en-US" sz="2400">
                <a:latin typeface="Arial"/>
                <a:ea typeface="Calibri"/>
                <a:cs typeface="Calibri"/>
              </a:rPr>
              <a:t>Inventory fluctuations impacting working‑capital requirements</a:t>
            </a:r>
          </a:p>
          <a:p>
            <a:r>
              <a:rPr lang="en-US" sz="2400">
                <a:latin typeface="Arial"/>
                <a:ea typeface="Calibri"/>
                <a:cs typeface="Calibri"/>
              </a:rPr>
              <a:t>Accounts Payable volatility creating short‑term liquidity pressure</a:t>
            </a:r>
          </a:p>
          <a:p>
            <a:r>
              <a:rPr lang="en-US" sz="2400">
                <a:latin typeface="Arial"/>
                <a:ea typeface="Calibri"/>
                <a:cs typeface="Calibri"/>
              </a:rPr>
              <a:t>COGS variability affecting operational margins and earnings stability</a:t>
            </a:r>
          </a:p>
          <a:p>
            <a:endParaRPr lang="en-US" sz="2000">
              <a:latin typeface="Arial"/>
              <a:ea typeface="Calibri"/>
              <a:cs typeface="Calibri"/>
            </a:endParaRPr>
          </a:p>
          <a:p>
            <a:endParaRPr lang="en-US" sz="2000">
              <a:latin typeface="Calibri"/>
              <a:ea typeface="Calibri"/>
              <a:cs typeface="Calibri"/>
            </a:endParaRPr>
          </a:p>
          <a:p>
            <a:endParaRPr lang="en-US" sz="2000">
              <a:latin typeface="Calibri"/>
              <a:ea typeface="Calibri"/>
              <a:cs typeface="Calibri"/>
            </a:endParaRPr>
          </a:p>
          <a:p>
            <a:endParaRPr lang="en-US" sz="2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890FD-0616-0E0C-647E-D947D0482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7607150-95CD-457F-8555-B13D96D2CBB6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1444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AF299-701D-0C0B-2D28-DF17894A5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>
                <a:latin typeface="Arial"/>
              </a:rPr>
              <a:t>Stochastic Modeling: Utilization, Cost, and Inventory</a:t>
            </a:r>
            <a:endParaRPr lang="en-US" sz="3600">
              <a:latin typeface="Arial"/>
              <a:cs typeface="Arial"/>
            </a:endParaRPr>
          </a:p>
        </p:txBody>
      </p:sp>
      <p:pic>
        <p:nvPicPr>
          <p:cNvPr id="5" name="Content Placeholder 4" descr="A graph of a number of cogs&#10;&#10;AI-generated content may be incorrect.">
            <a:extLst>
              <a:ext uri="{FF2B5EF4-FFF2-40B4-BE49-F238E27FC236}">
                <a16:creationId xmlns:a16="http://schemas.microsoft.com/office/drawing/2014/main" id="{B58F61F2-882D-B10C-6DB2-97F7CCF5FF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57294" y="4365625"/>
            <a:ext cx="4557952" cy="247292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57933D-1C51-E9D2-9DC7-B6F8C9B4C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7150-95CD-457F-8555-B13D96D2CBB6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6" name="Chart 5">
                <a:extLst>
                  <a:ext uri="{FF2B5EF4-FFF2-40B4-BE49-F238E27FC236}">
                    <a16:creationId xmlns:a16="http://schemas.microsoft.com/office/drawing/2014/main" id="{94E583FA-2AB5-B445-8DD8-3C340A448E1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3056924"/>
                  </p:ext>
                </p:extLst>
              </p:nvPr>
            </p:nvGraphicFramePr>
            <p:xfrm>
              <a:off x="7326238" y="1717235"/>
              <a:ext cx="4563133" cy="2511616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6" name="Chart 5">
                <a:extLst>
                  <a:ext uri="{FF2B5EF4-FFF2-40B4-BE49-F238E27FC236}">
                    <a16:creationId xmlns:a16="http://schemas.microsoft.com/office/drawing/2014/main" id="{94E583FA-2AB5-B445-8DD8-3C340A448E1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26238" y="1717235"/>
                <a:ext cx="4563133" cy="2511616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 descr="A graph of a number of blue bars&#10;&#10;AI-generated content may be incorrect.">
            <a:extLst>
              <a:ext uri="{FF2B5EF4-FFF2-40B4-BE49-F238E27FC236}">
                <a16:creationId xmlns:a16="http://schemas.microsoft.com/office/drawing/2014/main" id="{6AF9654E-0F3A-A916-BEF0-9FA4C97CAC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360" y="1709976"/>
            <a:ext cx="4367205" cy="265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228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5CEAB1-52B3-D299-53AF-A49B750AC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Sensitivity Analysis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880C72F-E017-7EC9-897A-A9F2DFC0E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492" y="825384"/>
            <a:ext cx="5536001" cy="514847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E392B8-0F78-374D-E1A9-7EE77C553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187174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rtl="0">
              <a:spcAft>
                <a:spcPts val="600"/>
              </a:spcAft>
            </a:pPr>
            <a:fld id="{87607150-95CD-457F-8555-B13D96D2CBB6}" type="slidenum">
              <a:rPr lang="en-US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rtl="0">
                <a:spcAft>
                  <a:spcPts val="600"/>
                </a:spcAft>
              </a:pPr>
              <a:t>16</a:t>
            </a:fld>
            <a:endParaRPr lang="en-US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4020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51908F-D3C8-525A-8E9F-26B906D28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3" name="Rectangle 572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5" name="Rectangle 574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577" name="Group 576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384EBB8-7178-8E78-388E-6371BAA4F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Regulatory Risk</a:t>
            </a:r>
            <a:endParaRPr lang="en-US" sz="3600" kern="12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E0110A-1451-B810-5DF6-6994FD864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Arial"/>
                <a:ea typeface="+mn-lt"/>
                <a:cs typeface="+mn-lt"/>
              </a:rPr>
              <a:t>What is Regulatory Risk?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  <a:latin typeface="Arial"/>
                <a:ea typeface="+mn-lt"/>
                <a:cs typeface="+mn-lt"/>
              </a:rPr>
              <a:t>The potential for changes in laws, regulations, or government policies to adversely affect a company's operations, profitability, or asset values. For refiners like Valero, this risk is concentrated in environmental and climate policy.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  <a:latin typeface="Arial"/>
                <a:ea typeface="+mn-lt"/>
                <a:cs typeface="+mn-lt"/>
              </a:rPr>
              <a:t>Regulations directly dictate what products can be sold and create entirely new markets.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  <a:latin typeface="Arial"/>
                <a:ea typeface="+mn-lt"/>
                <a:cs typeface="+mn-lt"/>
              </a:rPr>
              <a:t>Key Regulatory Risk Drivers in Low-Carbon Fuels:</a:t>
            </a:r>
          </a:p>
          <a:p>
            <a:pPr marL="457200" indent="-457200">
              <a:buAutoNum type="arabicPeriod"/>
            </a:pPr>
            <a:r>
              <a:rPr lang="en-US" sz="1600" b="1" dirty="0">
                <a:solidFill>
                  <a:schemeClr val="tx2"/>
                </a:solidFill>
                <a:latin typeface="Arial"/>
                <a:cs typeface="Arial"/>
              </a:rPr>
              <a:t>RIN (Renewable Identification Number)</a:t>
            </a:r>
            <a:r>
              <a:rPr lang="en-US" sz="1600" dirty="0">
                <a:solidFill>
                  <a:schemeClr val="tx2"/>
                </a:solidFill>
                <a:latin typeface="Arial"/>
                <a:cs typeface="Arial"/>
              </a:rPr>
              <a:t>: A compliance credit under the U.S. Renewable Fuel Standard (RFS). Obligated parties (refiners) must blend biofuels or purchase RINs. Price volatility directly impacts compliance costs.</a:t>
            </a:r>
          </a:p>
          <a:p>
            <a:pPr marL="457200" indent="-457200">
              <a:buAutoNum type="arabicPeriod"/>
            </a:pPr>
            <a:r>
              <a:rPr lang="en-US" sz="1600" b="1" dirty="0">
                <a:solidFill>
                  <a:schemeClr val="tx2"/>
                </a:solidFill>
                <a:latin typeface="Arial"/>
                <a:cs typeface="Arial"/>
              </a:rPr>
              <a:t>LCFS (Low Carbon Fuel Standard):</a:t>
            </a:r>
            <a:r>
              <a:rPr lang="en-US" sz="1600" dirty="0">
                <a:solidFill>
                  <a:schemeClr val="tx2"/>
                </a:solidFill>
                <a:latin typeface="Arial"/>
                <a:cs typeface="Arial"/>
              </a:rPr>
              <a:t> A California (and other states) program that incentivizes lower-carbon transportation fuels. Generates tradable credits (for low-carbon fuel) and deficits (for high-carbon fuel). Impacts regional market competitiveness.</a:t>
            </a:r>
          </a:p>
          <a:p>
            <a:pPr marL="457200" indent="-457200">
              <a:buAutoNum type="arabicPeriod"/>
            </a:pPr>
            <a:r>
              <a:rPr lang="en-US" sz="1600" b="1" dirty="0">
                <a:solidFill>
                  <a:schemeClr val="tx2"/>
                </a:solidFill>
                <a:latin typeface="Arial"/>
                <a:cs typeface="Arial"/>
              </a:rPr>
              <a:t>Carbon Price:</a:t>
            </a:r>
            <a:r>
              <a:rPr lang="en-US" sz="1600" dirty="0">
                <a:solidFill>
                  <a:schemeClr val="tx2"/>
                </a:solidFill>
                <a:latin typeface="Arial"/>
                <a:cs typeface="Arial"/>
              </a:rPr>
              <a:t> The cost of emitting one ton of CO₂, Increases the cost of operating fossil-intensive assets.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8C923B-C7A6-AE02-ABC1-5583AD229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7607150-95CD-457F-8555-B13D96D2CBB6}" type="slidenum">
              <a:rPr lang="en-US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118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7D8C39-D077-1933-2C54-A79AD7C6A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86C801E-041C-E2A2-11C7-DFD5AA44D6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B16F3FD-AA41-E142-691C-96AE49B8C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9368AC-3D8F-3654-1101-D5B291E9C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48F6791-394C-410A-70EB-1624FE747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CB2DB08F-9C27-4DEB-4096-75D6B2308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5F2266-475D-4F89-5168-A810F339A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632" y="2502063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Industry-Wide Impact of Risk Drivers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379BDF-B68D-5E6D-C773-978335FF5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7150-95CD-457F-8555-B13D96D2CBB6}" type="slidenum">
              <a:rPr lang="en-US" smtClean="0"/>
              <a:t>18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9335B-294A-90BA-64EF-69EFC001D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5069" y="334756"/>
            <a:ext cx="6725479" cy="59217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F1115"/>
                </a:solidFill>
                <a:latin typeface="Arial"/>
                <a:ea typeface="+mn-lt"/>
                <a:cs typeface="+mn-lt"/>
              </a:rPr>
              <a:t>These drivers collectively reshape the competitive landscape and asset economics:</a:t>
            </a:r>
          </a:p>
          <a:p>
            <a:pPr>
              <a:buFont typeface="Arial"/>
              <a:buChar char="•"/>
            </a:pPr>
            <a:r>
              <a:rPr lang="en-US" sz="1800" dirty="0">
                <a:solidFill>
                  <a:srgbClr val="0F1115"/>
                </a:solidFill>
                <a:latin typeface="Arial"/>
                <a:ea typeface="+mn-lt"/>
                <a:cs typeface="+mn-lt"/>
              </a:rPr>
              <a:t>RINs: Increase operating costs for merchant refiners without integrated blending. Incentivize renewable fuel blending and investments. Create a wealth transfer between obligated and non-obligated parties.</a:t>
            </a:r>
          </a:p>
          <a:p>
            <a:pPr>
              <a:buFont typeface="Arial"/>
              <a:buChar char="•"/>
            </a:pPr>
            <a:r>
              <a:rPr lang="en-US" sz="1800" dirty="0">
                <a:solidFill>
                  <a:srgbClr val="0F1115"/>
                </a:solidFill>
                <a:latin typeface="Arial"/>
                <a:ea typeface="+mn-lt"/>
                <a:cs typeface="+mn-lt"/>
              </a:rPr>
              <a:t>LCFS: Drives investment in low-carbon fuel production (renewable diesel, biofuels) and feedstock innovation (e.g., used cooking oil). Penalizes conventional fuels, favoring assets in non-LCFS regions or those adapted to produce credits.</a:t>
            </a:r>
          </a:p>
          <a:p>
            <a:pPr>
              <a:buFont typeface="Arial"/>
              <a:buChar char="•"/>
            </a:pPr>
            <a:r>
              <a:rPr lang="en-US" sz="1800" dirty="0">
                <a:solidFill>
                  <a:srgbClr val="0F1115"/>
                </a:solidFill>
                <a:latin typeface="Arial"/>
                <a:ea typeface="+mn-lt"/>
                <a:cs typeface="+mn-lt"/>
              </a:rPr>
              <a:t>Carbon Price: Makes emissions-intensive processes more expensive, eroding margins for traditional refining. Accelerates asset stranding of high-carbon assets and mandates capital allocation towards decarbonization.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F1115"/>
                </a:solidFill>
                <a:latin typeface="Arial"/>
                <a:ea typeface="+mn-lt"/>
                <a:cs typeface="+mn-lt"/>
              </a:rPr>
              <a:t>Net Effect: These policies disproportionately impact refiners with high-carbon, conventional asset bases, forcing a strategic pivot or facing sustained margin pressure.</a:t>
            </a:r>
          </a:p>
        </p:txBody>
      </p:sp>
    </p:spTree>
    <p:extLst>
      <p:ext uri="{BB962C8B-B14F-4D97-AF65-F5344CB8AC3E}">
        <p14:creationId xmlns:p14="http://schemas.microsoft.com/office/powerpoint/2010/main" val="21332259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4F11E1-A359-98A1-8856-E3769B6DF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9789D15-175C-E050-D3C1-D93E91B55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C954350-6CBF-40F8-6070-AAB44F4DB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2FA6BFF-64B2-0A67-9897-D973A781C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FBC3D1B-9AA5-E09C-A446-BD9BBC097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CE51F038-B9AD-70E9-2CEE-9EE4ECC8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13DF04-A409-B4B0-D42D-0DA9A03B0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632" y="2502063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Direct Impact on Valero’s Balance Sheet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E97152-AA45-3F93-1E6D-2EF76971D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7150-95CD-457F-8555-B13D96D2CBB6}" type="slidenum">
              <a:rPr lang="en-US" smtClean="0"/>
              <a:t>19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D309CD-5199-FB24-FE0C-57BE1CC99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4618" y="473904"/>
            <a:ext cx="7361582" cy="608074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US" sz="1600" dirty="0">
                <a:solidFill>
                  <a:srgbClr val="0F1115"/>
                </a:solidFill>
                <a:latin typeface="Arial"/>
                <a:ea typeface="+mn-lt"/>
                <a:cs typeface="+mn-lt"/>
              </a:rPr>
              <a:t>The volatility and directional trend of these drivers manifest on Valero’s balance sheet in three critical areas:</a:t>
            </a:r>
            <a:endParaRPr lang="en-US" sz="1600" dirty="0">
              <a:latin typeface="Arial"/>
              <a:cs typeface="Arial"/>
            </a:endParaRPr>
          </a:p>
          <a:p>
            <a:pPr marL="0" indent="0" algn="just">
              <a:buNone/>
            </a:pPr>
            <a:r>
              <a:rPr lang="en-US" sz="1600" dirty="0">
                <a:solidFill>
                  <a:srgbClr val="0F1115"/>
                </a:solidFill>
                <a:latin typeface="Arial"/>
                <a:ea typeface="+mn-lt"/>
                <a:cs typeface="+mn-lt"/>
              </a:rPr>
              <a:t>1. PPE Impairment (Property, Plant &amp; Equipment):</a:t>
            </a:r>
          </a:p>
          <a:p>
            <a:pPr marL="285750" indent="-285750" algn="just"/>
            <a:r>
              <a:rPr lang="en-US" sz="1600" dirty="0">
                <a:solidFill>
                  <a:srgbClr val="0F1115"/>
                </a:solidFill>
                <a:latin typeface="Arial"/>
                <a:cs typeface="Arial"/>
              </a:rPr>
              <a:t>Connection: Sustained low RIN/LCFS credit prices or a high carbon price reduce the long-term forecasted cash flows from certain conventional refineries or units.</a:t>
            </a:r>
            <a:endParaRPr lang="en-US" sz="1600" dirty="0">
              <a:latin typeface="Arial"/>
              <a:cs typeface="Arial"/>
            </a:endParaRPr>
          </a:p>
          <a:p>
            <a:pPr marL="285750" indent="-285750" algn="just"/>
            <a:r>
              <a:rPr lang="en-US" sz="1600" dirty="0">
                <a:solidFill>
                  <a:srgbClr val="0F1115"/>
                </a:solidFill>
                <a:latin typeface="Arial"/>
                <a:cs typeface="Arial"/>
              </a:rPr>
              <a:t>Impact: This can lead to a write-down of asset book value if future discounted cash flows fall below carrying value. Assets in regions with strict regulations (e.g., California) are particularly at risk.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F1115"/>
                </a:solidFill>
                <a:latin typeface="Arial"/>
                <a:cs typeface="Arial"/>
              </a:rPr>
              <a:t>2. Operating Income (P&amp;L, flowing to Retained Earnings on Balance Sheet):</a:t>
            </a:r>
          </a:p>
          <a:p>
            <a:pPr algn="just"/>
            <a:r>
              <a:rPr lang="en-US" sz="1600" dirty="0">
                <a:solidFill>
                  <a:srgbClr val="0F1115"/>
                </a:solidFill>
                <a:latin typeface="Arial"/>
                <a:cs typeface="Arial"/>
              </a:rPr>
              <a:t>Connection: RIN purchase costs and LCFS deficit costs are direct operating expenses. Sharp price spikes compress quarterly gross margins.</a:t>
            </a:r>
          </a:p>
          <a:p>
            <a:pPr algn="just"/>
            <a:r>
              <a:rPr lang="en-US" sz="1600" dirty="0">
                <a:solidFill>
                  <a:srgbClr val="0F1115"/>
                </a:solidFill>
                <a:latin typeface="Arial"/>
                <a:cs typeface="Arial"/>
              </a:rPr>
              <a:t>Impact: Increased volatility and potential long-term pressure on profitability, reducing net income and, consequently, retained earnings (an equity account on the balance sheet). 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F1115"/>
                </a:solidFill>
                <a:latin typeface="Arial"/>
                <a:cs typeface="Arial"/>
              </a:rPr>
              <a:t>3. Asset Retirement Obligations (ARO):</a:t>
            </a:r>
          </a:p>
          <a:p>
            <a:pPr algn="just"/>
            <a:r>
              <a:rPr lang="en-US" sz="1600" dirty="0">
                <a:solidFill>
                  <a:srgbClr val="0F1115"/>
                </a:solidFill>
                <a:latin typeface="Arial"/>
                <a:cs typeface="Arial"/>
              </a:rPr>
              <a:t>Connection: A rising carbon price and stringent regulations can accelerate the planned closure of uneconomic units or entire sites.</a:t>
            </a:r>
          </a:p>
          <a:p>
            <a:pPr algn="just"/>
            <a:r>
              <a:rPr lang="en-US" sz="1600" dirty="0">
                <a:solidFill>
                  <a:srgbClr val="0F1115"/>
                </a:solidFill>
                <a:latin typeface="Arial"/>
                <a:cs typeface="Arial"/>
              </a:rPr>
              <a:t>Impact: This may necessitate an increase in the ARO liability (a long-term debt-like obligation) as the timing and cost of future decommissioning are brought forward and re-estimated.</a:t>
            </a:r>
          </a:p>
          <a:p>
            <a:pPr marL="0" indent="0" algn="just">
              <a:buNone/>
            </a:pPr>
            <a:endParaRPr lang="en-US" sz="1600" dirty="0">
              <a:solidFill>
                <a:srgbClr val="0F1115"/>
              </a:solidFill>
              <a:latin typeface="Arial"/>
              <a:cs typeface="Arial"/>
            </a:endParaRPr>
          </a:p>
          <a:p>
            <a:pPr marL="0" indent="0" algn="just">
              <a:buNone/>
            </a:pPr>
            <a:endParaRPr lang="en-US" sz="1600" dirty="0">
              <a:solidFill>
                <a:srgbClr val="0F1115"/>
              </a:solidFill>
              <a:latin typeface="Arial"/>
              <a:cs typeface="Arial"/>
            </a:endParaRPr>
          </a:p>
          <a:p>
            <a:pPr marL="0" indent="0">
              <a:buNone/>
            </a:pPr>
            <a:endParaRPr lang="en-US" sz="1600" b="1" dirty="0">
              <a:solidFill>
                <a:srgbClr val="0F1115"/>
              </a:solidFill>
              <a:latin typeface="Arial"/>
              <a:cs typeface="Arial"/>
            </a:endParaRPr>
          </a:p>
          <a:p>
            <a:pPr marL="0" indent="0">
              <a:buNone/>
            </a:pPr>
            <a:endParaRPr lang="en-US" sz="1600" b="1" dirty="0">
              <a:solidFill>
                <a:srgbClr val="0F1115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389730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0236A0-0F69-7464-C309-AC6BF17DB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28D0356-0B42-7466-75CD-8C84AF1CB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6CBA98D-2E7C-9298-C4E0-23F08D3E3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68BAB42-CA1E-84E8-2BB8-C121E066B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7EB6E49-74BE-38CF-E0A6-D4E69F411D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372BD08-F9C7-4D48-EB2F-DDA7565AF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64DFF5-75E4-A26B-2386-FE23E2564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632" y="2502063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The Role of Monte Carlo Simulation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1EF0CA-14B9-D193-D0C8-BEF71A3F8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7150-95CD-457F-8555-B13D96D2CBB6}" type="slidenum">
              <a:rPr lang="en-US" smtClean="0"/>
              <a:t>20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BBE826-5912-54C7-A0A5-4D8740D7C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4618" y="473904"/>
            <a:ext cx="7361582" cy="608074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US" sz="1800" b="1" dirty="0">
                <a:solidFill>
                  <a:srgbClr val="0F1115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Why a 3-Step Monte Carlo? To Move from Qualitative Risk to Quantitative Exposure.</a:t>
            </a: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Arial"/>
              <a:buChar char="•"/>
            </a:pPr>
            <a:r>
              <a:rPr lang="en-US" sz="1800" dirty="0">
                <a:solidFill>
                  <a:srgbClr val="0F1115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Model Driver Uncertainty: Simulate thousands of possible future paths for RIN, LCFS, and Carbon Prices based on historical volatility, policy scenarios, and correlation.</a:t>
            </a:r>
          </a:p>
          <a:p>
            <a:pPr algn="just">
              <a:buFont typeface="Arial"/>
              <a:buChar char="•"/>
            </a:pPr>
            <a:r>
              <a:rPr lang="en-US" sz="1800" dirty="0">
                <a:solidFill>
                  <a:srgbClr val="0F1115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Translate to Financial Impact: Model how each simulated price trio affects cash flows, asset valuations, and compliance costs at the asset/operating level.</a:t>
            </a:r>
          </a:p>
          <a:p>
            <a:pPr algn="just">
              <a:buFont typeface="Arial"/>
              <a:buChar char="•"/>
            </a:pPr>
            <a:r>
              <a:rPr lang="en-US" sz="1800" dirty="0">
                <a:solidFill>
                  <a:srgbClr val="0F1115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Quantify Balance Sheet Impact: Aggregate results to produce a probability distribution of potential impacts on:</a:t>
            </a:r>
          </a:p>
          <a:p>
            <a:pPr marL="971550" lvl="1" indent="-285750" algn="just">
              <a:buFont typeface="Arial"/>
              <a:buChar char="•"/>
            </a:pPr>
            <a:r>
              <a:rPr lang="en-US" sz="1800" dirty="0">
                <a:solidFill>
                  <a:srgbClr val="0F1115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PPE Values (Range of potential impairment charges)</a:t>
            </a:r>
          </a:p>
          <a:p>
            <a:pPr marL="971550" lvl="1" indent="-285750" algn="just">
              <a:buFont typeface="Arial"/>
              <a:buChar char="•"/>
            </a:pPr>
            <a:r>
              <a:rPr lang="en-US" sz="1800" dirty="0">
                <a:solidFill>
                  <a:srgbClr val="0F1115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Future Operating Income (Margin distribution)</a:t>
            </a:r>
          </a:p>
          <a:p>
            <a:pPr marL="971550" lvl="1" indent="-285750" algn="just">
              <a:buFont typeface="Arial"/>
              <a:buChar char="•"/>
            </a:pPr>
            <a:r>
              <a:rPr lang="en-US" sz="1800" dirty="0">
                <a:solidFill>
                  <a:srgbClr val="0F1115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ARO Liabilities (Potential increase in present-value obligation)</a:t>
            </a:r>
          </a:p>
          <a:p>
            <a:pPr lvl="1" indent="0" algn="just">
              <a:buNone/>
            </a:pPr>
            <a:r>
              <a:rPr lang="en-US" sz="1800" dirty="0">
                <a:solidFill>
                  <a:srgbClr val="0F1115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Outcome: Provides a probabilistic view of regulatory risk exposure, informing future capital allocation, hedging strategies, and impairment testing assumptions.</a:t>
            </a:r>
          </a:p>
          <a:p>
            <a:pPr marL="0" indent="0" algn="just">
              <a:buNone/>
            </a:pPr>
            <a:endParaRPr lang="en-US" sz="1800" b="1" dirty="0">
              <a:solidFill>
                <a:srgbClr val="0F111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n-US" sz="1800" dirty="0">
              <a:solidFill>
                <a:srgbClr val="0F111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b="1" dirty="0">
              <a:solidFill>
                <a:srgbClr val="0F111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b="1" dirty="0">
              <a:solidFill>
                <a:srgbClr val="0F111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5523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82B867-B118-603D-077B-65CEA35E4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B6AAE1A-153E-2FA2-B28A-9D608017A5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01C09ED-AA09-E8EE-C55A-9C145036CB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3D59010-AE1A-DBE2-FC86-0E2F625B28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61256FE-A409-5E83-8DCA-2AFAA015F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453C8464-C0AD-459E-D2FC-6862455E5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9C5E04-558E-3EE8-6FA7-075F531E9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632" y="2502063"/>
            <a:ext cx="2880828" cy="3071906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Strategic Imperatives for Regulatory Risk Management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FEA039-37CB-E7AE-EBAF-1B23E1480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7150-95CD-457F-8555-B13D96D2CBB6}" type="slidenum">
              <a:rPr lang="en-US" smtClean="0"/>
              <a:t>21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F5976-FC45-4CF6-1B50-67F77510E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4618" y="473904"/>
            <a:ext cx="7361582" cy="608074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US" sz="1800" dirty="0">
                <a:solidFill>
                  <a:srgbClr val="0F1115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Ultimate Goal: Transform regulatory risk from a cost center into a managed source of competitive advantage, ensuring Valero’s balance sheet and strategic trajectory remain robust under any plausible policy future.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AutoNum type="arabicPeriod"/>
            </a:pPr>
            <a:r>
              <a:rPr lang="en-US" sz="1800" dirty="0">
                <a:solidFill>
                  <a:srgbClr val="0F1115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Strategic Recommendations for Regulatory Risk Decisions:</a:t>
            </a:r>
          </a:p>
          <a:p>
            <a:pPr marL="457200" indent="-457200" algn="just">
              <a:buAutoNum type="arabicPeriod"/>
            </a:pPr>
            <a:r>
              <a:rPr lang="en-US" sz="1800" dirty="0">
                <a:solidFill>
                  <a:srgbClr val="0F1115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Adopt a Probabilistic Planning Framework</a:t>
            </a:r>
          </a:p>
          <a:p>
            <a:pPr marL="457200" indent="-457200" algn="just">
              <a:buAutoNum type="arabicPeriod"/>
            </a:pPr>
            <a:r>
              <a:rPr lang="en-US" sz="1800" dirty="0">
                <a:solidFill>
                  <a:srgbClr val="0F1115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Double Down on the Integrated Hedge Strategy:</a:t>
            </a:r>
          </a:p>
          <a:p>
            <a:pPr marL="457200" indent="-457200" algn="just">
              <a:buAutoNum type="arabicPeriod"/>
            </a:pPr>
            <a:r>
              <a:rPr lang="en-US" sz="1800" dirty="0">
                <a:solidFill>
                  <a:srgbClr val="0F1115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Proactive Portfolio Management:</a:t>
            </a:r>
          </a:p>
          <a:p>
            <a:pPr marL="457200" indent="-457200" algn="just">
              <a:buAutoNum type="arabicPeriod"/>
            </a:pPr>
            <a:r>
              <a:rPr lang="en-US" sz="1800" dirty="0">
                <a:solidFill>
                  <a:srgbClr val="0F1115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Active Policy Engagement &amp; Scenario Monitoring</a:t>
            </a:r>
          </a:p>
          <a:p>
            <a:pPr marL="457200" indent="-457200" algn="just">
              <a:buAutoNum type="arabicPeriod"/>
            </a:pPr>
            <a:endParaRPr lang="en-US" sz="1800" dirty="0">
              <a:solidFill>
                <a:srgbClr val="0F1115"/>
              </a:solidFill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n-US" sz="1800" dirty="0">
              <a:solidFill>
                <a:srgbClr val="0F111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b="1" dirty="0">
              <a:solidFill>
                <a:srgbClr val="0F111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b="1" dirty="0">
              <a:solidFill>
                <a:srgbClr val="0F111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40663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366EFC-82D3-3B70-80D7-BD8CA0E07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1FEC2A5-F4E0-42A3-71DC-DE542FD011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9334F7-66B7-8F33-81FF-EE24EACC6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D9E06A8-E5D7-8C2F-B48B-C89508EBFC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67B452A-B76C-E8EE-7CAA-CFBBE8F730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5E9DCA4-DFDD-7510-3BF4-61D8F980C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080270-EC53-FB0C-19DC-97FE9A253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Regulatory Risk Drivers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2FF2D7-39FC-54BA-39DC-5704B8F6E53E}"/>
              </a:ext>
            </a:extLst>
          </p:cNvPr>
          <p:cNvSpPr txBox="1"/>
          <p:nvPr/>
        </p:nvSpPr>
        <p:spPr>
          <a:xfrm>
            <a:off x="4768850" y="1263650"/>
            <a:ext cx="6096000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Arial"/>
                <a:cs typeface="Arial"/>
              </a:rPr>
              <a:t>Compliance Exposure</a:t>
            </a:r>
            <a:endParaRPr lang="en-US" b="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 dirty="0">
                <a:latin typeface="Arial"/>
                <a:cs typeface="Arial"/>
              </a:rPr>
              <a:t>Number of credits Valero must retire annually.</a:t>
            </a:r>
          </a:p>
          <a:p>
            <a:pPr marL="228600" indent="-228600">
              <a:buFont typeface=""/>
              <a:buChar char="•"/>
            </a:pPr>
            <a:r>
              <a:rPr lang="en-US" dirty="0">
                <a:latin typeface="Arial"/>
                <a:cs typeface="Arial"/>
              </a:rPr>
              <a:t>Driven by fuel production volume + carbon intensity.</a:t>
            </a:r>
          </a:p>
          <a:p>
            <a:r>
              <a:rPr lang="en-US" b="1" dirty="0">
                <a:latin typeface="Arial"/>
                <a:cs typeface="Arial"/>
              </a:rPr>
              <a:t>Credit Price Volatility</a:t>
            </a:r>
          </a:p>
          <a:p>
            <a:pPr marL="228600" indent="-228600">
              <a:buFont typeface=""/>
              <a:buChar char="•"/>
            </a:pPr>
            <a:r>
              <a:rPr lang="en-US" dirty="0">
                <a:latin typeface="Arial"/>
                <a:cs typeface="Arial"/>
              </a:rPr>
              <a:t>RIN and LCFS prices fluctuate due to policy changes and market conditions.</a:t>
            </a:r>
          </a:p>
          <a:p>
            <a:r>
              <a:rPr lang="en-US" b="1" dirty="0">
                <a:latin typeface="Arial"/>
                <a:cs typeface="Arial"/>
              </a:rPr>
              <a:t>Internal Offsets</a:t>
            </a:r>
          </a:p>
          <a:p>
            <a:pPr marL="228600" indent="-228600">
              <a:buFont typeface=""/>
              <a:buChar char="•"/>
            </a:pPr>
            <a:r>
              <a:rPr lang="en-US" dirty="0">
                <a:latin typeface="Arial"/>
                <a:cs typeface="Arial"/>
              </a:rPr>
              <a:t>Credits generated internally (mainly through Diamond Green Diesel).</a:t>
            </a:r>
          </a:p>
          <a:p>
            <a:pPr marL="228600" indent="-228600">
              <a:buFont typeface=""/>
              <a:buChar char="•"/>
            </a:pPr>
            <a:r>
              <a:rPr lang="en-US" dirty="0">
                <a:latin typeface="Arial"/>
                <a:cs typeface="Arial"/>
              </a:rPr>
              <a:t>Reduce the amount of credits purchased externally.</a:t>
            </a:r>
          </a:p>
          <a:p>
            <a:r>
              <a:rPr lang="en-US" b="1" dirty="0">
                <a:latin typeface="Arial"/>
                <a:cs typeface="Arial"/>
              </a:rPr>
              <a:t>Pass-Through (%)</a:t>
            </a:r>
          </a:p>
          <a:p>
            <a:pPr marL="228600" indent="-228600">
              <a:buFont typeface=""/>
              <a:buChar char="•"/>
            </a:pPr>
            <a:r>
              <a:rPr lang="en-US" dirty="0">
                <a:latin typeface="Arial"/>
                <a:cs typeface="Arial"/>
              </a:rPr>
              <a:t>Portion of compliance cost passed on to customers via fuel pricing.</a:t>
            </a:r>
          </a:p>
          <a:p>
            <a:pPr algn="ctr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7E3CA0-3A7D-9CF8-7CB8-7BFB791EC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7150-95CD-457F-8555-B13D96D2CBB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9957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2FEFEB-7640-A34C-E877-D5EE7A039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C2341EF-CA79-7AF1-D320-86EB17713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EA7B516-EFDF-C6DD-D7D8-CD1F76559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9B375F-2711-A853-5210-35FC63A81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E2FC4CC-9941-4A2B-BA07-368187EC68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4562D9F4-2282-ADB5-B130-A9939498F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526BB0-A658-BA4C-F424-75E99B961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Simulation Model Structure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158CFF-AEBF-AA77-D4B0-CAE25683A1FC}"/>
              </a:ext>
            </a:extLst>
          </p:cNvPr>
          <p:cNvSpPr txBox="1"/>
          <p:nvPr/>
        </p:nvSpPr>
        <p:spPr>
          <a:xfrm>
            <a:off x="4768850" y="1263650"/>
            <a:ext cx="6096000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Monte Carlo Framework:</a:t>
            </a:r>
          </a:p>
          <a:p>
            <a:pPr marL="285750" indent="-285750" algn="l">
              <a:buFont typeface="Arial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Randomly simulate credit price values.</a:t>
            </a:r>
          </a:p>
          <a:p>
            <a:pPr marL="285750" indent="-285750" algn="l">
              <a:buFont typeface="Arial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Multiply by compliance exposure →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Gross Compliance Cost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l">
              <a:buFont typeface="Arial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Subtract Internal Offsets and Pass-Through →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Net Compliance Cost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l">
              <a:buFont typeface="Arial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Record Net Compliance Cost as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Operating Expense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(EBIT ↓).</a:t>
            </a:r>
          </a:p>
          <a:p>
            <a:pPr marL="285750" indent="-285750" algn="l">
              <a:buFont typeface="Arial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Convert net cost into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Cash Outflow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using:</a:t>
            </a:r>
          </a:p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Cash Outflow = Net Compliance Cost ×(1–Accrued Fraction)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 algn="l">
              <a:buFont typeface="Arial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Cash outflow reduces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CFO → Cash Balane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Focus: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Operating Income Impact + Cash Flow Impact only.</a:t>
            </a: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B416D-B903-3ECD-CB0D-CF07F37FF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7150-95CD-457F-8555-B13D96D2CBB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3689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378B42-B6F0-C91F-ED5C-22CF77A68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67EF95A-ACBF-5E9D-8B78-8F7FEC708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253FFEB-BADD-0FEA-4977-FF4E59190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896D40-6379-85EA-2220-E62E29A9A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913AD14-EDF8-03D3-0AED-55B0FB84C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08855AE-7B30-D8DD-BA8C-E76170B41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58CB60-630D-EFB5-EFF3-A1C51BF91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Financial Statement Flow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F2A964-5537-E6AB-052C-0ADEE4485023}"/>
              </a:ext>
            </a:extLst>
          </p:cNvPr>
          <p:cNvSpPr txBox="1"/>
          <p:nvPr/>
        </p:nvSpPr>
        <p:spPr>
          <a:xfrm>
            <a:off x="4768850" y="1263650"/>
            <a:ext cx="6489700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Income Statement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Net Compliance Cost → increases operating expenses.</a:t>
            </a:r>
          </a:p>
          <a:p>
            <a:pPr marL="342900" indent="-342900" algn="l">
              <a:buFont typeface="Arial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Operating Income (EBIT) decreases accordingly.</a:t>
            </a: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Cash Flow Statement</a:t>
            </a:r>
          </a:p>
          <a:p>
            <a:pPr marL="342900" indent="-342900" algn="l">
              <a:buFont typeface="Arial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Paid portion of cost directly reduces Cash Flow from Operations (CFO)</a:t>
            </a:r>
          </a:p>
          <a:p>
            <a:pPr algn="l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Balance Sheet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CFO reduction flows into lower ending Cash balance</a:t>
            </a:r>
          </a:p>
          <a:p>
            <a:pPr marL="342900" indent="-342900" algn="l">
              <a:buFont typeface="Arial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Accruals not modeled here (intentionally simplified).</a:t>
            </a:r>
          </a:p>
          <a:p>
            <a:pPr algn="l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Modeling choice: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Focus on the two most immediate pressures: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Profitability and Liquidity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E9B54E-51D3-FE74-612E-C785C19C5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7150-95CD-457F-8555-B13D96D2CBB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1132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81A491-C769-4CF5-C5CF-8B76BD152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Impact on Income Statement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199E69-BB7F-BC30-8D47-1720A3803C62}"/>
              </a:ext>
            </a:extLst>
          </p:cNvPr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Operating Income drops from $3,845M in 2024 to $2,988.2M (Approx 21% decline)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85750"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Market Risk: Crack spread compression &amp; price volatility reduce margins</a:t>
            </a:r>
          </a:p>
          <a:p>
            <a:pPr marL="285750"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Regulatory Risk: Higher RIN/LCFS compliance increases COGS</a:t>
            </a:r>
          </a:p>
          <a:p>
            <a:pPr marL="285750"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Combined market plus regulatory risks reduces EBIT by approximately 21%</a:t>
            </a:r>
          </a:p>
        </p:txBody>
      </p:sp>
      <p:pic>
        <p:nvPicPr>
          <p:cNvPr id="9" name="Content Placeholder 8" descr="A graph with blue rectangles&#10;&#10;AI-generated content may be incorrect.">
            <a:extLst>
              <a:ext uri="{FF2B5EF4-FFF2-40B4-BE49-F238E27FC236}">
                <a16:creationId xmlns:a16="http://schemas.microsoft.com/office/drawing/2014/main" id="{B368D432-5CEE-6E85-5EEB-E3A675A538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11532" y="2789856"/>
            <a:ext cx="5150277" cy="3103041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18D4C7-C774-BE51-36A0-46BDA7D63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rtl="0">
              <a:spcAft>
                <a:spcPts val="600"/>
              </a:spcAft>
            </a:pPr>
            <a:fld id="{87607150-95CD-457F-8555-B13D96D2CBB6}" type="slidenum">
              <a:rPr lang="en-US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rtl="0">
                <a:spcAft>
                  <a:spcPts val="600"/>
                </a:spcAft>
              </a:pPr>
              <a:t>25</a:t>
            </a:fld>
            <a:endParaRPr lang="en-US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0755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D5ED3A-FF73-559C-C4C1-59EEB7878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Impact on Balance Sheet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54A060-35CE-AE40-B815-4C714192910D}"/>
              </a:ext>
            </a:extLst>
          </p:cNvPr>
          <p:cNvSpPr txBox="1"/>
          <p:nvPr/>
        </p:nvSpPr>
        <p:spPr>
          <a:xfrm>
            <a:off x="645066" y="2031101"/>
            <a:ext cx="4282984" cy="351194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Margin compression from market risk reduces cash generated</a:t>
            </a:r>
          </a:p>
          <a:p>
            <a:pPr marL="285750"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RIN/LCFS compliance cost increases reduce CFO</a:t>
            </a:r>
          </a:p>
          <a:p>
            <a:pPr marL="285750"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Operating income falls → CFO falls → Cash falls</a:t>
            </a:r>
          </a:p>
          <a:p>
            <a:pPr marL="285750"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8457EC-7790-DD72-C2C6-818BBC70C1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87738" y="1617125"/>
            <a:ext cx="5628018" cy="339088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9F4858-9841-82C0-9B45-CC1E841F6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rtl="0">
              <a:spcAft>
                <a:spcPts val="600"/>
              </a:spcAft>
            </a:pPr>
            <a:fld id="{87607150-95CD-457F-8555-B13D96D2CBB6}" type="slidenum">
              <a:rPr lang="en-US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rtl="0">
                <a:spcAft>
                  <a:spcPts val="600"/>
                </a:spcAft>
              </a:pPr>
              <a:t>26</a:t>
            </a:fld>
            <a:endParaRPr lang="en-US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57063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33BB2D-8716-29D4-1AD0-04054E151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Impact on Balance Sheet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4CAE8A-7927-26D2-7D87-1B2B46E02EC0}"/>
              </a:ext>
            </a:extLst>
          </p:cNvPr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Utilization decrease → reduced refining throughput</a:t>
            </a:r>
          </a:p>
          <a:p>
            <a:pPr marL="285750"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Lower input volume → lower ending inventory</a:t>
            </a:r>
          </a:p>
          <a:p>
            <a:pPr marL="285750"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Content Placeholder 4" descr="A graph with blue squares and numbers&#10;&#10;AI-generated content may be incorrect.">
            <a:extLst>
              <a:ext uri="{FF2B5EF4-FFF2-40B4-BE49-F238E27FC236}">
                <a16:creationId xmlns:a16="http://schemas.microsoft.com/office/drawing/2014/main" id="{69247D06-1E62-E7AC-74F6-4F0C1B5C34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977" r="12480" b="1"/>
          <a:stretch>
            <a:fillRect/>
          </a:stretch>
        </p:blipFill>
        <p:spPr>
          <a:xfrm>
            <a:off x="5911532" y="2484255"/>
            <a:ext cx="5150277" cy="371424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FCF14-5421-0295-AE99-E671BA3E0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rtl="0">
              <a:spcAft>
                <a:spcPts val="600"/>
              </a:spcAft>
              <a:defRPr/>
            </a:pPr>
            <a:fld id="{87607150-95CD-457F-8555-B13D96D2CBB6}" type="slidenum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rtl="0">
                <a:spcAft>
                  <a:spcPts val="600"/>
                </a:spcAft>
                <a:defRPr/>
              </a:pPr>
              <a:t>27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84607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0F775C-7F51-F7D7-CCDD-AECF10854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Impact on Balance Sheet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1C0655-1BE0-D65C-F66F-7806FDC866CF}"/>
              </a:ext>
            </a:extLst>
          </p:cNvPr>
          <p:cNvSpPr txBox="1"/>
          <p:nvPr/>
        </p:nvSpPr>
        <p:spPr>
          <a:xfrm>
            <a:off x="645066" y="2031101"/>
            <a:ext cx="4282984" cy="351194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Lower utilization → fewer crude purchases</a:t>
            </a:r>
          </a:p>
          <a:p>
            <a:pPr marL="285750"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Reduced purchasing → lower supplier payables</a:t>
            </a:r>
          </a:p>
          <a:p>
            <a:pPr marL="285750"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D4C162-03C7-CAE2-F28A-F8EC26B023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87738" y="1617125"/>
            <a:ext cx="5628018" cy="339088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1F1A4-BDB7-4442-2F5E-D577FD3FD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rtl="0">
              <a:spcAft>
                <a:spcPts val="600"/>
              </a:spcAft>
            </a:pPr>
            <a:fld id="{87607150-95CD-457F-8555-B13D96D2CBB6}" type="slidenum">
              <a:rPr lang="en-US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rtl="0">
                <a:spcAft>
                  <a:spcPts val="600"/>
                </a:spcAft>
              </a:pPr>
              <a:t>28</a:t>
            </a:fld>
            <a:endParaRPr lang="en-US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07501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74BF23-75C5-8B70-7590-6C6B9BB60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anchor="b">
            <a:normAutofit/>
          </a:bodyPr>
          <a:lstStyle/>
          <a:p>
            <a:r>
              <a:rPr lang="en-US" sz="4800" dirty="0"/>
              <a:t>Scenario Analysis – Income Statement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7B634-97A0-3ED7-692D-7C463E222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1578" y="3037254"/>
            <a:ext cx="4530898" cy="363945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700" dirty="0">
                <a:latin typeface="Arial"/>
                <a:cs typeface="Arial"/>
              </a:rPr>
              <a:t>The weighted simulation applies 70% to the Base Case, and 15% each to the Best- and Worst-Case scenarios.</a:t>
            </a:r>
          </a:p>
          <a:p>
            <a:r>
              <a:rPr lang="en-US" sz="1700" dirty="0">
                <a:latin typeface="Arial"/>
                <a:cs typeface="Arial"/>
              </a:rPr>
              <a:t>The Normal/Base Case scenario shows OI stabilizing slightly above the weighted value, around $3.13B</a:t>
            </a:r>
          </a:p>
          <a:p>
            <a:r>
              <a:rPr lang="en-US" sz="1700" dirty="0">
                <a:latin typeface="Arial"/>
                <a:cs typeface="Arial"/>
              </a:rPr>
              <a:t>The Best-Case scenario improves Operating Income to approximately. $3.3B, indicating upside potential if spreads strengthen and compliance costs ease.</a:t>
            </a:r>
          </a:p>
          <a:p>
            <a:r>
              <a:rPr lang="en-US" sz="1700" dirty="0">
                <a:latin typeface="Arial"/>
                <a:cs typeface="Arial"/>
              </a:rPr>
              <a:t>The Worst-Case scenario declines to Approx. $2.8B, highlighting vulnerability to margin compression and regulatory cost spikes</a:t>
            </a:r>
          </a:p>
          <a:p>
            <a:endParaRPr lang="en-US" sz="1700" dirty="0">
              <a:latin typeface="Arial"/>
              <a:cs typeface="Arial"/>
            </a:endParaRPr>
          </a:p>
          <a:p>
            <a:endParaRPr lang="en-US" sz="1700" dirty="0">
              <a:latin typeface="Arial"/>
              <a:cs typeface="Arial"/>
            </a:endParaRPr>
          </a:p>
          <a:p>
            <a:endParaRPr lang="en-US" sz="17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B23D6B-C8E5-0368-56E2-9C10EDD94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7607150-95CD-457F-8555-B13D96D2CBB6}" type="slidenum">
              <a:rPr lang="en-US" smtClean="0"/>
              <a:pPr>
                <a:spcAft>
                  <a:spcPts val="600"/>
                </a:spcAft>
              </a:pPr>
              <a:t>29</a:t>
            </a:fld>
            <a:endParaRPr lang="en-US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8142F69-BAB6-0E36-9605-48260F468E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7641013"/>
              </p:ext>
            </p:extLst>
          </p:nvPr>
        </p:nvGraphicFramePr>
        <p:xfrm>
          <a:off x="635295" y="2524715"/>
          <a:ext cx="5150277" cy="3714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414133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389D32-0499-2DC2-33DD-083608E31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Scenario Analysis – Balance Sheet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5FDF87-82E4-B9BA-585B-D60399A858C1}"/>
              </a:ext>
            </a:extLst>
          </p:cNvPr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Total Cash decreases across all scenarios as Market and Regulatory risks reduce operating margins and increase compliance costs.</a:t>
            </a:r>
          </a:p>
          <a:p>
            <a:pPr marL="285750"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Weighted and Normal cases show a 25–30% drop from reported levels, indicating sustained pressure on cash generation.</a:t>
            </a:r>
          </a:p>
          <a:p>
            <a:pPr marL="285750"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Worst Case shows the sharpest decline, reflecting the combined impact of weaker crack spreads and higher RIN costs on liquidity.</a:t>
            </a:r>
          </a:p>
          <a:p>
            <a:pPr marL="285750"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68E6E1-C00B-3AD5-D97B-D45CE2D47F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11532" y="2789856"/>
            <a:ext cx="5150277" cy="310304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9E56F-F715-CCB4-9887-8F20A671D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rtl="0">
              <a:spcAft>
                <a:spcPts val="600"/>
              </a:spcAft>
            </a:pPr>
            <a:fld id="{87607150-95CD-457F-8555-B13D96D2CBB6}" type="slidenum">
              <a:rPr lang="en-US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rtl="0">
                <a:spcAft>
                  <a:spcPts val="600"/>
                </a:spcAft>
              </a:pPr>
              <a:t>30</a:t>
            </a:fld>
            <a:endParaRPr lang="en-US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50300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6A1B05-5088-163C-BF1A-013F39155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Scenario Analysis – Balance Sheet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DE5E1B-EFC6-ACE9-21C0-BF90E38BA552}"/>
              </a:ext>
            </a:extLst>
          </p:cNvPr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Inventory levels move directly with utilization: higher utilization (Best Case) increases production and raises inventory, while lower utilization (Worst Case) reduces output and lowers inventory.</a:t>
            </a:r>
          </a:p>
          <a:p>
            <a:pPr marL="285750"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Weighted and Normal scenarios show inventory staying close to current levels, indicating only moderate changes to operational throughput.</a:t>
            </a:r>
          </a:p>
          <a:p>
            <a:pPr marL="285750"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Worst Case shows the sharpest decline in inventory due to a significant drop in utilization, reflecting reduced refinery activity and lower production volumes.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AA09D2-10CA-1564-D1FA-30F051873E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2953" r="3504" b="1"/>
          <a:stretch>
            <a:fillRect/>
          </a:stretch>
        </p:blipFill>
        <p:spPr>
          <a:xfrm>
            <a:off x="5911532" y="2484255"/>
            <a:ext cx="5150277" cy="371424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3D164-253D-E00B-0AA2-BD13B1668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rtl="0">
              <a:spcAft>
                <a:spcPts val="600"/>
              </a:spcAft>
              <a:defRPr/>
            </a:pPr>
            <a:fld id="{87607150-95CD-457F-8555-B13D96D2CBB6}" type="slidenum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rtl="0">
                <a:spcAft>
                  <a:spcPts val="600"/>
                </a:spcAft>
                <a:defRPr/>
              </a:pPr>
              <a:t>31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92299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9FB422D-B5B7-B7D0-82EC-5A4CDB41965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9092" t="6059" r="-7" b="1732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B9FFB7-5136-A398-D14D-F1A2021C4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Recommendations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B4EEE-1D19-E649-E0BE-82B0D1E6F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7607150-95CD-457F-8555-B13D96D2CBB6}" type="slidenum">
              <a:rPr lang="en-US" smtClean="0"/>
              <a:pPr>
                <a:spcAft>
                  <a:spcPts val="600"/>
                </a:spcAft>
              </a:pPr>
              <a:t>32</a:t>
            </a:fld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7F1A3731-931E-AF30-326D-861D1EAA96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63161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879257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423416"/>
            <a:ext cx="1693545" cy="58419"/>
          </a:xfrm>
          <a:custGeom>
            <a:avLst/>
            <a:gdLst/>
            <a:ahLst/>
            <a:cxnLst/>
            <a:rect l="l" t="t" r="r" b="b"/>
            <a:pathLst>
              <a:path w="1693545" h="58419">
                <a:moveTo>
                  <a:pt x="1693418" y="0"/>
                </a:moveTo>
                <a:lnTo>
                  <a:pt x="0" y="0"/>
                </a:lnTo>
                <a:lnTo>
                  <a:pt x="0" y="57911"/>
                </a:lnTo>
                <a:lnTo>
                  <a:pt x="1693418" y="57911"/>
                </a:lnTo>
                <a:lnTo>
                  <a:pt x="1693418" y="0"/>
                </a:lnTo>
                <a:close/>
              </a:path>
            </a:pathLst>
          </a:custGeom>
          <a:solidFill>
            <a:srgbClr val="006F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04416" y="1452372"/>
            <a:ext cx="546100" cy="0"/>
          </a:xfrm>
          <a:custGeom>
            <a:avLst/>
            <a:gdLst/>
            <a:ahLst/>
            <a:cxnLst/>
            <a:rect l="l" t="t" r="r" b="b"/>
            <a:pathLst>
              <a:path w="546100">
                <a:moveTo>
                  <a:pt x="0" y="0"/>
                </a:moveTo>
                <a:lnTo>
                  <a:pt x="545719" y="0"/>
                </a:lnTo>
              </a:path>
            </a:pathLst>
          </a:custGeom>
          <a:ln w="57912">
            <a:solidFill>
              <a:srgbClr val="006F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55164" y="1429511"/>
            <a:ext cx="9737725" cy="15875"/>
          </a:xfrm>
          <a:custGeom>
            <a:avLst/>
            <a:gdLst/>
            <a:ahLst/>
            <a:cxnLst/>
            <a:rect l="l" t="t" r="r" b="b"/>
            <a:pathLst>
              <a:path w="9737725" h="15875">
                <a:moveTo>
                  <a:pt x="0" y="15366"/>
                </a:moveTo>
                <a:lnTo>
                  <a:pt x="9737598" y="0"/>
                </a:lnTo>
              </a:path>
            </a:pathLst>
          </a:custGeom>
          <a:ln w="6096">
            <a:solidFill>
              <a:srgbClr val="FFC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759" y="108204"/>
            <a:ext cx="134111" cy="13411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3880" y="108204"/>
            <a:ext cx="134112" cy="13411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2668" y="108204"/>
            <a:ext cx="134112" cy="13411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79932" y="108204"/>
            <a:ext cx="134112" cy="134112"/>
          </a:xfrm>
          <a:prstGeom prst="rect">
            <a:avLst/>
          </a:prstGeom>
        </p:spPr>
      </p:pic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26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>
                <a:solidFill>
                  <a:srgbClr val="000000"/>
                </a:solidFill>
              </a:rPr>
              <a:t>Questions</a:t>
            </a:r>
            <a:r>
              <a:rPr spc="-40"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00000"/>
                </a:solidFill>
              </a:rPr>
              <a:t>and</a:t>
            </a:r>
            <a:r>
              <a:rPr spc="-40">
                <a:solidFill>
                  <a:srgbClr val="000000"/>
                </a:solidFill>
              </a:rPr>
              <a:t> </a:t>
            </a:r>
            <a:r>
              <a:rPr spc="-10">
                <a:solidFill>
                  <a:srgbClr val="000000"/>
                </a:solidFill>
              </a:rPr>
              <a:t>Answers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3238500" y="1752600"/>
            <a:ext cx="5293360" cy="4281805"/>
            <a:chOff x="3238500" y="1752600"/>
            <a:chExt cx="5293360" cy="4281805"/>
          </a:xfrm>
        </p:grpSpPr>
        <p:sp>
          <p:nvSpPr>
            <p:cNvPr id="11" name="object 11"/>
            <p:cNvSpPr/>
            <p:nvPr/>
          </p:nvSpPr>
          <p:spPr>
            <a:xfrm>
              <a:off x="3238500" y="1752599"/>
              <a:ext cx="2767965" cy="3165475"/>
            </a:xfrm>
            <a:custGeom>
              <a:avLst/>
              <a:gdLst/>
              <a:ahLst/>
              <a:cxnLst/>
              <a:rect l="l" t="t" r="r" b="b"/>
              <a:pathLst>
                <a:path w="2767965" h="3165475">
                  <a:moveTo>
                    <a:pt x="1540764" y="1173734"/>
                  </a:moveTo>
                  <a:lnTo>
                    <a:pt x="1540217" y="1128014"/>
                  </a:lnTo>
                  <a:lnTo>
                    <a:pt x="1540129" y="1119390"/>
                  </a:lnTo>
                  <a:lnTo>
                    <a:pt x="1538439" y="1068895"/>
                  </a:lnTo>
                  <a:lnTo>
                    <a:pt x="1536039" y="1021930"/>
                  </a:lnTo>
                  <a:lnTo>
                    <a:pt x="1533271" y="978154"/>
                  </a:lnTo>
                  <a:lnTo>
                    <a:pt x="1526895" y="937933"/>
                  </a:lnTo>
                  <a:lnTo>
                    <a:pt x="1518767" y="896327"/>
                  </a:lnTo>
                  <a:lnTo>
                    <a:pt x="1508531" y="853300"/>
                  </a:lnTo>
                  <a:lnTo>
                    <a:pt x="1495806" y="808863"/>
                  </a:lnTo>
                  <a:lnTo>
                    <a:pt x="1475498" y="771563"/>
                  </a:lnTo>
                  <a:lnTo>
                    <a:pt x="1448130" y="744474"/>
                  </a:lnTo>
                  <a:lnTo>
                    <a:pt x="1413738" y="727964"/>
                  </a:lnTo>
                  <a:lnTo>
                    <a:pt x="1372362" y="722376"/>
                  </a:lnTo>
                  <a:lnTo>
                    <a:pt x="1350010" y="724446"/>
                  </a:lnTo>
                  <a:lnTo>
                    <a:pt x="1308188" y="739851"/>
                  </a:lnTo>
                  <a:lnTo>
                    <a:pt x="1274483" y="770305"/>
                  </a:lnTo>
                  <a:lnTo>
                    <a:pt x="1248968" y="814387"/>
                  </a:lnTo>
                  <a:lnTo>
                    <a:pt x="1229855" y="873086"/>
                  </a:lnTo>
                  <a:lnTo>
                    <a:pt x="1217129" y="946429"/>
                  </a:lnTo>
                  <a:lnTo>
                    <a:pt x="1211453" y="989457"/>
                  </a:lnTo>
                  <a:lnTo>
                    <a:pt x="1208671" y="1035189"/>
                  </a:lnTo>
                  <a:lnTo>
                    <a:pt x="1206271" y="1081595"/>
                  </a:lnTo>
                  <a:lnTo>
                    <a:pt x="1204595" y="1128014"/>
                  </a:lnTo>
                  <a:lnTo>
                    <a:pt x="1203960" y="1173734"/>
                  </a:lnTo>
                  <a:lnTo>
                    <a:pt x="1204569" y="1221028"/>
                  </a:lnTo>
                  <a:lnTo>
                    <a:pt x="1204645" y="1227366"/>
                  </a:lnTo>
                  <a:lnTo>
                    <a:pt x="1206728" y="1280972"/>
                  </a:lnTo>
                  <a:lnTo>
                    <a:pt x="1210221" y="1334566"/>
                  </a:lnTo>
                  <a:lnTo>
                    <a:pt x="1215136" y="1388110"/>
                  </a:lnTo>
                  <a:lnTo>
                    <a:pt x="1221524" y="1439329"/>
                  </a:lnTo>
                  <a:lnTo>
                    <a:pt x="1229677" y="1484541"/>
                  </a:lnTo>
                  <a:lnTo>
                    <a:pt x="1239913" y="1521993"/>
                  </a:lnTo>
                  <a:lnTo>
                    <a:pt x="1252601" y="1549908"/>
                  </a:lnTo>
                  <a:lnTo>
                    <a:pt x="1256411" y="1549908"/>
                  </a:lnTo>
                  <a:lnTo>
                    <a:pt x="1260627" y="1528686"/>
                  </a:lnTo>
                  <a:lnTo>
                    <a:pt x="1268018" y="1509928"/>
                  </a:lnTo>
                  <a:lnTo>
                    <a:pt x="1293749" y="1478407"/>
                  </a:lnTo>
                  <a:lnTo>
                    <a:pt x="1325587" y="1453095"/>
                  </a:lnTo>
                  <a:lnTo>
                    <a:pt x="1368679" y="1444625"/>
                  </a:lnTo>
                  <a:lnTo>
                    <a:pt x="1390967" y="1446034"/>
                  </a:lnTo>
                  <a:lnTo>
                    <a:pt x="1432826" y="1457274"/>
                  </a:lnTo>
                  <a:lnTo>
                    <a:pt x="1468615" y="1477733"/>
                  </a:lnTo>
                  <a:lnTo>
                    <a:pt x="1503299" y="1501013"/>
                  </a:lnTo>
                  <a:lnTo>
                    <a:pt x="1513243" y="1468564"/>
                  </a:lnTo>
                  <a:lnTo>
                    <a:pt x="1518564" y="1444625"/>
                  </a:lnTo>
                  <a:lnTo>
                    <a:pt x="1521091" y="1433296"/>
                  </a:lnTo>
                  <a:lnTo>
                    <a:pt x="1527530" y="1395222"/>
                  </a:lnTo>
                  <a:lnTo>
                    <a:pt x="1533271" y="1354328"/>
                  </a:lnTo>
                  <a:lnTo>
                    <a:pt x="1536039" y="1311325"/>
                  </a:lnTo>
                  <a:lnTo>
                    <a:pt x="1538439" y="1266888"/>
                  </a:lnTo>
                  <a:lnTo>
                    <a:pt x="1540129" y="1221028"/>
                  </a:lnTo>
                  <a:lnTo>
                    <a:pt x="1540764" y="1173734"/>
                  </a:lnTo>
                  <a:close/>
                </a:path>
                <a:path w="2767965" h="3165475">
                  <a:moveTo>
                    <a:pt x="2767584" y="338328"/>
                  </a:moveTo>
                  <a:lnTo>
                    <a:pt x="2764193" y="288950"/>
                  </a:lnTo>
                  <a:lnTo>
                    <a:pt x="2754338" y="241604"/>
                  </a:lnTo>
                  <a:lnTo>
                    <a:pt x="2738424" y="196875"/>
                  </a:lnTo>
                  <a:lnTo>
                    <a:pt x="2716898" y="155308"/>
                  </a:lnTo>
                  <a:lnTo>
                    <a:pt x="2690152" y="117462"/>
                  </a:lnTo>
                  <a:lnTo>
                    <a:pt x="2658630" y="83908"/>
                  </a:lnTo>
                  <a:lnTo>
                    <a:pt x="2622766" y="55194"/>
                  </a:lnTo>
                  <a:lnTo>
                    <a:pt x="2582964" y="31889"/>
                  </a:lnTo>
                  <a:lnTo>
                    <a:pt x="2539657" y="14554"/>
                  </a:lnTo>
                  <a:lnTo>
                    <a:pt x="2493276" y="3733"/>
                  </a:lnTo>
                  <a:lnTo>
                    <a:pt x="2444242" y="0"/>
                  </a:lnTo>
                  <a:lnTo>
                    <a:pt x="1925320" y="0"/>
                  </a:lnTo>
                  <a:lnTo>
                    <a:pt x="1925320" y="1443609"/>
                  </a:lnTo>
                  <a:lnTo>
                    <a:pt x="1925320" y="1541272"/>
                  </a:lnTo>
                  <a:lnTo>
                    <a:pt x="1923275" y="1586484"/>
                  </a:lnTo>
                  <a:lnTo>
                    <a:pt x="1923148" y="1589214"/>
                  </a:lnTo>
                  <a:lnTo>
                    <a:pt x="1923059" y="1591271"/>
                  </a:lnTo>
                  <a:lnTo>
                    <a:pt x="1915566" y="1640573"/>
                  </a:lnTo>
                  <a:lnTo>
                    <a:pt x="1902574" y="1683435"/>
                  </a:lnTo>
                  <a:lnTo>
                    <a:pt x="1883435" y="1721789"/>
                  </a:lnTo>
                  <a:lnTo>
                    <a:pt x="1857629" y="1755648"/>
                  </a:lnTo>
                  <a:lnTo>
                    <a:pt x="1820926" y="1792935"/>
                  </a:lnTo>
                  <a:lnTo>
                    <a:pt x="1778609" y="1819973"/>
                  </a:lnTo>
                  <a:lnTo>
                    <a:pt x="1730654" y="1836445"/>
                  </a:lnTo>
                  <a:lnTo>
                    <a:pt x="1677035" y="1842020"/>
                  </a:lnTo>
                  <a:lnTo>
                    <a:pt x="1633423" y="1838490"/>
                  </a:lnTo>
                  <a:lnTo>
                    <a:pt x="1592961" y="1827923"/>
                  </a:lnTo>
                  <a:lnTo>
                    <a:pt x="1556016" y="1810296"/>
                  </a:lnTo>
                  <a:lnTo>
                    <a:pt x="1522984" y="1785632"/>
                  </a:lnTo>
                  <a:lnTo>
                    <a:pt x="1494040" y="1755914"/>
                  </a:lnTo>
                  <a:lnTo>
                    <a:pt x="1469351" y="1722678"/>
                  </a:lnTo>
                  <a:lnTo>
                    <a:pt x="1448892" y="1685239"/>
                  </a:lnTo>
                  <a:lnTo>
                    <a:pt x="1432687" y="1642872"/>
                  </a:lnTo>
                  <a:lnTo>
                    <a:pt x="1424800" y="1645005"/>
                  </a:lnTo>
                  <a:lnTo>
                    <a:pt x="1417637" y="1646097"/>
                  </a:lnTo>
                  <a:lnTo>
                    <a:pt x="1409433" y="1646555"/>
                  </a:lnTo>
                  <a:lnTo>
                    <a:pt x="1402588" y="1646555"/>
                  </a:lnTo>
                  <a:lnTo>
                    <a:pt x="1394167" y="1648764"/>
                  </a:lnTo>
                  <a:lnTo>
                    <a:pt x="1386103" y="1649895"/>
                  </a:lnTo>
                  <a:lnTo>
                    <a:pt x="1377708" y="1650365"/>
                  </a:lnTo>
                  <a:lnTo>
                    <a:pt x="1372489" y="1650365"/>
                  </a:lnTo>
                  <a:lnTo>
                    <a:pt x="1318704" y="1648256"/>
                  </a:lnTo>
                  <a:lnTo>
                    <a:pt x="1267358" y="1641919"/>
                  </a:lnTo>
                  <a:lnTo>
                    <a:pt x="1218399" y="1631340"/>
                  </a:lnTo>
                  <a:lnTo>
                    <a:pt x="1171778" y="1616544"/>
                  </a:lnTo>
                  <a:lnTo>
                    <a:pt x="1127442" y="1597507"/>
                  </a:lnTo>
                  <a:lnTo>
                    <a:pt x="1085354" y="1574241"/>
                  </a:lnTo>
                  <a:lnTo>
                    <a:pt x="1045476" y="1546733"/>
                  </a:lnTo>
                  <a:lnTo>
                    <a:pt x="1007745" y="1514983"/>
                  </a:lnTo>
                  <a:lnTo>
                    <a:pt x="973353" y="1480121"/>
                  </a:lnTo>
                  <a:lnTo>
                    <a:pt x="943559" y="1443126"/>
                  </a:lnTo>
                  <a:lnTo>
                    <a:pt x="918349" y="1404010"/>
                  </a:lnTo>
                  <a:lnTo>
                    <a:pt x="897724" y="1362773"/>
                  </a:lnTo>
                  <a:lnTo>
                    <a:pt x="881684" y="1319428"/>
                  </a:lnTo>
                  <a:lnTo>
                    <a:pt x="870216" y="1273962"/>
                  </a:lnTo>
                  <a:lnTo>
                    <a:pt x="863346" y="1226375"/>
                  </a:lnTo>
                  <a:lnTo>
                    <a:pt x="861060" y="1176655"/>
                  </a:lnTo>
                  <a:lnTo>
                    <a:pt x="863295" y="1125740"/>
                  </a:lnTo>
                  <a:lnTo>
                    <a:pt x="870280" y="1074508"/>
                  </a:lnTo>
                  <a:lnTo>
                    <a:pt x="881888" y="1027264"/>
                  </a:lnTo>
                  <a:lnTo>
                    <a:pt x="898207" y="982611"/>
                  </a:lnTo>
                  <a:lnTo>
                    <a:pt x="919276" y="940600"/>
                  </a:lnTo>
                  <a:lnTo>
                    <a:pt x="945172" y="901268"/>
                  </a:lnTo>
                  <a:lnTo>
                    <a:pt x="975906" y="864666"/>
                  </a:lnTo>
                  <a:lnTo>
                    <a:pt x="1011555" y="830834"/>
                  </a:lnTo>
                  <a:lnTo>
                    <a:pt x="1050493" y="799261"/>
                  </a:lnTo>
                  <a:lnTo>
                    <a:pt x="1091196" y="772185"/>
                  </a:lnTo>
                  <a:lnTo>
                    <a:pt x="1133678" y="749528"/>
                  </a:lnTo>
                  <a:lnTo>
                    <a:pt x="1177925" y="731189"/>
                  </a:lnTo>
                  <a:lnTo>
                    <a:pt x="1223924" y="717092"/>
                  </a:lnTo>
                  <a:lnTo>
                    <a:pt x="1271689" y="707123"/>
                  </a:lnTo>
                  <a:lnTo>
                    <a:pt x="1321206" y="701217"/>
                  </a:lnTo>
                  <a:lnTo>
                    <a:pt x="1372489" y="699262"/>
                  </a:lnTo>
                  <a:lnTo>
                    <a:pt x="1423797" y="701382"/>
                  </a:lnTo>
                  <a:lnTo>
                    <a:pt x="1473327" y="707720"/>
                  </a:lnTo>
                  <a:lnTo>
                    <a:pt x="1521104" y="718286"/>
                  </a:lnTo>
                  <a:lnTo>
                    <a:pt x="1567103" y="733082"/>
                  </a:lnTo>
                  <a:lnTo>
                    <a:pt x="1611350" y="752106"/>
                  </a:lnTo>
                  <a:lnTo>
                    <a:pt x="1653844" y="775347"/>
                  </a:lnTo>
                  <a:lnTo>
                    <a:pt x="1694573" y="802817"/>
                  </a:lnTo>
                  <a:lnTo>
                    <a:pt x="1733550" y="834517"/>
                  </a:lnTo>
                  <a:lnTo>
                    <a:pt x="1770392" y="869442"/>
                  </a:lnTo>
                  <a:lnTo>
                    <a:pt x="1802053" y="906526"/>
                  </a:lnTo>
                  <a:lnTo>
                    <a:pt x="1828596" y="945794"/>
                  </a:lnTo>
                  <a:lnTo>
                    <a:pt x="1850110" y="987298"/>
                  </a:lnTo>
                  <a:lnTo>
                    <a:pt x="1866696" y="1031100"/>
                  </a:lnTo>
                  <a:lnTo>
                    <a:pt x="1878431" y="1077226"/>
                  </a:lnTo>
                  <a:lnTo>
                    <a:pt x="1885416" y="1125740"/>
                  </a:lnTo>
                  <a:lnTo>
                    <a:pt x="1887728" y="1176655"/>
                  </a:lnTo>
                  <a:lnTo>
                    <a:pt x="1885035" y="1223568"/>
                  </a:lnTo>
                  <a:lnTo>
                    <a:pt x="1877110" y="1269390"/>
                  </a:lnTo>
                  <a:lnTo>
                    <a:pt x="1864131" y="1313942"/>
                  </a:lnTo>
                  <a:lnTo>
                    <a:pt x="1846275" y="1357045"/>
                  </a:lnTo>
                  <a:lnTo>
                    <a:pt x="1823720" y="1398524"/>
                  </a:lnTo>
                  <a:lnTo>
                    <a:pt x="1795310" y="1437690"/>
                  </a:lnTo>
                  <a:lnTo>
                    <a:pt x="1764182" y="1474000"/>
                  </a:lnTo>
                  <a:lnTo>
                    <a:pt x="1730349" y="1507248"/>
                  </a:lnTo>
                  <a:lnTo>
                    <a:pt x="1693811" y="1537271"/>
                  </a:lnTo>
                  <a:lnTo>
                    <a:pt x="1654556" y="1563878"/>
                  </a:lnTo>
                  <a:lnTo>
                    <a:pt x="1665922" y="1569504"/>
                  </a:lnTo>
                  <a:lnTo>
                    <a:pt x="1707134" y="1586484"/>
                  </a:lnTo>
                  <a:lnTo>
                    <a:pt x="1752638" y="1593329"/>
                  </a:lnTo>
                  <a:lnTo>
                    <a:pt x="1767332" y="1593977"/>
                  </a:lnTo>
                  <a:lnTo>
                    <a:pt x="1799678" y="1591271"/>
                  </a:lnTo>
                  <a:lnTo>
                    <a:pt x="1854568" y="1571752"/>
                  </a:lnTo>
                  <a:lnTo>
                    <a:pt x="1891779" y="1537677"/>
                  </a:lnTo>
                  <a:lnTo>
                    <a:pt x="1911299" y="1483398"/>
                  </a:lnTo>
                  <a:lnTo>
                    <a:pt x="1914017" y="1443609"/>
                  </a:lnTo>
                  <a:lnTo>
                    <a:pt x="1925320" y="1443609"/>
                  </a:lnTo>
                  <a:lnTo>
                    <a:pt x="1925320" y="0"/>
                  </a:lnTo>
                  <a:lnTo>
                    <a:pt x="349758" y="0"/>
                  </a:lnTo>
                  <a:lnTo>
                    <a:pt x="304165" y="3149"/>
                  </a:lnTo>
                  <a:lnTo>
                    <a:pt x="259854" y="12280"/>
                  </a:lnTo>
                  <a:lnTo>
                    <a:pt x="217360" y="26974"/>
                  </a:lnTo>
                  <a:lnTo>
                    <a:pt x="177177" y="46799"/>
                  </a:lnTo>
                  <a:lnTo>
                    <a:pt x="139801" y="71323"/>
                  </a:lnTo>
                  <a:lnTo>
                    <a:pt x="105765" y="100114"/>
                  </a:lnTo>
                  <a:lnTo>
                    <a:pt x="75565" y="132740"/>
                  </a:lnTo>
                  <a:lnTo>
                    <a:pt x="49720" y="168770"/>
                  </a:lnTo>
                  <a:lnTo>
                    <a:pt x="28727" y="207784"/>
                  </a:lnTo>
                  <a:lnTo>
                    <a:pt x="13106" y="249326"/>
                  </a:lnTo>
                  <a:lnTo>
                    <a:pt x="3352" y="292989"/>
                  </a:lnTo>
                  <a:lnTo>
                    <a:pt x="0" y="338328"/>
                  </a:lnTo>
                  <a:lnTo>
                    <a:pt x="0" y="2150364"/>
                  </a:lnTo>
                  <a:lnTo>
                    <a:pt x="3352" y="2195563"/>
                  </a:lnTo>
                  <a:lnTo>
                    <a:pt x="13106" y="2238819"/>
                  </a:lnTo>
                  <a:lnTo>
                    <a:pt x="28727" y="2279751"/>
                  </a:lnTo>
                  <a:lnTo>
                    <a:pt x="49720" y="2317991"/>
                  </a:lnTo>
                  <a:lnTo>
                    <a:pt x="75565" y="2353145"/>
                  </a:lnTo>
                  <a:lnTo>
                    <a:pt x="105765" y="2384844"/>
                  </a:lnTo>
                  <a:lnTo>
                    <a:pt x="139801" y="2412708"/>
                  </a:lnTo>
                  <a:lnTo>
                    <a:pt x="177177" y="2436355"/>
                  </a:lnTo>
                  <a:lnTo>
                    <a:pt x="217360" y="2455405"/>
                  </a:lnTo>
                  <a:lnTo>
                    <a:pt x="259854" y="2469489"/>
                  </a:lnTo>
                  <a:lnTo>
                    <a:pt x="304165" y="2478214"/>
                  </a:lnTo>
                  <a:lnTo>
                    <a:pt x="349758" y="2481199"/>
                  </a:lnTo>
                  <a:lnTo>
                    <a:pt x="631698" y="2481199"/>
                  </a:lnTo>
                  <a:lnTo>
                    <a:pt x="611860" y="2759392"/>
                  </a:lnTo>
                  <a:lnTo>
                    <a:pt x="582828" y="2975533"/>
                  </a:lnTo>
                  <a:lnTo>
                    <a:pt x="556615" y="3115551"/>
                  </a:lnTo>
                  <a:lnTo>
                    <a:pt x="545211" y="3165348"/>
                  </a:lnTo>
                  <a:lnTo>
                    <a:pt x="568071" y="3140100"/>
                  </a:lnTo>
                  <a:lnTo>
                    <a:pt x="594677" y="3111893"/>
                  </a:lnTo>
                  <a:lnTo>
                    <a:pt x="624598" y="3081096"/>
                  </a:lnTo>
                  <a:lnTo>
                    <a:pt x="657479" y="3048025"/>
                  </a:lnTo>
                  <a:lnTo>
                    <a:pt x="692886" y="3012998"/>
                  </a:lnTo>
                  <a:lnTo>
                    <a:pt x="730465" y="2976384"/>
                  </a:lnTo>
                  <a:lnTo>
                    <a:pt x="810526" y="2899638"/>
                  </a:lnTo>
                  <a:lnTo>
                    <a:pt x="936980" y="2780804"/>
                  </a:lnTo>
                  <a:lnTo>
                    <a:pt x="1263523" y="2481199"/>
                  </a:lnTo>
                  <a:lnTo>
                    <a:pt x="2444242" y="2481199"/>
                  </a:lnTo>
                  <a:lnTo>
                    <a:pt x="2493276" y="2477655"/>
                  </a:lnTo>
                  <a:lnTo>
                    <a:pt x="2539657" y="2467318"/>
                  </a:lnTo>
                  <a:lnTo>
                    <a:pt x="2582964" y="2450693"/>
                  </a:lnTo>
                  <a:lnTo>
                    <a:pt x="2622766" y="2428265"/>
                  </a:lnTo>
                  <a:lnTo>
                    <a:pt x="2658630" y="2400541"/>
                  </a:lnTo>
                  <a:lnTo>
                    <a:pt x="2690152" y="2368004"/>
                  </a:lnTo>
                  <a:lnTo>
                    <a:pt x="2716898" y="2331148"/>
                  </a:lnTo>
                  <a:lnTo>
                    <a:pt x="2738424" y="2290457"/>
                  </a:lnTo>
                  <a:lnTo>
                    <a:pt x="2754338" y="2246439"/>
                  </a:lnTo>
                  <a:lnTo>
                    <a:pt x="2764193" y="2199576"/>
                  </a:lnTo>
                  <a:lnTo>
                    <a:pt x="2767584" y="2150364"/>
                  </a:lnTo>
                  <a:lnTo>
                    <a:pt x="2767584" y="1842020"/>
                  </a:lnTo>
                  <a:lnTo>
                    <a:pt x="2767584" y="1443609"/>
                  </a:lnTo>
                  <a:lnTo>
                    <a:pt x="2767584" y="699262"/>
                  </a:lnTo>
                  <a:lnTo>
                    <a:pt x="2767584" y="338328"/>
                  </a:lnTo>
                  <a:close/>
                </a:path>
              </a:pathLst>
            </a:custGeom>
            <a:solidFill>
              <a:srgbClr val="FFC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388864" y="2429255"/>
              <a:ext cx="3142615" cy="3605529"/>
            </a:xfrm>
            <a:custGeom>
              <a:avLst/>
              <a:gdLst/>
              <a:ahLst/>
              <a:cxnLst/>
              <a:rect l="l" t="t" r="r" b="b"/>
              <a:pathLst>
                <a:path w="3142615" h="3605529">
                  <a:moveTo>
                    <a:pt x="1766316" y="1504188"/>
                  </a:moveTo>
                  <a:lnTo>
                    <a:pt x="1759242" y="1481099"/>
                  </a:lnTo>
                  <a:lnTo>
                    <a:pt x="1733181" y="1389824"/>
                  </a:lnTo>
                  <a:lnTo>
                    <a:pt x="1649018" y="1089888"/>
                  </a:lnTo>
                  <a:lnTo>
                    <a:pt x="1637614" y="1050404"/>
                  </a:lnTo>
                  <a:lnTo>
                    <a:pt x="1630553" y="1027303"/>
                  </a:lnTo>
                  <a:lnTo>
                    <a:pt x="1625498" y="1008214"/>
                  </a:lnTo>
                  <a:lnTo>
                    <a:pt x="1621155" y="995426"/>
                  </a:lnTo>
                  <a:lnTo>
                    <a:pt x="1616798" y="988263"/>
                  </a:lnTo>
                  <a:lnTo>
                    <a:pt x="1611757" y="986028"/>
                  </a:lnTo>
                  <a:lnTo>
                    <a:pt x="1604505" y="987501"/>
                  </a:lnTo>
                  <a:lnTo>
                    <a:pt x="1599018" y="992136"/>
                  </a:lnTo>
                  <a:lnTo>
                    <a:pt x="1594243" y="1000290"/>
                  </a:lnTo>
                  <a:lnTo>
                    <a:pt x="1589151" y="1012317"/>
                  </a:lnTo>
                  <a:lnTo>
                    <a:pt x="1526501" y="1186510"/>
                  </a:lnTo>
                  <a:lnTo>
                    <a:pt x="1476209" y="1324521"/>
                  </a:lnTo>
                  <a:lnTo>
                    <a:pt x="1452486" y="1388922"/>
                  </a:lnTo>
                  <a:lnTo>
                    <a:pt x="1432064" y="1443634"/>
                  </a:lnTo>
                  <a:lnTo>
                    <a:pt x="1416697" y="1483715"/>
                  </a:lnTo>
                  <a:lnTo>
                    <a:pt x="1408176" y="1504188"/>
                  </a:lnTo>
                  <a:lnTo>
                    <a:pt x="1766316" y="1504188"/>
                  </a:lnTo>
                  <a:close/>
                </a:path>
                <a:path w="3142615" h="3605529">
                  <a:moveTo>
                    <a:pt x="3142488" y="330962"/>
                  </a:moveTo>
                  <a:lnTo>
                    <a:pt x="3139186" y="280860"/>
                  </a:lnTo>
                  <a:lnTo>
                    <a:pt x="3129572" y="233451"/>
                  </a:lnTo>
                  <a:lnTo>
                    <a:pt x="3114027" y="189153"/>
                  </a:lnTo>
                  <a:lnTo>
                    <a:pt x="3092945" y="148412"/>
                  </a:lnTo>
                  <a:lnTo>
                    <a:pt x="3066707" y="111683"/>
                  </a:lnTo>
                  <a:lnTo>
                    <a:pt x="3035706" y="79387"/>
                  </a:lnTo>
                  <a:lnTo>
                    <a:pt x="3000324" y="51993"/>
                  </a:lnTo>
                  <a:lnTo>
                    <a:pt x="2960979" y="29908"/>
                  </a:lnTo>
                  <a:lnTo>
                    <a:pt x="2918041" y="13589"/>
                  </a:lnTo>
                  <a:lnTo>
                    <a:pt x="2871901" y="3479"/>
                  </a:lnTo>
                  <a:lnTo>
                    <a:pt x="2822956" y="0"/>
                  </a:lnTo>
                  <a:lnTo>
                    <a:pt x="2361095" y="0"/>
                  </a:lnTo>
                  <a:lnTo>
                    <a:pt x="2361095" y="2009076"/>
                  </a:lnTo>
                  <a:lnTo>
                    <a:pt x="2361069" y="2016493"/>
                  </a:lnTo>
                  <a:lnTo>
                    <a:pt x="2360676" y="2023237"/>
                  </a:lnTo>
                  <a:lnTo>
                    <a:pt x="2360676" y="2060829"/>
                  </a:lnTo>
                  <a:lnTo>
                    <a:pt x="2360536" y="2064512"/>
                  </a:lnTo>
                  <a:lnTo>
                    <a:pt x="2360434" y="2067509"/>
                  </a:lnTo>
                  <a:lnTo>
                    <a:pt x="2358783" y="2074887"/>
                  </a:lnTo>
                  <a:lnTo>
                    <a:pt x="2354288" y="2080856"/>
                  </a:lnTo>
                  <a:lnTo>
                    <a:pt x="2345563" y="2083308"/>
                  </a:lnTo>
                  <a:lnTo>
                    <a:pt x="2327478" y="2082761"/>
                  </a:lnTo>
                  <a:lnTo>
                    <a:pt x="2268524" y="2079561"/>
                  </a:lnTo>
                  <a:lnTo>
                    <a:pt x="2217216" y="2077758"/>
                  </a:lnTo>
                  <a:lnTo>
                    <a:pt x="2144395" y="2076373"/>
                  </a:lnTo>
                  <a:lnTo>
                    <a:pt x="2044827" y="2075815"/>
                  </a:lnTo>
                  <a:lnTo>
                    <a:pt x="1963750" y="2076602"/>
                  </a:lnTo>
                  <a:lnTo>
                    <a:pt x="1899640" y="2078456"/>
                  </a:lnTo>
                  <a:lnTo>
                    <a:pt x="1814410" y="2082533"/>
                  </a:lnTo>
                  <a:lnTo>
                    <a:pt x="1789303" y="2083308"/>
                  </a:lnTo>
                  <a:lnTo>
                    <a:pt x="1759204" y="2060829"/>
                  </a:lnTo>
                  <a:lnTo>
                    <a:pt x="1759204" y="2023237"/>
                  </a:lnTo>
                  <a:lnTo>
                    <a:pt x="1762315" y="2016493"/>
                  </a:lnTo>
                  <a:lnTo>
                    <a:pt x="1770011" y="2009076"/>
                  </a:lnTo>
                  <a:lnTo>
                    <a:pt x="1779828" y="2003094"/>
                  </a:lnTo>
                  <a:lnTo>
                    <a:pt x="1789303" y="2000631"/>
                  </a:lnTo>
                  <a:lnTo>
                    <a:pt x="1838071" y="2000631"/>
                  </a:lnTo>
                  <a:lnTo>
                    <a:pt x="1868576" y="1997519"/>
                  </a:lnTo>
                  <a:lnTo>
                    <a:pt x="1887448" y="1986978"/>
                  </a:lnTo>
                  <a:lnTo>
                    <a:pt x="1895729" y="1967306"/>
                  </a:lnTo>
                  <a:lnTo>
                    <a:pt x="1894459" y="1936750"/>
                  </a:lnTo>
                  <a:lnTo>
                    <a:pt x="1883486" y="1900758"/>
                  </a:lnTo>
                  <a:lnTo>
                    <a:pt x="1867916" y="1851088"/>
                  </a:lnTo>
                  <a:lnTo>
                    <a:pt x="1849589" y="1792935"/>
                  </a:lnTo>
                  <a:lnTo>
                    <a:pt x="1830349" y="1731505"/>
                  </a:lnTo>
                  <a:lnTo>
                    <a:pt x="1812023" y="1671967"/>
                  </a:lnTo>
                  <a:lnTo>
                    <a:pt x="1796453" y="1619529"/>
                  </a:lnTo>
                  <a:lnTo>
                    <a:pt x="1785493" y="1579372"/>
                  </a:lnTo>
                  <a:lnTo>
                    <a:pt x="1387094" y="1579372"/>
                  </a:lnTo>
                  <a:lnTo>
                    <a:pt x="1376705" y="1614131"/>
                  </a:lnTo>
                  <a:lnTo>
                    <a:pt x="1360360" y="1663026"/>
                  </a:lnTo>
                  <a:lnTo>
                    <a:pt x="1340802" y="1720405"/>
                  </a:lnTo>
                  <a:lnTo>
                    <a:pt x="1320800" y="1780616"/>
                  </a:lnTo>
                  <a:lnTo>
                    <a:pt x="1303083" y="1837994"/>
                  </a:lnTo>
                  <a:lnTo>
                    <a:pt x="1290447" y="1886889"/>
                  </a:lnTo>
                  <a:lnTo>
                    <a:pt x="1285621" y="1921637"/>
                  </a:lnTo>
                  <a:lnTo>
                    <a:pt x="1288783" y="1949843"/>
                  </a:lnTo>
                  <a:lnTo>
                    <a:pt x="1299679" y="1975231"/>
                  </a:lnTo>
                  <a:lnTo>
                    <a:pt x="1320444" y="1993582"/>
                  </a:lnTo>
                  <a:lnTo>
                    <a:pt x="1353185" y="2000631"/>
                  </a:lnTo>
                  <a:lnTo>
                    <a:pt x="1417066" y="2000631"/>
                  </a:lnTo>
                  <a:lnTo>
                    <a:pt x="1426756" y="2003094"/>
                  </a:lnTo>
                  <a:lnTo>
                    <a:pt x="1429766" y="2009076"/>
                  </a:lnTo>
                  <a:lnTo>
                    <a:pt x="1429245" y="2016493"/>
                  </a:lnTo>
                  <a:lnTo>
                    <a:pt x="1428369" y="2023237"/>
                  </a:lnTo>
                  <a:lnTo>
                    <a:pt x="1428369" y="2064512"/>
                  </a:lnTo>
                  <a:lnTo>
                    <a:pt x="1428724" y="2072220"/>
                  </a:lnTo>
                  <a:lnTo>
                    <a:pt x="1428572" y="2074887"/>
                  </a:lnTo>
                  <a:lnTo>
                    <a:pt x="1428483" y="2076373"/>
                  </a:lnTo>
                  <a:lnTo>
                    <a:pt x="1428381" y="2078151"/>
                  </a:lnTo>
                  <a:lnTo>
                    <a:pt x="1425206" y="2081961"/>
                  </a:lnTo>
                  <a:lnTo>
                    <a:pt x="1417066" y="2083308"/>
                  </a:lnTo>
                  <a:lnTo>
                    <a:pt x="1397495" y="2082533"/>
                  </a:lnTo>
                  <a:lnTo>
                    <a:pt x="1318082" y="2078456"/>
                  </a:lnTo>
                  <a:lnTo>
                    <a:pt x="1255712" y="2076602"/>
                  </a:lnTo>
                  <a:lnTo>
                    <a:pt x="1176528" y="2075815"/>
                  </a:lnTo>
                  <a:lnTo>
                    <a:pt x="1094232" y="2076996"/>
                  </a:lnTo>
                  <a:lnTo>
                    <a:pt x="1039787" y="2079561"/>
                  </a:lnTo>
                  <a:lnTo>
                    <a:pt x="1005801" y="2082139"/>
                  </a:lnTo>
                  <a:lnTo>
                    <a:pt x="984885" y="2083308"/>
                  </a:lnTo>
                  <a:lnTo>
                    <a:pt x="978916" y="2081377"/>
                  </a:lnTo>
                  <a:lnTo>
                    <a:pt x="976972" y="2076602"/>
                  </a:lnTo>
                  <a:lnTo>
                    <a:pt x="976934" y="2067509"/>
                  </a:lnTo>
                  <a:lnTo>
                    <a:pt x="977265" y="2060829"/>
                  </a:lnTo>
                  <a:lnTo>
                    <a:pt x="977265" y="2023237"/>
                  </a:lnTo>
                  <a:lnTo>
                    <a:pt x="975690" y="2016493"/>
                  </a:lnTo>
                  <a:lnTo>
                    <a:pt x="973074" y="2009076"/>
                  </a:lnTo>
                  <a:lnTo>
                    <a:pt x="972540" y="2003094"/>
                  </a:lnTo>
                  <a:lnTo>
                    <a:pt x="977265" y="2000631"/>
                  </a:lnTo>
                  <a:lnTo>
                    <a:pt x="1026160" y="2000631"/>
                  </a:lnTo>
                  <a:lnTo>
                    <a:pt x="1042504" y="1999805"/>
                  </a:lnTo>
                  <a:lnTo>
                    <a:pt x="1058138" y="1996859"/>
                  </a:lnTo>
                  <a:lnTo>
                    <a:pt x="1073746" y="1991106"/>
                  </a:lnTo>
                  <a:lnTo>
                    <a:pt x="1090041" y="1981835"/>
                  </a:lnTo>
                  <a:lnTo>
                    <a:pt x="1529842" y="849884"/>
                  </a:lnTo>
                  <a:lnTo>
                    <a:pt x="1533652" y="846074"/>
                  </a:lnTo>
                  <a:lnTo>
                    <a:pt x="1537462" y="842391"/>
                  </a:lnTo>
                  <a:lnTo>
                    <a:pt x="1548638" y="838581"/>
                  </a:lnTo>
                  <a:lnTo>
                    <a:pt x="1747901" y="748411"/>
                  </a:lnTo>
                  <a:lnTo>
                    <a:pt x="1755203" y="742835"/>
                  </a:lnTo>
                  <a:lnTo>
                    <a:pt x="1761083" y="737997"/>
                  </a:lnTo>
                  <a:lnTo>
                    <a:pt x="1766951" y="734593"/>
                  </a:lnTo>
                  <a:lnTo>
                    <a:pt x="1792986" y="763397"/>
                  </a:lnTo>
                  <a:lnTo>
                    <a:pt x="1802638" y="794372"/>
                  </a:lnTo>
                  <a:lnTo>
                    <a:pt x="1815566" y="834161"/>
                  </a:lnTo>
                  <a:lnTo>
                    <a:pt x="1831162" y="881189"/>
                  </a:lnTo>
                  <a:lnTo>
                    <a:pt x="1848853" y="933843"/>
                  </a:lnTo>
                  <a:lnTo>
                    <a:pt x="1928507" y="1169047"/>
                  </a:lnTo>
                  <a:lnTo>
                    <a:pt x="1947672" y="1226032"/>
                  </a:lnTo>
                  <a:lnTo>
                    <a:pt x="1965363" y="1279105"/>
                  </a:lnTo>
                  <a:lnTo>
                    <a:pt x="1980958" y="1326667"/>
                  </a:lnTo>
                  <a:lnTo>
                    <a:pt x="1993887" y="1367129"/>
                  </a:lnTo>
                  <a:lnTo>
                    <a:pt x="2003552" y="1398905"/>
                  </a:lnTo>
                  <a:lnTo>
                    <a:pt x="2016544" y="1441361"/>
                  </a:lnTo>
                  <a:lnTo>
                    <a:pt x="2032533" y="1491322"/>
                  </a:lnTo>
                  <a:lnTo>
                    <a:pt x="2050757" y="1546644"/>
                  </a:lnTo>
                  <a:lnTo>
                    <a:pt x="2070481" y="1605153"/>
                  </a:lnTo>
                  <a:lnTo>
                    <a:pt x="2090953" y="1664677"/>
                  </a:lnTo>
                  <a:lnTo>
                    <a:pt x="2111425" y="1723047"/>
                  </a:lnTo>
                  <a:lnTo>
                    <a:pt x="2131161" y="1778088"/>
                  </a:lnTo>
                  <a:lnTo>
                    <a:pt x="2149398" y="1827631"/>
                  </a:lnTo>
                  <a:lnTo>
                    <a:pt x="2165400" y="1869528"/>
                  </a:lnTo>
                  <a:lnTo>
                    <a:pt x="2187702" y="1921637"/>
                  </a:lnTo>
                  <a:lnTo>
                    <a:pt x="2213152" y="1959381"/>
                  </a:lnTo>
                  <a:lnTo>
                    <a:pt x="2269883" y="1996859"/>
                  </a:lnTo>
                  <a:lnTo>
                    <a:pt x="2270264" y="1996859"/>
                  </a:lnTo>
                  <a:lnTo>
                    <a:pt x="2292985" y="2000631"/>
                  </a:lnTo>
                  <a:lnTo>
                    <a:pt x="2353056" y="2000631"/>
                  </a:lnTo>
                  <a:lnTo>
                    <a:pt x="2359012" y="2003094"/>
                  </a:lnTo>
                  <a:lnTo>
                    <a:pt x="2361095" y="2009076"/>
                  </a:lnTo>
                  <a:lnTo>
                    <a:pt x="2361095" y="0"/>
                  </a:lnTo>
                  <a:lnTo>
                    <a:pt x="706628" y="0"/>
                  </a:lnTo>
                  <a:lnTo>
                    <a:pt x="706628" y="1474089"/>
                  </a:lnTo>
                  <a:lnTo>
                    <a:pt x="703910" y="1522641"/>
                  </a:lnTo>
                  <a:lnTo>
                    <a:pt x="695947" y="1569694"/>
                  </a:lnTo>
                  <a:lnTo>
                    <a:pt x="683031" y="1614906"/>
                  </a:lnTo>
                  <a:lnTo>
                    <a:pt x="665429" y="1657972"/>
                  </a:lnTo>
                  <a:lnTo>
                    <a:pt x="643432" y="1698523"/>
                  </a:lnTo>
                  <a:lnTo>
                    <a:pt x="617296" y="1736242"/>
                  </a:lnTo>
                  <a:lnTo>
                    <a:pt x="587324" y="1770786"/>
                  </a:lnTo>
                  <a:lnTo>
                    <a:pt x="553783" y="1801812"/>
                  </a:lnTo>
                  <a:lnTo>
                    <a:pt x="516940" y="1828990"/>
                  </a:lnTo>
                  <a:lnTo>
                    <a:pt x="477100" y="1851977"/>
                  </a:lnTo>
                  <a:lnTo>
                    <a:pt x="434530" y="1870456"/>
                  </a:lnTo>
                  <a:lnTo>
                    <a:pt x="389509" y="1884057"/>
                  </a:lnTo>
                  <a:lnTo>
                    <a:pt x="342315" y="1892477"/>
                  </a:lnTo>
                  <a:lnTo>
                    <a:pt x="293243" y="1895348"/>
                  </a:lnTo>
                  <a:lnTo>
                    <a:pt x="0" y="1895348"/>
                  </a:lnTo>
                  <a:lnTo>
                    <a:pt x="0" y="2564765"/>
                  </a:lnTo>
                  <a:lnTo>
                    <a:pt x="3276" y="2610116"/>
                  </a:lnTo>
                  <a:lnTo>
                    <a:pt x="12827" y="2653779"/>
                  </a:lnTo>
                  <a:lnTo>
                    <a:pt x="28130" y="2695321"/>
                  </a:lnTo>
                  <a:lnTo>
                    <a:pt x="48729" y="2734335"/>
                  </a:lnTo>
                  <a:lnTo>
                    <a:pt x="74129" y="2770365"/>
                  </a:lnTo>
                  <a:lnTo>
                    <a:pt x="103847" y="2802991"/>
                  </a:lnTo>
                  <a:lnTo>
                    <a:pt x="137401" y="2831782"/>
                  </a:lnTo>
                  <a:lnTo>
                    <a:pt x="174307" y="2856306"/>
                  </a:lnTo>
                  <a:lnTo>
                    <a:pt x="214096" y="2876131"/>
                  </a:lnTo>
                  <a:lnTo>
                    <a:pt x="256260" y="2890824"/>
                  </a:lnTo>
                  <a:lnTo>
                    <a:pt x="300329" y="2899956"/>
                  </a:lnTo>
                  <a:lnTo>
                    <a:pt x="345821" y="2903093"/>
                  </a:lnTo>
                  <a:lnTo>
                    <a:pt x="1458468" y="2903093"/>
                  </a:lnTo>
                  <a:lnTo>
                    <a:pt x="1786788" y="3082213"/>
                  </a:lnTo>
                  <a:lnTo>
                    <a:pt x="2179256" y="3314916"/>
                  </a:lnTo>
                  <a:lnTo>
                    <a:pt x="2508275" y="3516592"/>
                  </a:lnTo>
                  <a:lnTo>
                    <a:pt x="2646299" y="3602621"/>
                  </a:lnTo>
                  <a:lnTo>
                    <a:pt x="2655074" y="3604907"/>
                  </a:lnTo>
                  <a:lnTo>
                    <a:pt x="2658008" y="3595357"/>
                  </a:lnTo>
                  <a:lnTo>
                    <a:pt x="2655798" y="3575240"/>
                  </a:lnTo>
                  <a:lnTo>
                    <a:pt x="2649156" y="3545865"/>
                  </a:lnTo>
                  <a:lnTo>
                    <a:pt x="2638780" y="3508489"/>
                  </a:lnTo>
                  <a:lnTo>
                    <a:pt x="2625394" y="3464407"/>
                  </a:lnTo>
                  <a:lnTo>
                    <a:pt x="2609685" y="3414890"/>
                  </a:lnTo>
                  <a:lnTo>
                    <a:pt x="2574163" y="3304705"/>
                  </a:lnTo>
                  <a:lnTo>
                    <a:pt x="2555748" y="3246602"/>
                  </a:lnTo>
                  <a:lnTo>
                    <a:pt x="2537866" y="3188182"/>
                  </a:lnTo>
                  <a:lnTo>
                    <a:pt x="2521191" y="3130753"/>
                  </a:lnTo>
                  <a:lnTo>
                    <a:pt x="2506459" y="3075571"/>
                  </a:lnTo>
                  <a:lnTo>
                    <a:pt x="2494356" y="3023946"/>
                  </a:lnTo>
                  <a:lnTo>
                    <a:pt x="2485593" y="2977134"/>
                  </a:lnTo>
                  <a:lnTo>
                    <a:pt x="2480881" y="2936417"/>
                  </a:lnTo>
                  <a:lnTo>
                    <a:pt x="2480945" y="2903093"/>
                  </a:lnTo>
                  <a:lnTo>
                    <a:pt x="2822956" y="2903093"/>
                  </a:lnTo>
                  <a:lnTo>
                    <a:pt x="2871901" y="2899372"/>
                  </a:lnTo>
                  <a:lnTo>
                    <a:pt x="2918041" y="2888551"/>
                  </a:lnTo>
                  <a:lnTo>
                    <a:pt x="2960979" y="2871216"/>
                  </a:lnTo>
                  <a:lnTo>
                    <a:pt x="3000324" y="2847911"/>
                  </a:lnTo>
                  <a:lnTo>
                    <a:pt x="3035706" y="2819196"/>
                  </a:lnTo>
                  <a:lnTo>
                    <a:pt x="3066707" y="2785643"/>
                  </a:lnTo>
                  <a:lnTo>
                    <a:pt x="3092945" y="2747797"/>
                  </a:lnTo>
                  <a:lnTo>
                    <a:pt x="3114027" y="2706230"/>
                  </a:lnTo>
                  <a:lnTo>
                    <a:pt x="3129572" y="2661501"/>
                  </a:lnTo>
                  <a:lnTo>
                    <a:pt x="3139186" y="2614155"/>
                  </a:lnTo>
                  <a:lnTo>
                    <a:pt x="3142488" y="2564765"/>
                  </a:lnTo>
                  <a:lnTo>
                    <a:pt x="3142488" y="2083308"/>
                  </a:lnTo>
                  <a:lnTo>
                    <a:pt x="3142488" y="733298"/>
                  </a:lnTo>
                  <a:lnTo>
                    <a:pt x="3142488" y="330962"/>
                  </a:lnTo>
                  <a:close/>
                </a:path>
              </a:pathLst>
            </a:custGeom>
            <a:solidFill>
              <a:srgbClr val="00A4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>
                <a:solidFill>
                  <a:srgbClr val="006FAB"/>
                </a:solidFill>
              </a:rPr>
              <a:t>33</a:t>
            </a:fld>
            <a:endParaRPr spc="-25">
              <a:solidFill>
                <a:srgbClr val="006FAB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423416"/>
            <a:ext cx="1693545" cy="58419"/>
          </a:xfrm>
          <a:custGeom>
            <a:avLst/>
            <a:gdLst/>
            <a:ahLst/>
            <a:cxnLst/>
            <a:rect l="l" t="t" r="r" b="b"/>
            <a:pathLst>
              <a:path w="1693545" h="58419">
                <a:moveTo>
                  <a:pt x="1693418" y="0"/>
                </a:moveTo>
                <a:lnTo>
                  <a:pt x="0" y="0"/>
                </a:lnTo>
                <a:lnTo>
                  <a:pt x="0" y="57911"/>
                </a:lnTo>
                <a:lnTo>
                  <a:pt x="1693418" y="57911"/>
                </a:lnTo>
                <a:lnTo>
                  <a:pt x="1693418" y="0"/>
                </a:lnTo>
                <a:close/>
              </a:path>
            </a:pathLst>
          </a:custGeom>
          <a:solidFill>
            <a:srgbClr val="FFC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04416" y="1452372"/>
            <a:ext cx="546100" cy="0"/>
          </a:xfrm>
          <a:custGeom>
            <a:avLst/>
            <a:gdLst/>
            <a:ahLst/>
            <a:cxnLst/>
            <a:rect l="l" t="t" r="r" b="b"/>
            <a:pathLst>
              <a:path w="546100">
                <a:moveTo>
                  <a:pt x="0" y="0"/>
                </a:moveTo>
                <a:lnTo>
                  <a:pt x="545719" y="0"/>
                </a:lnTo>
              </a:path>
            </a:pathLst>
          </a:custGeom>
          <a:ln w="57912">
            <a:solidFill>
              <a:srgbClr val="FFC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52116" y="1437195"/>
            <a:ext cx="5038725" cy="0"/>
          </a:xfrm>
          <a:custGeom>
            <a:avLst/>
            <a:gdLst/>
            <a:ahLst/>
            <a:cxnLst/>
            <a:rect l="l" t="t" r="r" b="b"/>
            <a:pathLst>
              <a:path w="5038725">
                <a:moveTo>
                  <a:pt x="0" y="0"/>
                </a:moveTo>
                <a:lnTo>
                  <a:pt x="5038344" y="0"/>
                </a:lnTo>
              </a:path>
            </a:pathLst>
          </a:custGeom>
          <a:ln w="21462">
            <a:solidFill>
              <a:srgbClr val="006F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759" y="108204"/>
            <a:ext cx="134111" cy="13411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3880" y="108204"/>
            <a:ext cx="134112" cy="13411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2668" y="108204"/>
            <a:ext cx="134112" cy="13411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79932" y="108204"/>
            <a:ext cx="134112" cy="13411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32663" y="1576578"/>
            <a:ext cx="7275195" cy="46551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algn="just">
              <a:lnSpc>
                <a:spcPct val="97300"/>
              </a:lnSpc>
              <a:spcBef>
                <a:spcPts val="135"/>
              </a:spcBef>
            </a:pPr>
            <a:r>
              <a:rPr sz="1200">
                <a:latin typeface="Calibri"/>
                <a:cs typeface="Calibri"/>
              </a:rPr>
              <a:t>This</a:t>
            </a:r>
            <a:r>
              <a:rPr sz="1200" spc="21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presentation</a:t>
            </a:r>
            <a:r>
              <a:rPr sz="1200" spc="2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contains</a:t>
            </a:r>
            <a:r>
              <a:rPr sz="1200" spc="21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forward-</a:t>
            </a:r>
            <a:r>
              <a:rPr sz="1200">
                <a:latin typeface="Calibri"/>
                <a:cs typeface="Calibri"/>
              </a:rPr>
              <a:t>looking</a:t>
            </a:r>
            <a:r>
              <a:rPr sz="1200" spc="229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statements</a:t>
            </a:r>
            <a:r>
              <a:rPr sz="1200" spc="2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made</a:t>
            </a:r>
            <a:r>
              <a:rPr sz="1200" spc="22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by</a:t>
            </a:r>
            <a:r>
              <a:rPr sz="1200" spc="21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Valero</a:t>
            </a:r>
            <a:r>
              <a:rPr sz="1200" spc="2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Energy</a:t>
            </a:r>
            <a:r>
              <a:rPr sz="1200" spc="2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Corporation</a:t>
            </a:r>
            <a:r>
              <a:rPr sz="1200" spc="2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(“VLO”</a:t>
            </a:r>
            <a:r>
              <a:rPr sz="1200" spc="229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or</a:t>
            </a:r>
            <a:r>
              <a:rPr sz="1200" spc="21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“Valero”) </a:t>
            </a:r>
            <a:r>
              <a:rPr sz="1200">
                <a:latin typeface="Calibri"/>
                <a:cs typeface="Calibri"/>
              </a:rPr>
              <a:t>within</a:t>
            </a:r>
            <a:r>
              <a:rPr sz="1200" spc="5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the</a:t>
            </a:r>
            <a:r>
              <a:rPr sz="1200" spc="4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meaning</a:t>
            </a:r>
            <a:r>
              <a:rPr sz="1200" spc="4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of</a:t>
            </a:r>
            <a:r>
              <a:rPr sz="1200" spc="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federal</a:t>
            </a:r>
            <a:r>
              <a:rPr sz="1200" spc="4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securities</a:t>
            </a:r>
            <a:r>
              <a:rPr sz="1200" spc="4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laws.</a:t>
            </a:r>
            <a:r>
              <a:rPr sz="1200" spc="4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These</a:t>
            </a:r>
            <a:r>
              <a:rPr sz="1200" spc="5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statements</a:t>
            </a:r>
            <a:r>
              <a:rPr sz="1200" spc="4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discuss</a:t>
            </a:r>
            <a:r>
              <a:rPr sz="1200" spc="5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future</a:t>
            </a:r>
            <a:r>
              <a:rPr sz="1200" spc="4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expectations,</a:t>
            </a:r>
            <a:r>
              <a:rPr sz="1200" spc="5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contain</a:t>
            </a:r>
            <a:r>
              <a:rPr sz="1200" spc="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projections</a:t>
            </a:r>
            <a:r>
              <a:rPr sz="1200" spc="45">
                <a:latin typeface="Calibri"/>
                <a:cs typeface="Calibri"/>
              </a:rPr>
              <a:t> </a:t>
            </a:r>
            <a:r>
              <a:rPr sz="1200" spc="-25">
                <a:latin typeface="Calibri"/>
                <a:cs typeface="Calibri"/>
              </a:rPr>
              <a:t>of </a:t>
            </a:r>
            <a:r>
              <a:rPr sz="1200">
                <a:latin typeface="Calibri"/>
                <a:cs typeface="Calibri"/>
              </a:rPr>
              <a:t>results of operations or of financial condition or state other </a:t>
            </a:r>
            <a:r>
              <a:rPr sz="1200" spc="-10">
                <a:latin typeface="Calibri"/>
                <a:cs typeface="Calibri"/>
              </a:rPr>
              <a:t>forward-</a:t>
            </a:r>
            <a:r>
              <a:rPr sz="1200">
                <a:latin typeface="Calibri"/>
                <a:cs typeface="Calibri"/>
              </a:rPr>
              <a:t>looking information. You can identify </a:t>
            </a:r>
            <a:r>
              <a:rPr sz="1200" spc="-10">
                <a:latin typeface="Calibri"/>
                <a:cs typeface="Calibri"/>
              </a:rPr>
              <a:t>forward-</a:t>
            </a:r>
            <a:r>
              <a:rPr sz="1200">
                <a:latin typeface="Calibri"/>
                <a:cs typeface="Calibri"/>
              </a:rPr>
              <a:t>looking</a:t>
            </a:r>
            <a:r>
              <a:rPr sz="1200" spc="3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statements</a:t>
            </a:r>
            <a:r>
              <a:rPr sz="1200" spc="3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by</a:t>
            </a:r>
            <a:r>
              <a:rPr sz="1200" spc="31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words</a:t>
            </a:r>
            <a:r>
              <a:rPr sz="1200" spc="3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such</a:t>
            </a:r>
            <a:r>
              <a:rPr sz="1200" spc="3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as</a:t>
            </a:r>
            <a:r>
              <a:rPr sz="1200" spc="3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”plan,”</a:t>
            </a:r>
            <a:r>
              <a:rPr sz="1200" spc="3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“should,”</a:t>
            </a:r>
            <a:r>
              <a:rPr sz="1200" spc="3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“anticipate,”</a:t>
            </a:r>
            <a:r>
              <a:rPr sz="1200" spc="33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“believe,”</a:t>
            </a:r>
            <a:r>
              <a:rPr sz="1200" spc="33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“estimate,”</a:t>
            </a:r>
            <a:r>
              <a:rPr sz="1200" spc="3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“expect,”</a:t>
            </a:r>
            <a:r>
              <a:rPr sz="1200" spc="33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“could,” </a:t>
            </a:r>
            <a:r>
              <a:rPr sz="1200">
                <a:latin typeface="Calibri"/>
                <a:cs typeface="Calibri"/>
              </a:rPr>
              <a:t>“continue,”</a:t>
            </a:r>
            <a:r>
              <a:rPr sz="1200" spc="5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“focused,”</a:t>
            </a:r>
            <a:r>
              <a:rPr sz="1200" spc="4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“opportunity,”</a:t>
            </a:r>
            <a:r>
              <a:rPr sz="1200" spc="5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“scheduled,”</a:t>
            </a:r>
            <a:r>
              <a:rPr sz="1200" spc="5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“may,”</a:t>
            </a:r>
            <a:r>
              <a:rPr sz="1200" spc="5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“targeting,”</a:t>
            </a:r>
            <a:r>
              <a:rPr sz="1200" spc="5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or</a:t>
            </a:r>
            <a:r>
              <a:rPr sz="1200" spc="4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other</a:t>
            </a:r>
            <a:r>
              <a:rPr sz="1200" spc="5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similar</a:t>
            </a:r>
            <a:r>
              <a:rPr sz="1200" spc="4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expressions</a:t>
            </a:r>
            <a:r>
              <a:rPr sz="1200" spc="4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that</a:t>
            </a:r>
            <a:r>
              <a:rPr sz="1200" spc="5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convey</a:t>
            </a:r>
            <a:r>
              <a:rPr sz="1200" spc="45">
                <a:latin typeface="Calibri"/>
                <a:cs typeface="Calibri"/>
              </a:rPr>
              <a:t> </a:t>
            </a:r>
            <a:r>
              <a:rPr sz="1200" spc="-25">
                <a:latin typeface="Calibri"/>
                <a:cs typeface="Calibri"/>
              </a:rPr>
              <a:t>the </a:t>
            </a:r>
            <a:r>
              <a:rPr sz="1200">
                <a:latin typeface="Calibri"/>
                <a:cs typeface="Calibri"/>
              </a:rPr>
              <a:t>uncertainty</a:t>
            </a:r>
            <a:r>
              <a:rPr sz="1200" spc="18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of</a:t>
            </a:r>
            <a:r>
              <a:rPr sz="1200" spc="19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future</a:t>
            </a:r>
            <a:r>
              <a:rPr sz="1200" spc="18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events</a:t>
            </a:r>
            <a:r>
              <a:rPr sz="1200" spc="19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or</a:t>
            </a:r>
            <a:r>
              <a:rPr sz="1200" spc="19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outcomes.</a:t>
            </a:r>
            <a:r>
              <a:rPr sz="1200" spc="19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Forward-</a:t>
            </a:r>
            <a:r>
              <a:rPr sz="1200">
                <a:latin typeface="Calibri"/>
                <a:cs typeface="Calibri"/>
              </a:rPr>
              <a:t>looking</a:t>
            </a:r>
            <a:r>
              <a:rPr sz="1200" spc="19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statements</a:t>
            </a:r>
            <a:r>
              <a:rPr sz="1200" spc="18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in</a:t>
            </a:r>
            <a:r>
              <a:rPr sz="1200" spc="19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this</a:t>
            </a:r>
            <a:r>
              <a:rPr sz="1200" spc="19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presentation</a:t>
            </a:r>
            <a:r>
              <a:rPr sz="1200" spc="19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include,</a:t>
            </a:r>
            <a:r>
              <a:rPr sz="1200" spc="19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but</a:t>
            </a:r>
            <a:r>
              <a:rPr sz="1200" spc="19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are</a:t>
            </a:r>
            <a:r>
              <a:rPr sz="1200" spc="190">
                <a:latin typeface="Calibri"/>
                <a:cs typeface="Calibri"/>
              </a:rPr>
              <a:t> </a:t>
            </a:r>
            <a:r>
              <a:rPr sz="1200" spc="-25">
                <a:latin typeface="Calibri"/>
                <a:cs typeface="Calibri"/>
              </a:rPr>
              <a:t>not </a:t>
            </a:r>
            <a:r>
              <a:rPr sz="1200">
                <a:latin typeface="Calibri"/>
                <a:cs typeface="Calibri"/>
              </a:rPr>
              <a:t>limited</a:t>
            </a:r>
            <a:r>
              <a:rPr sz="1200" spc="10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to,</a:t>
            </a:r>
            <a:r>
              <a:rPr sz="1200" spc="9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those</a:t>
            </a:r>
            <a:r>
              <a:rPr sz="1200" spc="11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relating</a:t>
            </a:r>
            <a:r>
              <a:rPr sz="1200" spc="10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to</a:t>
            </a:r>
            <a:r>
              <a:rPr sz="1200" spc="10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our</a:t>
            </a:r>
            <a:r>
              <a:rPr sz="1200" spc="10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low-</a:t>
            </a:r>
            <a:r>
              <a:rPr sz="1200">
                <a:latin typeface="Calibri"/>
                <a:cs typeface="Calibri"/>
              </a:rPr>
              <a:t>carbon</a:t>
            </a:r>
            <a:r>
              <a:rPr sz="1200" spc="9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fuels</a:t>
            </a:r>
            <a:r>
              <a:rPr sz="1200" spc="11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strategy,</a:t>
            </a:r>
            <a:r>
              <a:rPr sz="1200" spc="9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future</a:t>
            </a:r>
            <a:r>
              <a:rPr sz="1200" spc="10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capital</a:t>
            </a:r>
            <a:r>
              <a:rPr sz="1200" spc="11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expenditures,</a:t>
            </a:r>
            <a:r>
              <a:rPr sz="1200" spc="11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expected</a:t>
            </a:r>
            <a:r>
              <a:rPr sz="1200" spc="9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timing,</a:t>
            </a:r>
            <a:r>
              <a:rPr sz="1200" spc="10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cost,</a:t>
            </a:r>
            <a:r>
              <a:rPr sz="1200" spc="110">
                <a:latin typeface="Calibri"/>
                <a:cs typeface="Calibri"/>
              </a:rPr>
              <a:t> </a:t>
            </a:r>
            <a:r>
              <a:rPr sz="1200" spc="-25">
                <a:latin typeface="Calibri"/>
                <a:cs typeface="Calibri"/>
              </a:rPr>
              <a:t>and </a:t>
            </a:r>
            <a:r>
              <a:rPr sz="1200">
                <a:latin typeface="Calibri"/>
                <a:cs typeface="Calibri"/>
              </a:rPr>
              <a:t>performance</a:t>
            </a:r>
            <a:r>
              <a:rPr sz="1200" spc="204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of</a:t>
            </a:r>
            <a:r>
              <a:rPr sz="1200" spc="18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projects,</a:t>
            </a:r>
            <a:r>
              <a:rPr sz="1200" spc="19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the</a:t>
            </a:r>
            <a:r>
              <a:rPr sz="1200" spc="20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effect</a:t>
            </a:r>
            <a:r>
              <a:rPr sz="1200" spc="204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of</a:t>
            </a:r>
            <a:r>
              <a:rPr sz="1200" spc="19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projects</a:t>
            </a:r>
            <a:r>
              <a:rPr sz="1200" spc="19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on</a:t>
            </a:r>
            <a:r>
              <a:rPr sz="1200" spc="20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our</a:t>
            </a:r>
            <a:r>
              <a:rPr sz="1200" spc="19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financial</a:t>
            </a:r>
            <a:r>
              <a:rPr sz="1200" spc="18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performance,</a:t>
            </a:r>
            <a:r>
              <a:rPr sz="1200" spc="20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future</a:t>
            </a:r>
            <a:r>
              <a:rPr sz="1200" spc="19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low-</a:t>
            </a:r>
            <a:r>
              <a:rPr sz="1200">
                <a:latin typeface="Calibri"/>
                <a:cs typeface="Calibri"/>
              </a:rPr>
              <a:t>carbon</a:t>
            </a:r>
            <a:r>
              <a:rPr sz="1200" spc="19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policies,</a:t>
            </a:r>
            <a:r>
              <a:rPr sz="1200" spc="19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future </a:t>
            </a:r>
            <a:r>
              <a:rPr sz="1200">
                <a:latin typeface="Calibri"/>
                <a:cs typeface="Calibri"/>
              </a:rPr>
              <a:t>business</a:t>
            </a:r>
            <a:r>
              <a:rPr sz="1200" spc="7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plans</a:t>
            </a:r>
            <a:r>
              <a:rPr sz="1200" spc="6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and</a:t>
            </a:r>
            <a:r>
              <a:rPr sz="1200" spc="6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strategies,</a:t>
            </a:r>
            <a:r>
              <a:rPr sz="1200" spc="6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future</a:t>
            </a:r>
            <a:r>
              <a:rPr sz="1200" spc="7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safety</a:t>
            </a:r>
            <a:r>
              <a:rPr sz="1200" spc="6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and</a:t>
            </a:r>
            <a:r>
              <a:rPr sz="1200" spc="6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environmental</a:t>
            </a:r>
            <a:r>
              <a:rPr sz="1200" spc="6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performance,</a:t>
            </a:r>
            <a:r>
              <a:rPr sz="1200" spc="7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future</a:t>
            </a:r>
            <a:r>
              <a:rPr sz="1200" spc="6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production</a:t>
            </a:r>
            <a:r>
              <a:rPr sz="1200" spc="7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and</a:t>
            </a:r>
            <a:r>
              <a:rPr sz="1200" spc="7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manufacturing </a:t>
            </a:r>
            <a:r>
              <a:rPr sz="1200">
                <a:latin typeface="Calibri"/>
                <a:cs typeface="Calibri"/>
              </a:rPr>
              <a:t>ability</a:t>
            </a:r>
            <a:r>
              <a:rPr sz="1200" spc="36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and</a:t>
            </a:r>
            <a:r>
              <a:rPr sz="1200" spc="37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size,</a:t>
            </a:r>
            <a:r>
              <a:rPr sz="1200" spc="36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and</a:t>
            </a:r>
            <a:r>
              <a:rPr sz="1200" spc="36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future</a:t>
            </a:r>
            <a:r>
              <a:rPr sz="1200" spc="36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operating</a:t>
            </a:r>
            <a:r>
              <a:rPr sz="1200" spc="36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and</a:t>
            </a:r>
            <a:r>
              <a:rPr sz="1200" spc="37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financial</a:t>
            </a:r>
            <a:r>
              <a:rPr sz="1200" spc="36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performance.</a:t>
            </a:r>
            <a:r>
              <a:rPr sz="1200" spc="37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These</a:t>
            </a:r>
            <a:r>
              <a:rPr sz="1200" spc="36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forward-</a:t>
            </a:r>
            <a:r>
              <a:rPr sz="1200">
                <a:latin typeface="Calibri"/>
                <a:cs typeface="Calibri"/>
              </a:rPr>
              <a:t>looking</a:t>
            </a:r>
            <a:r>
              <a:rPr sz="1200" spc="35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statements</a:t>
            </a:r>
            <a:r>
              <a:rPr sz="1200" spc="36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are</a:t>
            </a:r>
            <a:r>
              <a:rPr sz="1200" spc="345">
                <a:latin typeface="Calibri"/>
                <a:cs typeface="Calibri"/>
              </a:rPr>
              <a:t> </a:t>
            </a:r>
            <a:r>
              <a:rPr sz="1200" spc="-25">
                <a:latin typeface="Calibri"/>
                <a:cs typeface="Calibri"/>
              </a:rPr>
              <a:t>not </a:t>
            </a:r>
            <a:r>
              <a:rPr sz="1200">
                <a:latin typeface="Calibri"/>
                <a:cs typeface="Calibri"/>
              </a:rPr>
              <a:t>guarantees</a:t>
            </a:r>
            <a:r>
              <a:rPr sz="1200" spc="204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of</a:t>
            </a:r>
            <a:r>
              <a:rPr sz="1200" spc="20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future</a:t>
            </a:r>
            <a:r>
              <a:rPr sz="1200" spc="204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performance</a:t>
            </a:r>
            <a:r>
              <a:rPr sz="1200" spc="21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and</a:t>
            </a:r>
            <a:r>
              <a:rPr sz="1200" spc="21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are</a:t>
            </a:r>
            <a:r>
              <a:rPr sz="1200" spc="204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subject</a:t>
            </a:r>
            <a:r>
              <a:rPr sz="1200" spc="21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to</a:t>
            </a:r>
            <a:r>
              <a:rPr sz="1200" spc="204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risks,</a:t>
            </a:r>
            <a:r>
              <a:rPr sz="1200" spc="204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uncertainties</a:t>
            </a:r>
            <a:r>
              <a:rPr sz="1200" spc="204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and</a:t>
            </a:r>
            <a:r>
              <a:rPr sz="1200" spc="21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other</a:t>
            </a:r>
            <a:r>
              <a:rPr sz="1200" spc="20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factors,</a:t>
            </a:r>
            <a:r>
              <a:rPr sz="1200" spc="20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some</a:t>
            </a:r>
            <a:r>
              <a:rPr sz="1200" spc="21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of</a:t>
            </a:r>
            <a:r>
              <a:rPr sz="1200" spc="21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which</a:t>
            </a:r>
            <a:r>
              <a:rPr sz="1200" spc="210">
                <a:latin typeface="Calibri"/>
                <a:cs typeface="Calibri"/>
              </a:rPr>
              <a:t> </a:t>
            </a:r>
            <a:r>
              <a:rPr sz="1200" spc="-25">
                <a:latin typeface="Calibri"/>
                <a:cs typeface="Calibri"/>
              </a:rPr>
              <a:t>are </a:t>
            </a:r>
            <a:r>
              <a:rPr sz="1200">
                <a:latin typeface="Calibri"/>
                <a:cs typeface="Calibri"/>
              </a:rPr>
              <a:t>beyond</a:t>
            </a:r>
            <a:r>
              <a:rPr sz="1200" spc="8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the</a:t>
            </a:r>
            <a:r>
              <a:rPr sz="1200" spc="8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control</a:t>
            </a:r>
            <a:r>
              <a:rPr sz="1200" spc="8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of</a:t>
            </a:r>
            <a:r>
              <a:rPr sz="1200" spc="9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Valero</a:t>
            </a:r>
            <a:r>
              <a:rPr sz="1200" spc="8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and</a:t>
            </a:r>
            <a:r>
              <a:rPr sz="1200" spc="10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are</a:t>
            </a:r>
            <a:r>
              <a:rPr sz="1200" spc="7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difficult</a:t>
            </a:r>
            <a:r>
              <a:rPr sz="1200" spc="10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to</a:t>
            </a:r>
            <a:r>
              <a:rPr sz="1200" spc="8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predict</a:t>
            </a:r>
            <a:r>
              <a:rPr sz="1200" spc="8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including,</a:t>
            </a:r>
            <a:r>
              <a:rPr sz="1200" spc="7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but</a:t>
            </a:r>
            <a:r>
              <a:rPr sz="1200" spc="8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not</a:t>
            </a:r>
            <a:r>
              <a:rPr sz="1200" spc="10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limited</a:t>
            </a:r>
            <a:r>
              <a:rPr sz="1200" spc="8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to,</a:t>
            </a:r>
            <a:r>
              <a:rPr sz="1200" spc="8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the</a:t>
            </a:r>
            <a:r>
              <a:rPr sz="1200" spc="9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effect,</a:t>
            </a:r>
            <a:r>
              <a:rPr sz="1200" spc="8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impact,</a:t>
            </a:r>
            <a:r>
              <a:rPr sz="1200" spc="7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potential </a:t>
            </a:r>
            <a:r>
              <a:rPr sz="1200">
                <a:latin typeface="Calibri"/>
                <a:cs typeface="Calibri"/>
              </a:rPr>
              <a:t>duration</a:t>
            </a:r>
            <a:r>
              <a:rPr sz="1200" spc="24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or</a:t>
            </a:r>
            <a:r>
              <a:rPr sz="1200" spc="229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other</a:t>
            </a:r>
            <a:r>
              <a:rPr sz="1200" spc="2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implications</a:t>
            </a:r>
            <a:r>
              <a:rPr sz="1200" spc="24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of</a:t>
            </a:r>
            <a:r>
              <a:rPr sz="1200" spc="2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the</a:t>
            </a:r>
            <a:r>
              <a:rPr sz="1200" spc="22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uncertainties</a:t>
            </a:r>
            <a:r>
              <a:rPr sz="1200" spc="2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that</a:t>
            </a:r>
            <a:r>
              <a:rPr sz="1200" spc="229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remain</a:t>
            </a:r>
            <a:r>
              <a:rPr sz="1200" spc="2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with</a:t>
            </a:r>
            <a:r>
              <a:rPr sz="1200" spc="2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respect</a:t>
            </a:r>
            <a:r>
              <a:rPr sz="1200" spc="229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to</a:t>
            </a:r>
            <a:r>
              <a:rPr sz="1200" spc="229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current</a:t>
            </a:r>
            <a:r>
              <a:rPr sz="1200" spc="24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or</a:t>
            </a:r>
            <a:r>
              <a:rPr sz="1200" spc="2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contemplated</a:t>
            </a:r>
            <a:r>
              <a:rPr sz="1200" spc="23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legal, </a:t>
            </a:r>
            <a:r>
              <a:rPr sz="1200">
                <a:latin typeface="Calibri"/>
                <a:cs typeface="Calibri"/>
              </a:rPr>
              <a:t>political</a:t>
            </a:r>
            <a:r>
              <a:rPr sz="1200" spc="-1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or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regulatory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developments</a:t>
            </a:r>
            <a:r>
              <a:rPr sz="1200" spc="-1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that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are</a:t>
            </a:r>
            <a:r>
              <a:rPr sz="1200" spc="-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adverse</a:t>
            </a:r>
            <a:r>
              <a:rPr sz="1200" spc="-1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to</a:t>
            </a:r>
            <a:r>
              <a:rPr sz="1200" spc="-1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or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restrict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refining</a:t>
            </a:r>
            <a:r>
              <a:rPr sz="1200" spc="-1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and</a:t>
            </a:r>
            <a:r>
              <a:rPr sz="1200" spc="-1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marketing</a:t>
            </a:r>
            <a:r>
              <a:rPr sz="1200" spc="-1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operations,</a:t>
            </a:r>
            <a:r>
              <a:rPr sz="1200" spc="-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or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that</a:t>
            </a:r>
            <a:r>
              <a:rPr sz="1200" spc="-1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impose </a:t>
            </a:r>
            <a:r>
              <a:rPr sz="1200">
                <a:latin typeface="Calibri"/>
                <a:cs typeface="Calibri"/>
              </a:rPr>
              <a:t>taxes</a:t>
            </a:r>
            <a:r>
              <a:rPr sz="1200" spc="6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or</a:t>
            </a:r>
            <a:r>
              <a:rPr sz="1200" spc="6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penalties</a:t>
            </a:r>
            <a:r>
              <a:rPr sz="1200" spc="6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on</a:t>
            </a:r>
            <a:r>
              <a:rPr sz="1200" spc="5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profits,</a:t>
            </a:r>
            <a:r>
              <a:rPr sz="1200" spc="6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windfalls,</a:t>
            </a:r>
            <a:r>
              <a:rPr sz="1200" spc="6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or</a:t>
            </a:r>
            <a:r>
              <a:rPr sz="1200" spc="6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margins</a:t>
            </a:r>
            <a:r>
              <a:rPr sz="1200" spc="6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above</a:t>
            </a:r>
            <a:r>
              <a:rPr sz="1200" spc="6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</a:t>
            </a:r>
            <a:r>
              <a:rPr sz="1200" spc="6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certain</a:t>
            </a:r>
            <a:r>
              <a:rPr sz="1200" spc="6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level,</a:t>
            </a:r>
            <a:r>
              <a:rPr sz="1200" spc="5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global</a:t>
            </a:r>
            <a:r>
              <a:rPr sz="1200" spc="6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geopolitical</a:t>
            </a:r>
            <a:r>
              <a:rPr sz="1200" spc="6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and</a:t>
            </a:r>
            <a:r>
              <a:rPr sz="1200" spc="5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other</a:t>
            </a:r>
            <a:r>
              <a:rPr sz="1200" spc="6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conflicts</a:t>
            </a:r>
            <a:r>
              <a:rPr sz="1200" spc="65">
                <a:latin typeface="Calibri"/>
                <a:cs typeface="Calibri"/>
              </a:rPr>
              <a:t> </a:t>
            </a:r>
            <a:r>
              <a:rPr sz="1200" spc="-25">
                <a:latin typeface="Calibri"/>
                <a:cs typeface="Calibri"/>
              </a:rPr>
              <a:t>and </a:t>
            </a:r>
            <a:r>
              <a:rPr sz="1200">
                <a:latin typeface="Calibri"/>
                <a:cs typeface="Calibri"/>
              </a:rPr>
              <a:t>tensions,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the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impact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of</a:t>
            </a:r>
            <a:r>
              <a:rPr sz="1200" spc="-1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inflation</a:t>
            </a:r>
            <a:r>
              <a:rPr sz="1200" spc="-1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on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margins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and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costs,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economic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activity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levels,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and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the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adverse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effects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the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foregoing </a:t>
            </a:r>
            <a:r>
              <a:rPr sz="1200">
                <a:latin typeface="Calibri"/>
                <a:cs typeface="Calibri"/>
              </a:rPr>
              <a:t>may</a:t>
            </a:r>
            <a:r>
              <a:rPr sz="1200" spc="14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have</a:t>
            </a:r>
            <a:r>
              <a:rPr sz="1200" spc="14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on</a:t>
            </a:r>
            <a:r>
              <a:rPr sz="1200" spc="1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Valero’s</a:t>
            </a:r>
            <a:r>
              <a:rPr sz="1200" spc="14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business</a:t>
            </a:r>
            <a:r>
              <a:rPr sz="1200" spc="14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plan,</a:t>
            </a:r>
            <a:r>
              <a:rPr sz="1200" spc="13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strategy,</a:t>
            </a:r>
            <a:r>
              <a:rPr sz="1200" spc="14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operations</a:t>
            </a:r>
            <a:r>
              <a:rPr sz="1200" spc="14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and</a:t>
            </a:r>
            <a:r>
              <a:rPr sz="1200" spc="1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financial</a:t>
            </a:r>
            <a:r>
              <a:rPr sz="1200" spc="14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performance.</a:t>
            </a:r>
            <a:r>
              <a:rPr sz="1200" spc="14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These</a:t>
            </a:r>
            <a:r>
              <a:rPr sz="1200" spc="14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statements</a:t>
            </a:r>
            <a:r>
              <a:rPr sz="1200" spc="14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are</a:t>
            </a:r>
            <a:r>
              <a:rPr sz="1200" spc="14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often </a:t>
            </a:r>
            <a:r>
              <a:rPr sz="1200">
                <a:latin typeface="Calibri"/>
                <a:cs typeface="Calibri"/>
              </a:rPr>
              <a:t>based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upon</a:t>
            </a:r>
            <a:r>
              <a:rPr sz="1200" spc="-1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various</a:t>
            </a:r>
            <a:r>
              <a:rPr sz="1200" spc="-1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assumptions,</a:t>
            </a:r>
            <a:r>
              <a:rPr sz="1200" spc="-1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many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of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which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are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based,</a:t>
            </a:r>
            <a:r>
              <a:rPr sz="1200" spc="-1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in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turn,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upon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further</a:t>
            </a:r>
            <a:r>
              <a:rPr sz="1200" spc="-1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assumptions,</a:t>
            </a:r>
            <a:r>
              <a:rPr sz="1200" spc="-1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including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examination </a:t>
            </a:r>
            <a:r>
              <a:rPr sz="1200">
                <a:latin typeface="Calibri"/>
                <a:cs typeface="Calibri"/>
              </a:rPr>
              <a:t>of</a:t>
            </a:r>
            <a:r>
              <a:rPr sz="1200" spc="10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historical</a:t>
            </a:r>
            <a:r>
              <a:rPr sz="1200" spc="9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operating</a:t>
            </a:r>
            <a:r>
              <a:rPr sz="1200" spc="8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trends</a:t>
            </a:r>
            <a:r>
              <a:rPr sz="1200" spc="9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made</a:t>
            </a:r>
            <a:r>
              <a:rPr sz="1200" spc="9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by</a:t>
            </a:r>
            <a:r>
              <a:rPr sz="1200" spc="8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the</a:t>
            </a:r>
            <a:r>
              <a:rPr sz="1200" spc="9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management</a:t>
            </a:r>
            <a:r>
              <a:rPr sz="1200" spc="10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of</a:t>
            </a:r>
            <a:r>
              <a:rPr sz="1200" spc="10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Valero.</a:t>
            </a:r>
            <a:r>
              <a:rPr sz="1200" spc="9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Although</a:t>
            </a:r>
            <a:r>
              <a:rPr sz="1200" spc="10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Valero</a:t>
            </a:r>
            <a:r>
              <a:rPr sz="1200" spc="8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believes</a:t>
            </a:r>
            <a:r>
              <a:rPr sz="1200" spc="9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that</a:t>
            </a:r>
            <a:r>
              <a:rPr sz="1200" spc="9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the</a:t>
            </a:r>
            <a:r>
              <a:rPr sz="1200" spc="9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assumptions </a:t>
            </a:r>
            <a:r>
              <a:rPr sz="1200">
                <a:latin typeface="Calibri"/>
                <a:cs typeface="Calibri"/>
              </a:rPr>
              <a:t>were</a:t>
            </a:r>
            <a:r>
              <a:rPr sz="1200" spc="44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reasonable</a:t>
            </a:r>
            <a:r>
              <a:rPr sz="1200" spc="45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when</a:t>
            </a:r>
            <a:r>
              <a:rPr sz="1200" spc="44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made,</a:t>
            </a:r>
            <a:r>
              <a:rPr sz="1200" spc="44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because</a:t>
            </a:r>
            <a:r>
              <a:rPr sz="1200" spc="44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assumptions</a:t>
            </a:r>
            <a:r>
              <a:rPr sz="1200" spc="44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are</a:t>
            </a:r>
            <a:r>
              <a:rPr sz="1200" spc="44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inherently</a:t>
            </a:r>
            <a:r>
              <a:rPr sz="1200" spc="4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subject</a:t>
            </a:r>
            <a:r>
              <a:rPr sz="1200" spc="434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to</a:t>
            </a:r>
            <a:r>
              <a:rPr sz="1200" spc="44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significant</a:t>
            </a:r>
            <a:r>
              <a:rPr sz="1200" spc="44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uncertainties</a:t>
            </a:r>
            <a:r>
              <a:rPr sz="1200" spc="450">
                <a:latin typeface="Calibri"/>
                <a:cs typeface="Calibri"/>
              </a:rPr>
              <a:t> </a:t>
            </a:r>
            <a:r>
              <a:rPr sz="1200" spc="-25">
                <a:latin typeface="Calibri"/>
                <a:cs typeface="Calibri"/>
              </a:rPr>
              <a:t>and </a:t>
            </a:r>
            <a:r>
              <a:rPr sz="1200">
                <a:latin typeface="Calibri"/>
                <a:cs typeface="Calibri"/>
              </a:rPr>
              <a:t>contingencies,</a:t>
            </a:r>
            <a:r>
              <a:rPr sz="1200" spc="5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which</a:t>
            </a:r>
            <a:r>
              <a:rPr sz="1200" spc="6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are</a:t>
            </a:r>
            <a:r>
              <a:rPr sz="1200" spc="4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difficult</a:t>
            </a:r>
            <a:r>
              <a:rPr sz="1200" spc="6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or</a:t>
            </a:r>
            <a:r>
              <a:rPr sz="1200" spc="5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impossible</a:t>
            </a:r>
            <a:r>
              <a:rPr sz="1200" spc="6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to</a:t>
            </a:r>
            <a:r>
              <a:rPr sz="1200" spc="5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predict</a:t>
            </a:r>
            <a:r>
              <a:rPr sz="1200" spc="6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and</a:t>
            </a:r>
            <a:r>
              <a:rPr sz="1200" spc="5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are</a:t>
            </a:r>
            <a:r>
              <a:rPr sz="1200" spc="5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beyond</a:t>
            </a:r>
            <a:r>
              <a:rPr sz="1200" spc="6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its</a:t>
            </a:r>
            <a:r>
              <a:rPr sz="1200" spc="5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control,</a:t>
            </a:r>
            <a:r>
              <a:rPr sz="1200" spc="5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Valero</a:t>
            </a:r>
            <a:r>
              <a:rPr sz="1200" spc="6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cannot</a:t>
            </a:r>
            <a:r>
              <a:rPr sz="1200" spc="5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give</a:t>
            </a:r>
            <a:r>
              <a:rPr sz="1200" spc="5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assurance </a:t>
            </a:r>
            <a:r>
              <a:rPr sz="1200">
                <a:latin typeface="Calibri"/>
                <a:cs typeface="Calibri"/>
              </a:rPr>
              <a:t>that</a:t>
            </a:r>
            <a:r>
              <a:rPr sz="1200" spc="15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it</a:t>
            </a:r>
            <a:r>
              <a:rPr sz="1200" spc="15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will</a:t>
            </a:r>
            <a:r>
              <a:rPr sz="1200" spc="14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achieve</a:t>
            </a:r>
            <a:r>
              <a:rPr sz="1200" spc="15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or</a:t>
            </a:r>
            <a:r>
              <a:rPr sz="1200" spc="14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accomplish</a:t>
            </a:r>
            <a:r>
              <a:rPr sz="1200" spc="15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its</a:t>
            </a:r>
            <a:r>
              <a:rPr sz="1200" spc="14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expectations,</a:t>
            </a:r>
            <a:r>
              <a:rPr sz="1200" spc="15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beliefs</a:t>
            </a:r>
            <a:r>
              <a:rPr sz="1200" spc="14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or</a:t>
            </a:r>
            <a:r>
              <a:rPr sz="1200" spc="14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intentions.</a:t>
            </a:r>
            <a:r>
              <a:rPr sz="1200" spc="14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When</a:t>
            </a:r>
            <a:r>
              <a:rPr sz="1200" spc="15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considering</a:t>
            </a:r>
            <a:r>
              <a:rPr sz="1200" spc="14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these</a:t>
            </a:r>
            <a:r>
              <a:rPr sz="1200" spc="14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forward-looking </a:t>
            </a:r>
            <a:r>
              <a:rPr sz="1200">
                <a:latin typeface="Calibri"/>
                <a:cs typeface="Calibri"/>
              </a:rPr>
              <a:t>statements,</a:t>
            </a:r>
            <a:r>
              <a:rPr sz="1200" spc="7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you</a:t>
            </a:r>
            <a:r>
              <a:rPr sz="1200" spc="7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should</a:t>
            </a:r>
            <a:r>
              <a:rPr sz="1200" spc="7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keep</a:t>
            </a:r>
            <a:r>
              <a:rPr sz="1200" spc="8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in</a:t>
            </a:r>
            <a:r>
              <a:rPr sz="1200" spc="8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mind</a:t>
            </a:r>
            <a:r>
              <a:rPr sz="1200" spc="7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the</a:t>
            </a:r>
            <a:r>
              <a:rPr sz="1200" spc="7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risk</a:t>
            </a:r>
            <a:r>
              <a:rPr sz="1200" spc="7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factors</a:t>
            </a:r>
            <a:r>
              <a:rPr sz="1200" spc="7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and</a:t>
            </a:r>
            <a:r>
              <a:rPr sz="1200" spc="8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other</a:t>
            </a:r>
            <a:r>
              <a:rPr sz="1200" spc="8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cautionary</a:t>
            </a:r>
            <a:r>
              <a:rPr sz="1200" spc="7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statements</a:t>
            </a:r>
            <a:r>
              <a:rPr sz="1200" spc="7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contained</a:t>
            </a:r>
            <a:r>
              <a:rPr sz="1200" spc="7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in</a:t>
            </a:r>
            <a:r>
              <a:rPr sz="1200" spc="8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Valero’s</a:t>
            </a:r>
            <a:r>
              <a:rPr sz="1200" spc="7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filings </a:t>
            </a:r>
            <a:r>
              <a:rPr sz="1200">
                <a:latin typeface="Calibri"/>
                <a:cs typeface="Calibri"/>
              </a:rPr>
              <a:t>with</a:t>
            </a:r>
            <a:r>
              <a:rPr sz="1200" spc="6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the</a:t>
            </a:r>
            <a:r>
              <a:rPr sz="1200" spc="6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Securities</a:t>
            </a:r>
            <a:r>
              <a:rPr sz="1200" spc="7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and</a:t>
            </a:r>
            <a:r>
              <a:rPr sz="1200" spc="6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Exchange</a:t>
            </a:r>
            <a:r>
              <a:rPr sz="1200" spc="7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Commission,</a:t>
            </a:r>
            <a:r>
              <a:rPr sz="1200" spc="8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including</a:t>
            </a:r>
            <a:r>
              <a:rPr sz="1200" spc="6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Valero’s</a:t>
            </a:r>
            <a:r>
              <a:rPr sz="1200" spc="7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annual</a:t>
            </a:r>
            <a:r>
              <a:rPr sz="1200" spc="5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report</a:t>
            </a:r>
            <a:r>
              <a:rPr sz="1200" spc="7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on</a:t>
            </a:r>
            <a:r>
              <a:rPr sz="1200" spc="6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Form</a:t>
            </a:r>
            <a:r>
              <a:rPr sz="1200" spc="7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10-</a:t>
            </a:r>
            <a:r>
              <a:rPr sz="1200">
                <a:latin typeface="Calibri"/>
                <a:cs typeface="Calibri"/>
              </a:rPr>
              <a:t>K,</a:t>
            </a:r>
            <a:r>
              <a:rPr sz="1200" spc="6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quarterly</a:t>
            </a:r>
            <a:r>
              <a:rPr sz="1200" spc="5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reports</a:t>
            </a:r>
            <a:r>
              <a:rPr sz="1200" spc="70">
                <a:latin typeface="Calibri"/>
                <a:cs typeface="Calibri"/>
              </a:rPr>
              <a:t> </a:t>
            </a:r>
            <a:r>
              <a:rPr sz="1200" spc="-25">
                <a:latin typeface="Calibri"/>
                <a:cs typeface="Calibri"/>
              </a:rPr>
              <a:t>on </a:t>
            </a:r>
            <a:r>
              <a:rPr sz="1200">
                <a:latin typeface="Calibri"/>
                <a:cs typeface="Calibri"/>
              </a:rPr>
              <a:t>Form</a:t>
            </a:r>
            <a:r>
              <a:rPr sz="1200" spc="6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10-</a:t>
            </a:r>
            <a:r>
              <a:rPr sz="1200">
                <a:latin typeface="Calibri"/>
                <a:cs typeface="Calibri"/>
              </a:rPr>
              <a:t>Q,</a:t>
            </a:r>
            <a:r>
              <a:rPr sz="1200" spc="6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and</a:t>
            </a:r>
            <a:r>
              <a:rPr sz="1200" spc="7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other</a:t>
            </a:r>
            <a:r>
              <a:rPr sz="1200" spc="5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reports</a:t>
            </a:r>
            <a:r>
              <a:rPr sz="1200" spc="6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available</a:t>
            </a:r>
            <a:r>
              <a:rPr sz="1200" spc="7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on</a:t>
            </a:r>
            <a:r>
              <a:rPr sz="1200" spc="6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Valero’s</a:t>
            </a:r>
            <a:r>
              <a:rPr sz="1200" spc="7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website</a:t>
            </a:r>
            <a:r>
              <a:rPr sz="1200" spc="7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at</a:t>
            </a:r>
            <a:r>
              <a:rPr sz="1200" spc="80">
                <a:latin typeface="Calibri"/>
                <a:cs typeface="Calibri"/>
              </a:rPr>
              <a:t> </a:t>
            </a:r>
            <a:r>
              <a:rPr sz="12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www.valero.com</a:t>
            </a:r>
            <a:r>
              <a:rPr sz="1200" u="none" spc="-10">
                <a:latin typeface="Calibri"/>
                <a:cs typeface="Calibri"/>
              </a:rPr>
              <a:t>.</a:t>
            </a:r>
            <a:r>
              <a:rPr sz="1200" u="none" spc="65">
                <a:latin typeface="Calibri"/>
                <a:cs typeface="Calibri"/>
              </a:rPr>
              <a:t> </a:t>
            </a:r>
            <a:r>
              <a:rPr sz="1200" u="none">
                <a:latin typeface="Calibri"/>
                <a:cs typeface="Calibri"/>
              </a:rPr>
              <a:t>These</a:t>
            </a:r>
            <a:r>
              <a:rPr sz="1200" u="none" spc="80">
                <a:latin typeface="Calibri"/>
                <a:cs typeface="Calibri"/>
              </a:rPr>
              <a:t> </a:t>
            </a:r>
            <a:r>
              <a:rPr sz="1200" u="none">
                <a:latin typeface="Calibri"/>
                <a:cs typeface="Calibri"/>
              </a:rPr>
              <a:t>risks</a:t>
            </a:r>
            <a:r>
              <a:rPr sz="1200" u="none" spc="70">
                <a:latin typeface="Calibri"/>
                <a:cs typeface="Calibri"/>
              </a:rPr>
              <a:t> </a:t>
            </a:r>
            <a:r>
              <a:rPr sz="1200" u="none">
                <a:latin typeface="Calibri"/>
                <a:cs typeface="Calibri"/>
              </a:rPr>
              <a:t>could</a:t>
            </a:r>
            <a:r>
              <a:rPr sz="1200" u="none" spc="80">
                <a:latin typeface="Calibri"/>
                <a:cs typeface="Calibri"/>
              </a:rPr>
              <a:t> </a:t>
            </a:r>
            <a:r>
              <a:rPr sz="1200" u="none">
                <a:latin typeface="Calibri"/>
                <a:cs typeface="Calibri"/>
              </a:rPr>
              <a:t>cause</a:t>
            </a:r>
            <a:r>
              <a:rPr sz="1200" u="none" spc="80">
                <a:latin typeface="Calibri"/>
                <a:cs typeface="Calibri"/>
              </a:rPr>
              <a:t> </a:t>
            </a:r>
            <a:r>
              <a:rPr sz="1200" u="none">
                <a:latin typeface="Calibri"/>
                <a:cs typeface="Calibri"/>
              </a:rPr>
              <a:t>the</a:t>
            </a:r>
            <a:r>
              <a:rPr sz="1200" u="none" spc="65">
                <a:latin typeface="Calibri"/>
                <a:cs typeface="Calibri"/>
              </a:rPr>
              <a:t> </a:t>
            </a:r>
            <a:r>
              <a:rPr sz="1200" u="none" spc="-10">
                <a:latin typeface="Calibri"/>
                <a:cs typeface="Calibri"/>
              </a:rPr>
              <a:t>actual </a:t>
            </a:r>
            <a:r>
              <a:rPr sz="1200" u="none">
                <a:latin typeface="Calibri"/>
                <a:cs typeface="Calibri"/>
              </a:rPr>
              <a:t>results</a:t>
            </a:r>
            <a:r>
              <a:rPr sz="1200" u="none" spc="-30">
                <a:latin typeface="Calibri"/>
                <a:cs typeface="Calibri"/>
              </a:rPr>
              <a:t> </a:t>
            </a:r>
            <a:r>
              <a:rPr sz="1200" u="none">
                <a:latin typeface="Calibri"/>
                <a:cs typeface="Calibri"/>
              </a:rPr>
              <a:t>of</a:t>
            </a:r>
            <a:r>
              <a:rPr sz="1200" u="none" spc="-5">
                <a:latin typeface="Calibri"/>
                <a:cs typeface="Calibri"/>
              </a:rPr>
              <a:t> </a:t>
            </a:r>
            <a:r>
              <a:rPr sz="1200" u="none" spc="-10">
                <a:latin typeface="Calibri"/>
                <a:cs typeface="Calibri"/>
              </a:rPr>
              <a:t>Valero</a:t>
            </a:r>
            <a:r>
              <a:rPr sz="1200" u="none" spc="-20">
                <a:latin typeface="Calibri"/>
                <a:cs typeface="Calibri"/>
              </a:rPr>
              <a:t> </a:t>
            </a:r>
            <a:r>
              <a:rPr sz="1200" u="none">
                <a:latin typeface="Calibri"/>
                <a:cs typeface="Calibri"/>
              </a:rPr>
              <a:t>to</a:t>
            </a:r>
            <a:r>
              <a:rPr sz="1200" u="none" spc="-20">
                <a:latin typeface="Calibri"/>
                <a:cs typeface="Calibri"/>
              </a:rPr>
              <a:t> </a:t>
            </a:r>
            <a:r>
              <a:rPr sz="1200" u="none">
                <a:latin typeface="Calibri"/>
                <a:cs typeface="Calibri"/>
              </a:rPr>
              <a:t>differ</a:t>
            </a:r>
            <a:r>
              <a:rPr sz="1200" u="none" spc="-40">
                <a:latin typeface="Calibri"/>
                <a:cs typeface="Calibri"/>
              </a:rPr>
              <a:t> </a:t>
            </a:r>
            <a:r>
              <a:rPr sz="1200" u="none">
                <a:latin typeface="Calibri"/>
                <a:cs typeface="Calibri"/>
              </a:rPr>
              <a:t>materially</a:t>
            </a:r>
            <a:r>
              <a:rPr sz="1200" u="none" spc="-35">
                <a:latin typeface="Calibri"/>
                <a:cs typeface="Calibri"/>
              </a:rPr>
              <a:t> </a:t>
            </a:r>
            <a:r>
              <a:rPr sz="1200" u="none">
                <a:latin typeface="Calibri"/>
                <a:cs typeface="Calibri"/>
              </a:rPr>
              <a:t>from</a:t>
            </a:r>
            <a:r>
              <a:rPr sz="1200" u="none" spc="-20">
                <a:latin typeface="Calibri"/>
                <a:cs typeface="Calibri"/>
              </a:rPr>
              <a:t> </a:t>
            </a:r>
            <a:r>
              <a:rPr sz="1200" u="none">
                <a:latin typeface="Calibri"/>
                <a:cs typeface="Calibri"/>
              </a:rPr>
              <a:t>those</a:t>
            </a:r>
            <a:r>
              <a:rPr sz="1200" u="none" spc="-15">
                <a:latin typeface="Calibri"/>
                <a:cs typeface="Calibri"/>
              </a:rPr>
              <a:t> </a:t>
            </a:r>
            <a:r>
              <a:rPr sz="1200" u="none" spc="-10">
                <a:latin typeface="Calibri"/>
                <a:cs typeface="Calibri"/>
              </a:rPr>
              <a:t>expressed </a:t>
            </a:r>
            <a:r>
              <a:rPr sz="1200" u="none">
                <a:latin typeface="Calibri"/>
                <a:cs typeface="Calibri"/>
              </a:rPr>
              <a:t>or</a:t>
            </a:r>
            <a:r>
              <a:rPr sz="1200" u="none" spc="-25">
                <a:latin typeface="Calibri"/>
                <a:cs typeface="Calibri"/>
              </a:rPr>
              <a:t> </a:t>
            </a:r>
            <a:r>
              <a:rPr sz="1200" u="none" spc="-10">
                <a:latin typeface="Calibri"/>
                <a:cs typeface="Calibri"/>
              </a:rPr>
              <a:t>forecasted</a:t>
            </a:r>
            <a:r>
              <a:rPr sz="1200" u="none" spc="-30">
                <a:latin typeface="Calibri"/>
                <a:cs typeface="Calibri"/>
              </a:rPr>
              <a:t> </a:t>
            </a:r>
            <a:r>
              <a:rPr sz="1200" u="none">
                <a:latin typeface="Calibri"/>
                <a:cs typeface="Calibri"/>
              </a:rPr>
              <a:t>in</a:t>
            </a:r>
            <a:r>
              <a:rPr sz="1200" u="none" spc="-20">
                <a:latin typeface="Calibri"/>
                <a:cs typeface="Calibri"/>
              </a:rPr>
              <a:t> </a:t>
            </a:r>
            <a:r>
              <a:rPr sz="1200" u="none">
                <a:latin typeface="Calibri"/>
                <a:cs typeface="Calibri"/>
              </a:rPr>
              <a:t>any</a:t>
            </a:r>
            <a:r>
              <a:rPr sz="1200" u="none" spc="-20">
                <a:latin typeface="Calibri"/>
                <a:cs typeface="Calibri"/>
              </a:rPr>
              <a:t> </a:t>
            </a:r>
            <a:r>
              <a:rPr sz="1200" u="none" spc="-10">
                <a:latin typeface="Calibri"/>
                <a:cs typeface="Calibri"/>
              </a:rPr>
              <a:t>forward-looking</a:t>
            </a:r>
            <a:r>
              <a:rPr sz="1200" u="none" spc="-50">
                <a:latin typeface="Calibri"/>
                <a:cs typeface="Calibri"/>
              </a:rPr>
              <a:t> </a:t>
            </a:r>
            <a:r>
              <a:rPr sz="1200" u="none" spc="-10">
                <a:latin typeface="Calibri"/>
                <a:cs typeface="Calibri"/>
              </a:rPr>
              <a:t>statement.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2694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>
                <a:solidFill>
                  <a:srgbClr val="000000"/>
                </a:solidFill>
                <a:latin typeface="Arial"/>
              </a:rPr>
              <a:t>Cautionary</a:t>
            </a:r>
            <a:r>
              <a:rPr lang="en-US" spc="-20">
                <a:solidFill>
                  <a:srgbClr val="000000"/>
                </a:solidFill>
                <a:latin typeface="Arial"/>
              </a:rPr>
              <a:t> S</a:t>
            </a:r>
            <a:r>
              <a:rPr lang="en-US" spc="-10">
                <a:solidFill>
                  <a:srgbClr val="000000"/>
                </a:solidFill>
                <a:latin typeface="Arial"/>
              </a:rPr>
              <a:t>tatement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7764780" y="0"/>
            <a:ext cx="4431030" cy="6858000"/>
            <a:chOff x="7764780" y="0"/>
            <a:chExt cx="4431030" cy="6858000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64780" y="0"/>
              <a:ext cx="4431030" cy="68579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875520" y="6278879"/>
              <a:ext cx="1586483" cy="57912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1581510" y="6526986"/>
            <a:ext cx="1555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25">
                <a:solidFill>
                  <a:srgbClr val="006FAB"/>
                </a:solidFill>
                <a:latin typeface="Calibri"/>
                <a:cs typeface="Calibri"/>
              </a:rPr>
              <a:t>32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7630">
              <a:lnSpc>
                <a:spcPts val="1240"/>
              </a:lnSpc>
            </a:pPr>
            <a:fld id="{81D60167-4931-47E6-BA6A-407CBD079E47}" type="slidenum">
              <a:rPr spc="-25" dirty="0"/>
              <a:t>34</a:t>
            </a:fld>
            <a:endParaRPr spc="-25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3476</Words>
  <Application>Microsoft Office PowerPoint</Application>
  <PresentationFormat>Widescreen</PresentationFormat>
  <Paragraphs>488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Aptos</vt:lpstr>
      <vt:lpstr>Aptos Display</vt:lpstr>
      <vt:lpstr>Aptos Narrow</vt:lpstr>
      <vt:lpstr>Arial</vt:lpstr>
      <vt:lpstr>Calibri</vt:lpstr>
      <vt:lpstr>Courier New</vt:lpstr>
      <vt:lpstr>Times New Roman</vt:lpstr>
      <vt:lpstr>Office Theme</vt:lpstr>
      <vt:lpstr>1_Office Theme</vt:lpstr>
      <vt:lpstr>VALERO ENERGY CORPORATION NYSE: VLO</vt:lpstr>
      <vt:lpstr>Overview</vt:lpstr>
      <vt:lpstr>Crude Oil Characteristics</vt:lpstr>
      <vt:lpstr>Crude Oil Reserves and Quality</vt:lpstr>
      <vt:lpstr>Crude Oil Discounts Relative to ICE Brent</vt:lpstr>
      <vt:lpstr>Basic Refining Concept</vt:lpstr>
      <vt:lpstr>Maximizing Refinery Profit – Linear Programming (LP) Model</vt:lpstr>
      <vt:lpstr>Global Low-Carbon Fuel Policies are Driving Demand Growth for Renewable Diesel</vt:lpstr>
      <vt:lpstr>SAF Mandates are Expanding Globally</vt:lpstr>
      <vt:lpstr>Rank of Risks</vt:lpstr>
      <vt:lpstr>Risk and Risk Categories</vt:lpstr>
      <vt:lpstr>Risk Exposure vs. Hedging Intensity (🔵 = Relative exposure; more dots = higher sensitivity)</vt:lpstr>
      <vt:lpstr>Market Risk Drivers</vt:lpstr>
      <vt:lpstr>Operational Risk</vt:lpstr>
      <vt:lpstr>Stochastic Modeling: Utilization, Cost, and Inventory</vt:lpstr>
      <vt:lpstr>Sensitivity Analysis</vt:lpstr>
      <vt:lpstr>Regulatory Risk</vt:lpstr>
      <vt:lpstr>Industry-Wide Impact of Risk Drivers</vt:lpstr>
      <vt:lpstr>Direct Impact on Valero’s Balance Sheet</vt:lpstr>
      <vt:lpstr>The Role of Monte Carlo Simulation</vt:lpstr>
      <vt:lpstr>Strategic Imperatives for Regulatory Risk Management</vt:lpstr>
      <vt:lpstr>Regulatory Risk Drivers</vt:lpstr>
      <vt:lpstr>Simulation Model Structure</vt:lpstr>
      <vt:lpstr>Financial Statement Flow</vt:lpstr>
      <vt:lpstr>Impact on Income Statement</vt:lpstr>
      <vt:lpstr>Impact on Balance Sheet</vt:lpstr>
      <vt:lpstr>Impact on Balance Sheet</vt:lpstr>
      <vt:lpstr>Impact on Balance Sheet</vt:lpstr>
      <vt:lpstr>Scenario Analysis – Income Statement</vt:lpstr>
      <vt:lpstr>Scenario Analysis – Balance Sheet</vt:lpstr>
      <vt:lpstr>Scenario Analysis – Balance Sheet</vt:lpstr>
      <vt:lpstr>Recommendations</vt:lpstr>
      <vt:lpstr>Questions and Answers</vt:lpstr>
      <vt:lpstr>Cautionary Statement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Arvind Gill</dc:creator>
  <cp:lastModifiedBy>diego indran</cp:lastModifiedBy>
  <cp:revision>92</cp:revision>
  <dcterms:created xsi:type="dcterms:W3CDTF">2025-12-01T04:58:05Z</dcterms:created>
  <dcterms:modified xsi:type="dcterms:W3CDTF">2025-12-03T06:39:33Z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2025-07-25T00:00:00Z</vt:filetime>
  </property>
  <property fmtid="{D5CDD505-2E9C-101B-9397-08002B2CF9AE}" pid="3" name="LastSaved">
    <vt:filetime>2025-12-01T00:00:00Z</vt:filetime>
  </property>
</Properties>
</file>